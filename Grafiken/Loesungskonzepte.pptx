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6858000" type="screen4x3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6" d="100"/>
          <a:sy n="66" d="100"/>
        </p:scale>
        <p:origin x="1282" y="43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smtClean="0"/>
              <a:t>Formatvorlage des Untertitelmasters durch Klicken bearbeiten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24.09.2016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33449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24.09.2016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74557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24.09.2016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284924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24.09.2016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28658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24.09.2016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326125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24.09.2016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24059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24.09.2016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834880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24.09.2016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74276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24.09.2016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64794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24.09.2016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15591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24.09.2016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81225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A7EEA7-7CF7-4A21-92C8-3CFB69AD4175}" type="datetimeFigureOut">
              <a:rPr lang="de-DE" smtClean="0"/>
              <a:t>24.09.2016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1496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/>
          <p:cNvSpPr/>
          <p:nvPr/>
        </p:nvSpPr>
        <p:spPr>
          <a:xfrm>
            <a:off x="251520" y="5733256"/>
            <a:ext cx="8640960" cy="86409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tx2"/>
                </a:solidFill>
                <a:latin typeface="Tele-GroteskNor" pitchFamily="2" charset="0"/>
              </a:rPr>
              <a:t>BigBlueButton Kern</a:t>
            </a:r>
            <a:endParaRPr lang="de-DE" dirty="0">
              <a:solidFill>
                <a:schemeClr val="tx2"/>
              </a:solidFill>
              <a:latin typeface="Tele-GroteskNor" pitchFamily="2" charset="0"/>
            </a:endParaRPr>
          </a:p>
        </p:txBody>
      </p:sp>
      <p:sp>
        <p:nvSpPr>
          <p:cNvPr id="5" name="Rechteck 4"/>
          <p:cNvSpPr/>
          <p:nvPr/>
        </p:nvSpPr>
        <p:spPr>
          <a:xfrm>
            <a:off x="251520" y="260648"/>
            <a:ext cx="8640960" cy="446449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HTML5-App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6" name="Rechteck 5"/>
          <p:cNvSpPr/>
          <p:nvPr/>
        </p:nvSpPr>
        <p:spPr>
          <a:xfrm>
            <a:off x="395536" y="620688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Client-Seite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7" name="Rechteck 6"/>
          <p:cNvSpPr/>
          <p:nvPr/>
        </p:nvSpPr>
        <p:spPr>
          <a:xfrm>
            <a:off x="395536" y="2708920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Server-Seite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8" name="Ellipse 7"/>
          <p:cNvSpPr/>
          <p:nvPr/>
        </p:nvSpPr>
        <p:spPr>
          <a:xfrm>
            <a:off x="611560" y="908720"/>
            <a:ext cx="3960440" cy="1296144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tIns="0" rtlCol="0" anchor="t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1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9" name="Ellipse 8"/>
          <p:cNvSpPr/>
          <p:nvPr/>
        </p:nvSpPr>
        <p:spPr>
          <a:xfrm>
            <a:off x="4932040" y="764704"/>
            <a:ext cx="1656184" cy="792088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2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0" name="Pfeil nach oben und unten 9"/>
          <p:cNvSpPr/>
          <p:nvPr/>
        </p:nvSpPr>
        <p:spPr>
          <a:xfrm>
            <a:off x="4391980" y="4797152"/>
            <a:ext cx="360040" cy="864096"/>
          </a:xfrm>
          <a:prstGeom prst="upDown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sp>
        <p:nvSpPr>
          <p:cNvPr id="11" name="Flussdiagramm: Magnetplattenspeicher 10"/>
          <p:cNvSpPr/>
          <p:nvPr/>
        </p:nvSpPr>
        <p:spPr>
          <a:xfrm>
            <a:off x="5220072" y="3104964"/>
            <a:ext cx="1584176" cy="1080120"/>
          </a:xfrm>
          <a:prstGeom prst="flowChartMagneticDisk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MongoDB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2" name="Ellipse 11"/>
          <p:cNvSpPr/>
          <p:nvPr/>
        </p:nvSpPr>
        <p:spPr>
          <a:xfrm>
            <a:off x="6740624" y="1412776"/>
            <a:ext cx="1656184" cy="792088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3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3" name="Abgerundetes Rechteck 12"/>
          <p:cNvSpPr/>
          <p:nvPr/>
        </p:nvSpPr>
        <p:spPr>
          <a:xfrm>
            <a:off x="971600" y="1297214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1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14" name="Abgerundetes Rechteck 13"/>
          <p:cNvSpPr/>
          <p:nvPr/>
        </p:nvSpPr>
        <p:spPr>
          <a:xfrm>
            <a:off x="2123728" y="1615218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2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15" name="Abgerundetes Rechteck 14"/>
          <p:cNvSpPr/>
          <p:nvPr/>
        </p:nvSpPr>
        <p:spPr>
          <a:xfrm>
            <a:off x="3347864" y="1324859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3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16" name="Textfeld 15"/>
          <p:cNvSpPr txBox="1"/>
          <p:nvPr/>
        </p:nvSpPr>
        <p:spPr>
          <a:xfrm>
            <a:off x="4752026" y="5044534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chemeClr val="accent6"/>
                </a:solidFill>
                <a:latin typeface="Tele-GroteskNor" pitchFamily="2" charset="0"/>
              </a:rPr>
              <a:t>Redis PubSub</a:t>
            </a:r>
            <a:endParaRPr lang="de-DE" dirty="0">
              <a:solidFill>
                <a:schemeClr val="accent6"/>
              </a:solidFill>
              <a:latin typeface="Tele-GroteskNor" pitchFamily="2" charset="0"/>
            </a:endParaRPr>
          </a:p>
        </p:txBody>
      </p:sp>
      <p:sp>
        <p:nvSpPr>
          <p:cNvPr id="17" name="Textfeld 16"/>
          <p:cNvSpPr txBox="1"/>
          <p:nvPr/>
        </p:nvSpPr>
        <p:spPr>
          <a:xfrm>
            <a:off x="7020272" y="2780928"/>
            <a:ext cx="172819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u="sng" dirty="0" smtClean="0">
                <a:latin typeface="Tele-GroteskNor" pitchFamily="2" charset="0"/>
              </a:rPr>
              <a:t>Informationen: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Sitzungen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Benutzer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</a:t>
            </a:r>
            <a:r>
              <a:rPr lang="de-DE" sz="1400" b="1" dirty="0" smtClean="0">
                <a:latin typeface="Tele-GroteskNor" pitchFamily="2" charset="0"/>
              </a:rPr>
              <a:t>Chatnachrichten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Präsentationsfolien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Mauszeiger (Cursor)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</a:t>
            </a:r>
            <a:r>
              <a:rPr lang="de-DE" sz="1400" b="1" dirty="0" smtClean="0">
                <a:latin typeface="Tele-GroteskNor" pitchFamily="2" charset="0"/>
              </a:rPr>
              <a:t>Umfragen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…</a:t>
            </a:r>
            <a:endParaRPr lang="de-DE" sz="1400" dirty="0">
              <a:latin typeface="Tele-GroteskNor" pitchFamily="2" charset="0"/>
            </a:endParaRPr>
          </a:p>
        </p:txBody>
      </p:sp>
      <p:sp>
        <p:nvSpPr>
          <p:cNvPr id="18" name="Geschweifte Klammer links 17"/>
          <p:cNvSpPr/>
          <p:nvPr/>
        </p:nvSpPr>
        <p:spPr>
          <a:xfrm>
            <a:off x="6876256" y="2780928"/>
            <a:ext cx="288032" cy="1728192"/>
          </a:xfrm>
          <a:prstGeom prst="leftBrac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cxnSp>
        <p:nvCxnSpPr>
          <p:cNvPr id="20" name="Gekrümmte Verbindung 19"/>
          <p:cNvCxnSpPr>
            <a:stCxn id="11" idx="2"/>
            <a:endCxn id="13" idx="2"/>
          </p:cNvCxnSpPr>
          <p:nvPr/>
        </p:nvCxnSpPr>
        <p:spPr>
          <a:xfrm rot="10800000">
            <a:off x="1439652" y="1761080"/>
            <a:ext cx="3780420" cy="1883944"/>
          </a:xfrm>
          <a:prstGeom prst="curved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krümmte Verbindung 22"/>
          <p:cNvCxnSpPr>
            <a:stCxn id="11" idx="2"/>
            <a:endCxn id="14" idx="2"/>
          </p:cNvCxnSpPr>
          <p:nvPr/>
        </p:nvCxnSpPr>
        <p:spPr>
          <a:xfrm rot="10800000">
            <a:off x="2591780" y="2079084"/>
            <a:ext cx="2628292" cy="1565940"/>
          </a:xfrm>
          <a:prstGeom prst="curved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krümmte Verbindung 25"/>
          <p:cNvCxnSpPr>
            <a:stCxn id="11" idx="2"/>
            <a:endCxn id="15" idx="2"/>
          </p:cNvCxnSpPr>
          <p:nvPr/>
        </p:nvCxnSpPr>
        <p:spPr>
          <a:xfrm rot="10800000">
            <a:off x="3815916" y="1788726"/>
            <a:ext cx="1404156" cy="1856299"/>
          </a:xfrm>
          <a:prstGeom prst="curved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/>
          <p:cNvCxnSpPr>
            <a:stCxn id="11" idx="1"/>
            <a:endCxn id="9" idx="4"/>
          </p:cNvCxnSpPr>
          <p:nvPr/>
        </p:nvCxnSpPr>
        <p:spPr>
          <a:xfrm flipH="1" flipV="1">
            <a:off x="5760132" y="1556792"/>
            <a:ext cx="252028" cy="1548172"/>
          </a:xfrm>
          <a:prstGeom prst="straightConnector1">
            <a:avLst/>
          </a:prstGeom>
          <a:ln w="19050">
            <a:solidFill>
              <a:srgbClr val="FF000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/>
          <p:cNvCxnSpPr>
            <a:stCxn id="11" idx="1"/>
            <a:endCxn id="12" idx="4"/>
          </p:cNvCxnSpPr>
          <p:nvPr/>
        </p:nvCxnSpPr>
        <p:spPr>
          <a:xfrm flipV="1">
            <a:off x="6012160" y="2204864"/>
            <a:ext cx="1556556" cy="900100"/>
          </a:xfrm>
          <a:prstGeom prst="straightConnector1">
            <a:avLst/>
          </a:prstGeom>
          <a:ln w="19050">
            <a:solidFill>
              <a:srgbClr val="FF000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hteck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0616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/>
          <p:cNvSpPr/>
          <p:nvPr/>
        </p:nvSpPr>
        <p:spPr>
          <a:xfrm>
            <a:off x="251520" y="5733256"/>
            <a:ext cx="8640960" cy="86409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tx2"/>
                </a:solidFill>
                <a:latin typeface="Tele-GroteskNor" pitchFamily="2" charset="0"/>
              </a:rPr>
              <a:t>BigBlueButton Kern</a:t>
            </a:r>
            <a:endParaRPr lang="de-DE" dirty="0">
              <a:solidFill>
                <a:schemeClr val="tx2"/>
              </a:solidFill>
              <a:latin typeface="Tele-GroteskNor" pitchFamily="2" charset="0"/>
            </a:endParaRPr>
          </a:p>
        </p:txBody>
      </p:sp>
      <p:sp>
        <p:nvSpPr>
          <p:cNvPr id="5" name="Rechteck 4"/>
          <p:cNvSpPr/>
          <p:nvPr/>
        </p:nvSpPr>
        <p:spPr>
          <a:xfrm>
            <a:off x="251520" y="260648"/>
            <a:ext cx="8640960" cy="446449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HTML5-App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6" name="Rechteck 5"/>
          <p:cNvSpPr/>
          <p:nvPr/>
        </p:nvSpPr>
        <p:spPr>
          <a:xfrm>
            <a:off x="395536" y="620688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Client-Seite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7" name="Rechteck 6"/>
          <p:cNvSpPr/>
          <p:nvPr/>
        </p:nvSpPr>
        <p:spPr>
          <a:xfrm>
            <a:off x="395536" y="2708920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Server-Seite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8" name="Ellipse 7"/>
          <p:cNvSpPr/>
          <p:nvPr/>
        </p:nvSpPr>
        <p:spPr>
          <a:xfrm>
            <a:off x="611560" y="908720"/>
            <a:ext cx="3960440" cy="1296144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tIns="0" rtlCol="0" anchor="t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1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9" name="Ellipse 8"/>
          <p:cNvSpPr/>
          <p:nvPr/>
        </p:nvSpPr>
        <p:spPr>
          <a:xfrm>
            <a:off x="4932040" y="764704"/>
            <a:ext cx="1656184" cy="792088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2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0" name="Pfeil nach oben und unten 9"/>
          <p:cNvSpPr/>
          <p:nvPr/>
        </p:nvSpPr>
        <p:spPr>
          <a:xfrm rot="2508825">
            <a:off x="4862627" y="4043372"/>
            <a:ext cx="360040" cy="1873398"/>
          </a:xfrm>
          <a:prstGeom prst="upDown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sp>
        <p:nvSpPr>
          <p:cNvPr id="11" name="Flussdiagramm: Magnetplattenspeicher 10"/>
          <p:cNvSpPr/>
          <p:nvPr/>
        </p:nvSpPr>
        <p:spPr>
          <a:xfrm>
            <a:off x="5220072" y="3104964"/>
            <a:ext cx="1584176" cy="1080120"/>
          </a:xfrm>
          <a:prstGeom prst="flowChartMagneticDisk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MongoDB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2" name="Ellipse 11"/>
          <p:cNvSpPr/>
          <p:nvPr/>
        </p:nvSpPr>
        <p:spPr>
          <a:xfrm>
            <a:off x="6740624" y="1412776"/>
            <a:ext cx="1656184" cy="792088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3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3" name="Abgerundetes Rechteck 12"/>
          <p:cNvSpPr/>
          <p:nvPr/>
        </p:nvSpPr>
        <p:spPr>
          <a:xfrm>
            <a:off x="971600" y="1297214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latin typeface="Tele-GroteskNor" pitchFamily="2" charset="0"/>
              </a:rPr>
              <a:t>Sicht 1</a:t>
            </a:r>
            <a:endParaRPr lang="de-DE" dirty="0">
              <a:latin typeface="Tele-GroteskNor" pitchFamily="2" charset="0"/>
            </a:endParaRPr>
          </a:p>
        </p:txBody>
      </p:sp>
      <p:sp>
        <p:nvSpPr>
          <p:cNvPr id="14" name="Abgerundetes Rechteck 13"/>
          <p:cNvSpPr/>
          <p:nvPr/>
        </p:nvSpPr>
        <p:spPr>
          <a:xfrm>
            <a:off x="2123728" y="1615218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latin typeface="Tele-GroteskNor" pitchFamily="2" charset="0"/>
              </a:rPr>
              <a:t>Sicht 2</a:t>
            </a:r>
            <a:endParaRPr lang="de-DE" dirty="0">
              <a:latin typeface="Tele-GroteskNor" pitchFamily="2" charset="0"/>
            </a:endParaRPr>
          </a:p>
        </p:txBody>
      </p:sp>
      <p:sp>
        <p:nvSpPr>
          <p:cNvPr id="15" name="Abgerundetes Rechteck 14"/>
          <p:cNvSpPr/>
          <p:nvPr/>
        </p:nvSpPr>
        <p:spPr>
          <a:xfrm>
            <a:off x="3347864" y="1324859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latin typeface="Tele-GroteskNor" pitchFamily="2" charset="0"/>
              </a:rPr>
              <a:t>Sicht 3</a:t>
            </a:r>
            <a:endParaRPr lang="de-DE" dirty="0">
              <a:latin typeface="Tele-GroteskNor" pitchFamily="2" charset="0"/>
            </a:endParaRPr>
          </a:p>
        </p:txBody>
      </p:sp>
      <p:sp>
        <p:nvSpPr>
          <p:cNvPr id="16" name="Textfeld 15"/>
          <p:cNvSpPr txBox="1"/>
          <p:nvPr/>
        </p:nvSpPr>
        <p:spPr>
          <a:xfrm>
            <a:off x="5153002" y="4980071"/>
            <a:ext cx="2875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chemeClr val="accent6"/>
                </a:solidFill>
                <a:latin typeface="Tele-GroteskNor" pitchFamily="2" charset="0"/>
              </a:rPr>
              <a:t>„get_all_meetings_request“</a:t>
            </a:r>
            <a:endParaRPr lang="de-DE" dirty="0">
              <a:solidFill>
                <a:schemeClr val="accent6"/>
              </a:solidFill>
              <a:latin typeface="Tele-GroteskNor" pitchFamily="2" charset="0"/>
            </a:endParaRPr>
          </a:p>
        </p:txBody>
      </p:sp>
      <p:sp>
        <p:nvSpPr>
          <p:cNvPr id="17" name="Textfeld 16"/>
          <p:cNvSpPr txBox="1"/>
          <p:nvPr/>
        </p:nvSpPr>
        <p:spPr>
          <a:xfrm>
            <a:off x="7020272" y="2780928"/>
            <a:ext cx="172819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u="sng" dirty="0" smtClean="0">
                <a:latin typeface="Tele-GroteskNor" pitchFamily="2" charset="0"/>
              </a:rPr>
              <a:t>Informationen: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</a:t>
            </a:r>
            <a:r>
              <a:rPr lang="de-DE" sz="1400" b="1" dirty="0" smtClean="0">
                <a:latin typeface="Tele-GroteskNor" pitchFamily="2" charset="0"/>
              </a:rPr>
              <a:t>Sitzungen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Benutzer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Chatnachrichten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Präsentationsfolien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Mauszeiger (Cursor)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Umfragen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…</a:t>
            </a:r>
            <a:endParaRPr lang="de-DE" sz="1400" dirty="0">
              <a:latin typeface="Tele-GroteskNor" pitchFamily="2" charset="0"/>
            </a:endParaRPr>
          </a:p>
        </p:txBody>
      </p:sp>
      <p:sp>
        <p:nvSpPr>
          <p:cNvPr id="18" name="Geschweifte Klammer links 17"/>
          <p:cNvSpPr/>
          <p:nvPr/>
        </p:nvSpPr>
        <p:spPr>
          <a:xfrm>
            <a:off x="6876256" y="2780928"/>
            <a:ext cx="288032" cy="1728192"/>
          </a:xfrm>
          <a:prstGeom prst="leftBrac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cxnSp>
        <p:nvCxnSpPr>
          <p:cNvPr id="20" name="Gekrümmte Verbindung 19"/>
          <p:cNvCxnSpPr>
            <a:stCxn id="11" idx="2"/>
            <a:endCxn id="13" idx="2"/>
          </p:cNvCxnSpPr>
          <p:nvPr/>
        </p:nvCxnSpPr>
        <p:spPr>
          <a:xfrm rot="10800000">
            <a:off x="1439652" y="1761080"/>
            <a:ext cx="3780420" cy="1883944"/>
          </a:xfrm>
          <a:prstGeom prst="curved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krümmte Verbindung 22"/>
          <p:cNvCxnSpPr>
            <a:stCxn id="11" idx="2"/>
            <a:endCxn id="14" idx="2"/>
          </p:cNvCxnSpPr>
          <p:nvPr/>
        </p:nvCxnSpPr>
        <p:spPr>
          <a:xfrm rot="10800000">
            <a:off x="2591780" y="2079084"/>
            <a:ext cx="2628292" cy="1565940"/>
          </a:xfrm>
          <a:prstGeom prst="curved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krümmte Verbindung 25"/>
          <p:cNvCxnSpPr>
            <a:stCxn id="11" idx="2"/>
            <a:endCxn id="15" idx="2"/>
          </p:cNvCxnSpPr>
          <p:nvPr/>
        </p:nvCxnSpPr>
        <p:spPr>
          <a:xfrm rot="10800000">
            <a:off x="3815916" y="1788726"/>
            <a:ext cx="1404156" cy="1856299"/>
          </a:xfrm>
          <a:prstGeom prst="curved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/>
          <p:cNvCxnSpPr>
            <a:stCxn id="11" idx="1"/>
            <a:endCxn id="9" idx="4"/>
          </p:cNvCxnSpPr>
          <p:nvPr/>
        </p:nvCxnSpPr>
        <p:spPr>
          <a:xfrm flipH="1" flipV="1">
            <a:off x="5760132" y="1556792"/>
            <a:ext cx="252028" cy="1548172"/>
          </a:xfrm>
          <a:prstGeom prst="straightConnector1">
            <a:avLst/>
          </a:prstGeom>
          <a:ln w="19050">
            <a:solidFill>
              <a:srgbClr val="FF000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/>
          <p:cNvCxnSpPr>
            <a:stCxn id="11" idx="1"/>
            <a:endCxn id="12" idx="4"/>
          </p:cNvCxnSpPr>
          <p:nvPr/>
        </p:nvCxnSpPr>
        <p:spPr>
          <a:xfrm flipV="1">
            <a:off x="6012160" y="2204864"/>
            <a:ext cx="1556556" cy="900100"/>
          </a:xfrm>
          <a:prstGeom prst="straightConnector1">
            <a:avLst/>
          </a:prstGeom>
          <a:ln w="19050">
            <a:solidFill>
              <a:srgbClr val="FF000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hteck 2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2157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/>
        </p:nvSpPr>
        <p:spPr>
          <a:xfrm>
            <a:off x="4283968" y="4725144"/>
            <a:ext cx="576064" cy="1008112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sp>
        <p:nvSpPr>
          <p:cNvPr id="4" name="Rechteck 3"/>
          <p:cNvSpPr/>
          <p:nvPr/>
        </p:nvSpPr>
        <p:spPr>
          <a:xfrm>
            <a:off x="251520" y="5733256"/>
            <a:ext cx="8640960" cy="86409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tx2"/>
                </a:solidFill>
                <a:latin typeface="Tele-GroteskNor" pitchFamily="2" charset="0"/>
              </a:rPr>
              <a:t>BigBlueButton Kern</a:t>
            </a:r>
            <a:endParaRPr lang="de-DE" dirty="0">
              <a:solidFill>
                <a:schemeClr val="tx2"/>
              </a:solidFill>
              <a:latin typeface="Tele-GroteskNor" pitchFamily="2" charset="0"/>
            </a:endParaRPr>
          </a:p>
        </p:txBody>
      </p:sp>
      <p:sp>
        <p:nvSpPr>
          <p:cNvPr id="5" name="Rechteck 4"/>
          <p:cNvSpPr/>
          <p:nvPr/>
        </p:nvSpPr>
        <p:spPr>
          <a:xfrm>
            <a:off x="251520" y="260648"/>
            <a:ext cx="8640960" cy="446449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HTML5-App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6" name="Rechteck 5"/>
          <p:cNvSpPr/>
          <p:nvPr/>
        </p:nvSpPr>
        <p:spPr>
          <a:xfrm>
            <a:off x="395536" y="620688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Client-Seite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7" name="Rechteck 6"/>
          <p:cNvSpPr/>
          <p:nvPr/>
        </p:nvSpPr>
        <p:spPr>
          <a:xfrm>
            <a:off x="395536" y="2708920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Server-</a:t>
            </a:r>
            <a:b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</a:br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8" name="Ellipse 7"/>
          <p:cNvSpPr/>
          <p:nvPr/>
        </p:nvSpPr>
        <p:spPr>
          <a:xfrm>
            <a:off x="611560" y="908720"/>
            <a:ext cx="3960440" cy="1296144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tIns="0" rtlCol="0" anchor="t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1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9" name="Ellipse 8"/>
          <p:cNvSpPr/>
          <p:nvPr/>
        </p:nvSpPr>
        <p:spPr>
          <a:xfrm>
            <a:off x="4932040" y="764704"/>
            <a:ext cx="1656184" cy="792088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2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1" name="Flussdiagramm: Magnetplattenspeicher 10"/>
          <p:cNvSpPr/>
          <p:nvPr/>
        </p:nvSpPr>
        <p:spPr>
          <a:xfrm>
            <a:off x="5220072" y="3104964"/>
            <a:ext cx="1584176" cy="1080120"/>
          </a:xfrm>
          <a:prstGeom prst="flowChartMagneticDisk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MongoDB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2" name="Ellipse 11"/>
          <p:cNvSpPr/>
          <p:nvPr/>
        </p:nvSpPr>
        <p:spPr>
          <a:xfrm>
            <a:off x="6740624" y="1412776"/>
            <a:ext cx="1656184" cy="792088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3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3" name="Abgerundetes Rechteck 12"/>
          <p:cNvSpPr/>
          <p:nvPr/>
        </p:nvSpPr>
        <p:spPr>
          <a:xfrm>
            <a:off x="971600" y="1297214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1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14" name="Abgerundetes Rechteck 13"/>
          <p:cNvSpPr/>
          <p:nvPr/>
        </p:nvSpPr>
        <p:spPr>
          <a:xfrm>
            <a:off x="2123728" y="1615218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</a:t>
            </a:r>
            <a:r>
              <a:rPr lang="de-DE" sz="1600" dirty="0">
                <a:latin typeface="Tele-GroteskNor" pitchFamily="2" charset="0"/>
              </a:rPr>
              <a:t>2</a:t>
            </a:r>
          </a:p>
        </p:txBody>
      </p:sp>
      <p:sp>
        <p:nvSpPr>
          <p:cNvPr id="15" name="Abgerundetes Rechteck 14"/>
          <p:cNvSpPr/>
          <p:nvPr/>
        </p:nvSpPr>
        <p:spPr>
          <a:xfrm>
            <a:off x="3347864" y="1324859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</a:t>
            </a:r>
            <a:r>
              <a:rPr lang="de-DE" sz="1600" dirty="0">
                <a:latin typeface="Tele-GroteskNor" pitchFamily="2" charset="0"/>
              </a:rPr>
              <a:t>3</a:t>
            </a:r>
          </a:p>
        </p:txBody>
      </p:sp>
      <p:sp>
        <p:nvSpPr>
          <p:cNvPr id="16" name="Textfeld 15"/>
          <p:cNvSpPr txBox="1"/>
          <p:nvPr/>
        </p:nvSpPr>
        <p:spPr>
          <a:xfrm>
            <a:off x="4860032" y="5044534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chemeClr val="accent6"/>
                </a:solidFill>
                <a:latin typeface="Tele-GroteskNor" pitchFamily="2" charset="0"/>
              </a:rPr>
              <a:t>Redis PubSub</a:t>
            </a:r>
            <a:endParaRPr lang="de-DE" dirty="0">
              <a:solidFill>
                <a:schemeClr val="accent6"/>
              </a:solidFill>
              <a:latin typeface="Tele-GroteskNor" pitchFamily="2" charset="0"/>
            </a:endParaRPr>
          </a:p>
        </p:txBody>
      </p:sp>
      <p:sp>
        <p:nvSpPr>
          <p:cNvPr id="17" name="Textfeld 16"/>
          <p:cNvSpPr txBox="1"/>
          <p:nvPr/>
        </p:nvSpPr>
        <p:spPr>
          <a:xfrm>
            <a:off x="7020272" y="2780928"/>
            <a:ext cx="172819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u="sng" dirty="0" smtClean="0">
                <a:latin typeface="Tele-GroteskNor" pitchFamily="2" charset="0"/>
              </a:rPr>
              <a:t>Informationen: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Sitzungen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Benutzer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Chatnachrichten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Präsentationsfolien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Mauszeiger (Cursor)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Umfragen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…</a:t>
            </a:r>
            <a:endParaRPr lang="de-DE" sz="1400" dirty="0">
              <a:latin typeface="Tele-GroteskNor" pitchFamily="2" charset="0"/>
            </a:endParaRPr>
          </a:p>
        </p:txBody>
      </p:sp>
      <p:sp>
        <p:nvSpPr>
          <p:cNvPr id="18" name="Geschweifte Klammer links 17"/>
          <p:cNvSpPr/>
          <p:nvPr/>
        </p:nvSpPr>
        <p:spPr>
          <a:xfrm>
            <a:off x="6876256" y="2780928"/>
            <a:ext cx="288032" cy="1728192"/>
          </a:xfrm>
          <a:prstGeom prst="leftBrac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cxnSp>
        <p:nvCxnSpPr>
          <p:cNvPr id="22" name="Gekrümmte Verbindung 21"/>
          <p:cNvCxnSpPr/>
          <p:nvPr/>
        </p:nvCxnSpPr>
        <p:spPr>
          <a:xfrm rot="16200000" flipH="1">
            <a:off x="803714" y="2144990"/>
            <a:ext cx="3972176" cy="3204356"/>
          </a:xfrm>
          <a:prstGeom prst="bentConnector3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Gekrümmte Verbindung 21"/>
          <p:cNvCxnSpPr>
            <a:endCxn id="11" idx="3"/>
          </p:cNvCxnSpPr>
          <p:nvPr/>
        </p:nvCxnSpPr>
        <p:spPr>
          <a:xfrm rot="5400000" flipH="1" flipV="1">
            <a:off x="4590002" y="4311098"/>
            <a:ext cx="1548172" cy="1296144"/>
          </a:xfrm>
          <a:prstGeom prst="bentConnector3">
            <a:avLst>
              <a:gd name="adj1" fmla="val 79818"/>
            </a:avLst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krümmte Verbindung 21"/>
          <p:cNvCxnSpPr>
            <a:stCxn id="11" idx="2"/>
            <a:endCxn id="13" idx="2"/>
          </p:cNvCxnSpPr>
          <p:nvPr/>
        </p:nvCxnSpPr>
        <p:spPr>
          <a:xfrm rot="10800000">
            <a:off x="1439652" y="1761080"/>
            <a:ext cx="3780420" cy="1883944"/>
          </a:xfrm>
          <a:prstGeom prst="curvedConnector2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Gekrümmte Verbindung 21"/>
          <p:cNvCxnSpPr>
            <a:stCxn id="11" idx="2"/>
            <a:endCxn id="14" idx="2"/>
          </p:cNvCxnSpPr>
          <p:nvPr/>
        </p:nvCxnSpPr>
        <p:spPr>
          <a:xfrm rot="10800000">
            <a:off x="2591780" y="2079084"/>
            <a:ext cx="2628292" cy="1565940"/>
          </a:xfrm>
          <a:prstGeom prst="curvedConnector2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krümmte Verbindung 21"/>
          <p:cNvCxnSpPr>
            <a:stCxn id="11" idx="2"/>
            <a:endCxn id="15" idx="2"/>
          </p:cNvCxnSpPr>
          <p:nvPr/>
        </p:nvCxnSpPr>
        <p:spPr>
          <a:xfrm rot="10800000">
            <a:off x="3815916" y="1788726"/>
            <a:ext cx="1404156" cy="1856299"/>
          </a:xfrm>
          <a:prstGeom prst="curvedConnector2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feld 56"/>
          <p:cNvSpPr txBox="1"/>
          <p:nvPr/>
        </p:nvSpPr>
        <p:spPr>
          <a:xfrm>
            <a:off x="1871699" y="3419708"/>
            <a:ext cx="1440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rgbClr val="00B050"/>
                </a:solidFill>
                <a:latin typeface="Tele-GroteskNor" pitchFamily="2" charset="0"/>
              </a:rPr>
              <a:t>Verarbeitung</a:t>
            </a:r>
            <a:endParaRPr lang="de-DE" dirty="0">
              <a:solidFill>
                <a:srgbClr val="00B050"/>
              </a:solidFill>
              <a:latin typeface="Tele-GroteskNor" pitchFamily="2" charset="0"/>
            </a:endParaRPr>
          </a:p>
        </p:txBody>
      </p:sp>
      <p:sp>
        <p:nvSpPr>
          <p:cNvPr id="23" name="Rechteck 22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22272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/>
        </p:nvSpPr>
        <p:spPr>
          <a:xfrm>
            <a:off x="4283968" y="4725144"/>
            <a:ext cx="576064" cy="1008112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sp>
        <p:nvSpPr>
          <p:cNvPr id="4" name="Rechteck 3"/>
          <p:cNvSpPr/>
          <p:nvPr/>
        </p:nvSpPr>
        <p:spPr>
          <a:xfrm>
            <a:off x="251520" y="5733256"/>
            <a:ext cx="8640960" cy="86409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tx2"/>
                </a:solidFill>
                <a:latin typeface="Tele-GroteskNor" pitchFamily="2" charset="0"/>
              </a:rPr>
              <a:t>BigBlueButton Kern</a:t>
            </a:r>
            <a:endParaRPr lang="de-DE" dirty="0">
              <a:solidFill>
                <a:schemeClr val="tx2"/>
              </a:solidFill>
              <a:latin typeface="Tele-GroteskNor" pitchFamily="2" charset="0"/>
            </a:endParaRPr>
          </a:p>
        </p:txBody>
      </p:sp>
      <p:sp>
        <p:nvSpPr>
          <p:cNvPr id="5" name="Rechteck 4"/>
          <p:cNvSpPr/>
          <p:nvPr/>
        </p:nvSpPr>
        <p:spPr>
          <a:xfrm>
            <a:off x="251520" y="260648"/>
            <a:ext cx="8640960" cy="446449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HTML5-App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7" name="Rechteck 6"/>
          <p:cNvSpPr/>
          <p:nvPr/>
        </p:nvSpPr>
        <p:spPr>
          <a:xfrm>
            <a:off x="395536" y="2708920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Server-Seite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11" name="Flussdiagramm: Magnetplattenspeicher 10"/>
          <p:cNvSpPr/>
          <p:nvPr/>
        </p:nvSpPr>
        <p:spPr>
          <a:xfrm>
            <a:off x="5220072" y="3104964"/>
            <a:ext cx="1584176" cy="1080120"/>
          </a:xfrm>
          <a:prstGeom prst="flowChartMagneticDisk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MongoDB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grpSp>
        <p:nvGrpSpPr>
          <p:cNvPr id="19" name="Gruppieren 18"/>
          <p:cNvGrpSpPr/>
          <p:nvPr/>
        </p:nvGrpSpPr>
        <p:grpSpPr>
          <a:xfrm>
            <a:off x="4788025" y="692696"/>
            <a:ext cx="3960439" cy="1872208"/>
            <a:chOff x="395536" y="620688"/>
            <a:chExt cx="4464496" cy="1872208"/>
          </a:xfrm>
        </p:grpSpPr>
        <p:sp>
          <p:nvSpPr>
            <p:cNvPr id="6" name="Rechteck 5"/>
            <p:cNvSpPr/>
            <p:nvPr/>
          </p:nvSpPr>
          <p:spPr>
            <a:xfrm>
              <a:off x="395536" y="620688"/>
              <a:ext cx="4464496" cy="1872208"/>
            </a:xfrm>
            <a:prstGeom prst="rect">
              <a:avLst/>
            </a:prstGeom>
            <a:ln w="25400">
              <a:solidFill>
                <a:schemeClr val="accent2"/>
              </a:solidFill>
              <a:prstDash val="sysDot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de-DE" dirty="0" smtClean="0">
                  <a:solidFill>
                    <a:schemeClr val="accent2"/>
                  </a:solidFill>
                  <a:latin typeface="Tele-GroteskNor" pitchFamily="2" charset="0"/>
                </a:rPr>
                <a:t>Client-Seite</a:t>
              </a:r>
              <a:endParaRPr lang="de-DE" dirty="0">
                <a:solidFill>
                  <a:schemeClr val="accent2"/>
                </a:solidFill>
                <a:latin typeface="Tele-GroteskNor" pitchFamily="2" charset="0"/>
              </a:endParaRPr>
            </a:p>
          </p:txBody>
        </p:sp>
        <p:sp>
          <p:nvSpPr>
            <p:cNvPr id="8" name="Ellipse 7"/>
            <p:cNvSpPr/>
            <p:nvPr/>
          </p:nvSpPr>
          <p:spPr>
            <a:xfrm>
              <a:off x="611560" y="908720"/>
              <a:ext cx="3960440" cy="1296144"/>
            </a:xfrm>
            <a:prstGeom prst="ellipse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tIns="0" rtlCol="0" anchor="t"/>
            <a:lstStyle/>
            <a:p>
              <a:pPr algn="ctr"/>
              <a:r>
                <a:rPr lang="de-DE" dirty="0" smtClean="0">
                  <a:solidFill>
                    <a:schemeClr val="bg1">
                      <a:lumMod val="95000"/>
                    </a:schemeClr>
                  </a:solidFill>
                  <a:latin typeface="Tele-GroteskNor" pitchFamily="2" charset="0"/>
                </a:rPr>
                <a:t>Sitzung X</a:t>
              </a:r>
              <a:endParaRPr lang="de-DE" dirty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endParaRPr>
            </a:p>
          </p:txBody>
        </p:sp>
        <p:sp>
          <p:nvSpPr>
            <p:cNvPr id="13" name="Abgerundetes Rechteck 12"/>
            <p:cNvSpPr/>
            <p:nvPr/>
          </p:nvSpPr>
          <p:spPr>
            <a:xfrm>
              <a:off x="882572" y="1297214"/>
              <a:ext cx="1136416" cy="46386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30000">
                  <a:schemeClr val="accent2">
                    <a:lumMod val="60000"/>
                    <a:lumOff val="40000"/>
                  </a:schemeClr>
                </a:gs>
                <a:gs pos="70000">
                  <a:schemeClr val="accent2"/>
                </a:gs>
                <a:gs pos="100000">
                  <a:schemeClr val="accent2">
                    <a:lumMod val="50000"/>
                  </a:schemeClr>
                </a:gs>
              </a:gsLst>
              <a:lin ang="1890000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 dirty="0" smtClean="0">
                  <a:latin typeface="Tele-GroteskNor" pitchFamily="2" charset="0"/>
                </a:rPr>
                <a:t>BBB-Nutzer </a:t>
              </a:r>
              <a:r>
                <a:rPr lang="de-DE" sz="1600" dirty="0">
                  <a:latin typeface="Tele-GroteskNor" pitchFamily="2" charset="0"/>
                </a:rPr>
                <a:t>1</a:t>
              </a:r>
            </a:p>
          </p:txBody>
        </p:sp>
        <p:sp>
          <p:nvSpPr>
            <p:cNvPr id="14" name="Abgerundetes Rechteck 13"/>
            <p:cNvSpPr/>
            <p:nvPr/>
          </p:nvSpPr>
          <p:spPr>
            <a:xfrm>
              <a:off x="2059575" y="1582080"/>
              <a:ext cx="1136417" cy="46386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30000">
                  <a:schemeClr val="accent2">
                    <a:lumMod val="60000"/>
                    <a:lumOff val="40000"/>
                  </a:schemeClr>
                </a:gs>
                <a:gs pos="70000">
                  <a:schemeClr val="accent2"/>
                </a:gs>
                <a:gs pos="100000">
                  <a:schemeClr val="accent2">
                    <a:lumMod val="50000"/>
                  </a:schemeClr>
                </a:gs>
              </a:gsLst>
              <a:lin ang="1890000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 dirty="0" smtClean="0">
                  <a:latin typeface="Tele-GroteskNor" pitchFamily="2" charset="0"/>
                </a:rPr>
                <a:t>BBB-Nutzer </a:t>
              </a:r>
              <a:r>
                <a:rPr lang="de-DE" sz="1600" dirty="0">
                  <a:latin typeface="Tele-GroteskNor" pitchFamily="2" charset="0"/>
                </a:rPr>
                <a:t>2</a:t>
              </a:r>
            </a:p>
          </p:txBody>
        </p:sp>
        <p:sp>
          <p:nvSpPr>
            <p:cNvPr id="15" name="Abgerundetes Rechteck 14"/>
            <p:cNvSpPr/>
            <p:nvPr/>
          </p:nvSpPr>
          <p:spPr>
            <a:xfrm>
              <a:off x="3236578" y="1324859"/>
              <a:ext cx="1136416" cy="46386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30000">
                  <a:schemeClr val="accent2">
                    <a:lumMod val="60000"/>
                    <a:lumOff val="40000"/>
                  </a:schemeClr>
                </a:gs>
                <a:gs pos="70000">
                  <a:schemeClr val="accent2"/>
                </a:gs>
                <a:gs pos="100000">
                  <a:schemeClr val="accent2">
                    <a:lumMod val="50000"/>
                  </a:schemeClr>
                </a:gs>
              </a:gsLst>
              <a:lin ang="1890000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 dirty="0" smtClean="0">
                  <a:latin typeface="Tele-GroteskNor" pitchFamily="2" charset="0"/>
                </a:rPr>
                <a:t>BBB-Nutzer </a:t>
              </a:r>
              <a:r>
                <a:rPr lang="de-DE" sz="1600" dirty="0">
                  <a:latin typeface="Tele-GroteskNor" pitchFamily="2" charset="0"/>
                </a:rPr>
                <a:t>3</a:t>
              </a:r>
            </a:p>
          </p:txBody>
        </p:sp>
      </p:grpSp>
      <p:sp>
        <p:nvSpPr>
          <p:cNvPr id="16" name="Textfeld 15"/>
          <p:cNvSpPr txBox="1"/>
          <p:nvPr/>
        </p:nvSpPr>
        <p:spPr>
          <a:xfrm>
            <a:off x="4860032" y="5044534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chemeClr val="accent6"/>
                </a:solidFill>
                <a:latin typeface="Tele-GroteskNor" pitchFamily="2" charset="0"/>
              </a:rPr>
              <a:t>Redis PubSub</a:t>
            </a:r>
            <a:endParaRPr lang="de-DE" dirty="0">
              <a:solidFill>
                <a:schemeClr val="accent6"/>
              </a:solidFill>
              <a:latin typeface="Tele-GroteskNor" pitchFamily="2" charset="0"/>
            </a:endParaRPr>
          </a:p>
        </p:txBody>
      </p:sp>
      <p:sp>
        <p:nvSpPr>
          <p:cNvPr id="17" name="Textfeld 16"/>
          <p:cNvSpPr txBox="1"/>
          <p:nvPr/>
        </p:nvSpPr>
        <p:spPr>
          <a:xfrm>
            <a:off x="7020272" y="2780928"/>
            <a:ext cx="172819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u="sng" dirty="0" smtClean="0">
                <a:latin typeface="Tele-GroteskNor" pitchFamily="2" charset="0"/>
              </a:rPr>
              <a:t>Informationen: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Sitzungen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Benutzer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Chatnachrichten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Präsentationsfolien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Mauszeiger (Cursor)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Umfragen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…</a:t>
            </a:r>
            <a:endParaRPr lang="de-DE" sz="1400" dirty="0">
              <a:latin typeface="Tele-GroteskNor" pitchFamily="2" charset="0"/>
            </a:endParaRPr>
          </a:p>
        </p:txBody>
      </p:sp>
      <p:sp>
        <p:nvSpPr>
          <p:cNvPr id="18" name="Geschweifte Klammer links 17"/>
          <p:cNvSpPr/>
          <p:nvPr/>
        </p:nvSpPr>
        <p:spPr>
          <a:xfrm>
            <a:off x="6876256" y="2780928"/>
            <a:ext cx="288032" cy="1728192"/>
          </a:xfrm>
          <a:prstGeom prst="leftBrac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cxnSp>
        <p:nvCxnSpPr>
          <p:cNvPr id="37" name="Gekrümmte Verbindung 21"/>
          <p:cNvCxnSpPr>
            <a:endCxn id="11" idx="3"/>
          </p:cNvCxnSpPr>
          <p:nvPr/>
        </p:nvCxnSpPr>
        <p:spPr>
          <a:xfrm rot="5400000" flipH="1" flipV="1">
            <a:off x="4590002" y="4311098"/>
            <a:ext cx="1548172" cy="1296144"/>
          </a:xfrm>
          <a:prstGeom prst="bentConnector3">
            <a:avLst>
              <a:gd name="adj1" fmla="val 79818"/>
            </a:avLst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krümmte Verbindung 21"/>
          <p:cNvCxnSpPr>
            <a:stCxn id="11" idx="1"/>
            <a:endCxn id="13" idx="2"/>
          </p:cNvCxnSpPr>
          <p:nvPr/>
        </p:nvCxnSpPr>
        <p:spPr>
          <a:xfrm flipH="1" flipV="1">
            <a:off x="5724129" y="1833088"/>
            <a:ext cx="288031" cy="1271876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Gekrümmte Verbindung 21"/>
          <p:cNvCxnSpPr>
            <a:stCxn id="11" idx="1"/>
            <a:endCxn id="14" idx="2"/>
          </p:cNvCxnSpPr>
          <p:nvPr/>
        </p:nvCxnSpPr>
        <p:spPr>
          <a:xfrm flipV="1">
            <a:off x="6012160" y="2117954"/>
            <a:ext cx="756084" cy="987010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krümmte Verbindung 21"/>
          <p:cNvCxnSpPr>
            <a:stCxn id="11" idx="1"/>
            <a:endCxn id="15" idx="2"/>
          </p:cNvCxnSpPr>
          <p:nvPr/>
        </p:nvCxnSpPr>
        <p:spPr>
          <a:xfrm flipV="1">
            <a:off x="6012160" y="1860733"/>
            <a:ext cx="1800200" cy="1244231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hteck 28"/>
          <p:cNvSpPr/>
          <p:nvPr/>
        </p:nvSpPr>
        <p:spPr>
          <a:xfrm>
            <a:off x="418218" y="692171"/>
            <a:ext cx="3960439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Zu entwickelnde Anwendung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30" name="Ellipse 29"/>
          <p:cNvSpPr/>
          <p:nvPr/>
        </p:nvSpPr>
        <p:spPr>
          <a:xfrm>
            <a:off x="641790" y="1833088"/>
            <a:ext cx="3513293" cy="502209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tIns="0"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Script (PHP)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31" name="Abgerundetes Rechteck 30"/>
          <p:cNvSpPr/>
          <p:nvPr/>
        </p:nvSpPr>
        <p:spPr>
          <a:xfrm>
            <a:off x="641790" y="1123011"/>
            <a:ext cx="985769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Nutzer A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34" name="Abgerundetes Rechteck 33"/>
          <p:cNvSpPr/>
          <p:nvPr/>
        </p:nvSpPr>
        <p:spPr>
          <a:xfrm>
            <a:off x="1905552" y="980728"/>
            <a:ext cx="985769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Nutzer B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35" name="Abgerundetes Rechteck 34"/>
          <p:cNvSpPr/>
          <p:nvPr/>
        </p:nvSpPr>
        <p:spPr>
          <a:xfrm>
            <a:off x="3169314" y="1100538"/>
            <a:ext cx="985769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Nutzer C</a:t>
            </a:r>
            <a:endParaRPr lang="de-DE" sz="1600" dirty="0">
              <a:latin typeface="Tele-GroteskNor" pitchFamily="2" charset="0"/>
            </a:endParaRPr>
          </a:p>
        </p:txBody>
      </p:sp>
      <p:cxnSp>
        <p:nvCxnSpPr>
          <p:cNvPr id="39" name="Gekrümmte Verbindung 21"/>
          <p:cNvCxnSpPr/>
          <p:nvPr/>
        </p:nvCxnSpPr>
        <p:spPr>
          <a:xfrm rot="16200000" flipH="1">
            <a:off x="1594882" y="2936152"/>
            <a:ext cx="3397955" cy="2196246"/>
          </a:xfrm>
          <a:prstGeom prst="bentConnector3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Gekrümmte Verbindung 21"/>
          <p:cNvCxnSpPr>
            <a:stCxn id="31" idx="2"/>
            <a:endCxn id="30" idx="1"/>
          </p:cNvCxnSpPr>
          <p:nvPr/>
        </p:nvCxnSpPr>
        <p:spPr>
          <a:xfrm>
            <a:off x="1134675" y="1586877"/>
            <a:ext cx="21625" cy="319758"/>
          </a:xfrm>
          <a:prstGeom prst="straightConnector1">
            <a:avLst/>
          </a:prstGeom>
          <a:ln w="25400">
            <a:solidFill>
              <a:srgbClr val="00B05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krümmte Verbindung 21"/>
          <p:cNvCxnSpPr>
            <a:stCxn id="34" idx="2"/>
            <a:endCxn id="30" idx="0"/>
          </p:cNvCxnSpPr>
          <p:nvPr/>
        </p:nvCxnSpPr>
        <p:spPr>
          <a:xfrm>
            <a:off x="2398437" y="1444594"/>
            <a:ext cx="0" cy="388494"/>
          </a:xfrm>
          <a:prstGeom prst="straightConnector1">
            <a:avLst/>
          </a:prstGeom>
          <a:ln w="25400">
            <a:solidFill>
              <a:srgbClr val="00B05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krümmte Verbindung 21"/>
          <p:cNvCxnSpPr>
            <a:stCxn id="35" idx="2"/>
            <a:endCxn id="30" idx="7"/>
          </p:cNvCxnSpPr>
          <p:nvPr/>
        </p:nvCxnSpPr>
        <p:spPr>
          <a:xfrm flipH="1">
            <a:off x="3640573" y="1564404"/>
            <a:ext cx="21626" cy="342231"/>
          </a:xfrm>
          <a:prstGeom prst="straightConnector1">
            <a:avLst/>
          </a:prstGeom>
          <a:ln w="25400">
            <a:solidFill>
              <a:srgbClr val="00B05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krümmte Verbindung 21"/>
          <p:cNvCxnSpPr>
            <a:stCxn id="11" idx="2"/>
            <a:endCxn id="30" idx="4"/>
          </p:cNvCxnSpPr>
          <p:nvPr/>
        </p:nvCxnSpPr>
        <p:spPr>
          <a:xfrm rot="10800000">
            <a:off x="2398438" y="2335298"/>
            <a:ext cx="2821635" cy="1309727"/>
          </a:xfrm>
          <a:prstGeom prst="curvedConnector2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hteck 3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13047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/>
          <p:cNvSpPr/>
          <p:nvPr/>
        </p:nvSpPr>
        <p:spPr>
          <a:xfrm>
            <a:off x="251520" y="5733256"/>
            <a:ext cx="8640960" cy="86409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tx2"/>
                </a:solidFill>
                <a:latin typeface="Tele-GroteskNor" pitchFamily="2" charset="0"/>
              </a:rPr>
              <a:t>BigBlueButton Kern</a:t>
            </a:r>
            <a:endParaRPr lang="de-DE" dirty="0">
              <a:solidFill>
                <a:schemeClr val="tx2"/>
              </a:solidFill>
              <a:latin typeface="Tele-GroteskNor" pitchFamily="2" charset="0"/>
            </a:endParaRPr>
          </a:p>
        </p:txBody>
      </p:sp>
      <p:sp>
        <p:nvSpPr>
          <p:cNvPr id="5" name="Rechteck 4"/>
          <p:cNvSpPr/>
          <p:nvPr/>
        </p:nvSpPr>
        <p:spPr>
          <a:xfrm>
            <a:off x="251520" y="260648"/>
            <a:ext cx="8640960" cy="446449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HTML5-App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7" name="Rechteck 6"/>
          <p:cNvSpPr/>
          <p:nvPr/>
        </p:nvSpPr>
        <p:spPr>
          <a:xfrm>
            <a:off x="395536" y="2708920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Server-Seite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11" name="Flussdiagramm: Magnetplattenspeicher 10"/>
          <p:cNvSpPr/>
          <p:nvPr/>
        </p:nvSpPr>
        <p:spPr>
          <a:xfrm>
            <a:off x="3779912" y="3398129"/>
            <a:ext cx="1584176" cy="1080120"/>
          </a:xfrm>
          <a:prstGeom prst="flowChartMagneticDisk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MongoDB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grpSp>
        <p:nvGrpSpPr>
          <p:cNvPr id="79" name="Gruppieren 78"/>
          <p:cNvGrpSpPr/>
          <p:nvPr/>
        </p:nvGrpSpPr>
        <p:grpSpPr>
          <a:xfrm>
            <a:off x="5652120" y="2780928"/>
            <a:ext cx="1872208" cy="1815882"/>
            <a:chOff x="6876256" y="2780928"/>
            <a:chExt cx="1872208" cy="1815882"/>
          </a:xfrm>
        </p:grpSpPr>
        <p:sp>
          <p:nvSpPr>
            <p:cNvPr id="17" name="Textfeld 16"/>
            <p:cNvSpPr txBox="1"/>
            <p:nvPr/>
          </p:nvSpPr>
          <p:spPr>
            <a:xfrm>
              <a:off x="7020272" y="2780928"/>
              <a:ext cx="1728192" cy="18158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400" u="sng" dirty="0" smtClean="0">
                  <a:latin typeface="Tele-GroteskNor" pitchFamily="2" charset="0"/>
                </a:rPr>
                <a:t>Informationen:</a:t>
              </a:r>
              <a:r>
                <a:rPr lang="de-DE" sz="1400" dirty="0" smtClean="0">
                  <a:latin typeface="Tele-GroteskNor" pitchFamily="2" charset="0"/>
                </a:rPr>
                <a:t/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Sitzungen</a:t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Benutzer</a:t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Chatnachrichten</a:t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Präsentationsfolien</a:t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Mauszeiger (Cursor)</a:t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Umfragen</a:t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…</a:t>
              </a:r>
              <a:endParaRPr lang="de-DE" sz="1400" dirty="0">
                <a:latin typeface="Tele-GroteskNor" pitchFamily="2" charset="0"/>
              </a:endParaRPr>
            </a:p>
          </p:txBody>
        </p:sp>
        <p:sp>
          <p:nvSpPr>
            <p:cNvPr id="18" name="Geschweifte Klammer links 17"/>
            <p:cNvSpPr/>
            <p:nvPr/>
          </p:nvSpPr>
          <p:spPr>
            <a:xfrm>
              <a:off x="6876256" y="2780928"/>
              <a:ext cx="288032" cy="1728192"/>
            </a:xfrm>
            <a:prstGeom prst="leftBrace">
              <a:avLst>
                <a:gd name="adj1" fmla="val 8333"/>
                <a:gd name="adj2" fmla="val 16864"/>
              </a:avLst>
            </a:prstGeom>
            <a:noFill/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rgbClr val="00B050"/>
                </a:solidFill>
                <a:latin typeface="Tele-GroteskNor" pitchFamily="2" charset="0"/>
              </a:endParaRPr>
            </a:p>
          </p:txBody>
        </p:sp>
      </p:grpSp>
      <p:sp>
        <p:nvSpPr>
          <p:cNvPr id="29" name="Rechteck 28"/>
          <p:cNvSpPr/>
          <p:nvPr/>
        </p:nvSpPr>
        <p:spPr>
          <a:xfrm>
            <a:off x="418218" y="692171"/>
            <a:ext cx="3960439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Vereinfachter Client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grpSp>
        <p:nvGrpSpPr>
          <p:cNvPr id="32" name="Gruppieren 31"/>
          <p:cNvGrpSpPr/>
          <p:nvPr/>
        </p:nvGrpSpPr>
        <p:grpSpPr>
          <a:xfrm>
            <a:off x="641790" y="692696"/>
            <a:ext cx="8074735" cy="1872208"/>
            <a:chOff x="-4242399" y="836712"/>
            <a:chExt cx="9102431" cy="1872208"/>
          </a:xfrm>
        </p:grpSpPr>
        <p:sp>
          <p:nvSpPr>
            <p:cNvPr id="33" name="Rechteck 32"/>
            <p:cNvSpPr/>
            <p:nvPr/>
          </p:nvSpPr>
          <p:spPr>
            <a:xfrm>
              <a:off x="395536" y="836712"/>
              <a:ext cx="4464496" cy="1872208"/>
            </a:xfrm>
            <a:prstGeom prst="rect">
              <a:avLst/>
            </a:prstGeom>
            <a:ln w="25400">
              <a:solidFill>
                <a:schemeClr val="accent2"/>
              </a:solidFill>
              <a:prstDash val="sysDot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de-DE" dirty="0" smtClean="0">
                  <a:solidFill>
                    <a:schemeClr val="accent2"/>
                  </a:solidFill>
                  <a:latin typeface="Tele-GroteskNor" pitchFamily="2" charset="0"/>
                </a:rPr>
                <a:t>Client-Seite</a:t>
              </a:r>
              <a:endParaRPr lang="de-DE" dirty="0">
                <a:solidFill>
                  <a:schemeClr val="accent2"/>
                </a:solidFill>
                <a:latin typeface="Tele-GroteskNor" pitchFamily="2" charset="0"/>
              </a:endParaRPr>
            </a:p>
          </p:txBody>
        </p:sp>
        <p:sp>
          <p:nvSpPr>
            <p:cNvPr id="36" name="Ellipse 35"/>
            <p:cNvSpPr/>
            <p:nvPr/>
          </p:nvSpPr>
          <p:spPr>
            <a:xfrm>
              <a:off x="-4242399" y="1125269"/>
              <a:ext cx="8814399" cy="1296144"/>
            </a:xfrm>
            <a:prstGeom prst="ellipse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tIns="0" rtlCol="0" anchor="t"/>
            <a:lstStyle/>
            <a:p>
              <a:pPr algn="ctr"/>
              <a:r>
                <a:rPr lang="de-DE" dirty="0" smtClean="0">
                  <a:solidFill>
                    <a:schemeClr val="bg1">
                      <a:lumMod val="95000"/>
                    </a:schemeClr>
                  </a:solidFill>
                  <a:latin typeface="Tele-GroteskNor" pitchFamily="2" charset="0"/>
                </a:rPr>
                <a:t>Sitzung X</a:t>
              </a:r>
              <a:endParaRPr lang="de-DE" dirty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endParaRPr>
            </a:p>
          </p:txBody>
        </p:sp>
        <p:sp>
          <p:nvSpPr>
            <p:cNvPr id="38" name="Abgerundetes Rechteck 37"/>
            <p:cNvSpPr/>
            <p:nvPr/>
          </p:nvSpPr>
          <p:spPr>
            <a:xfrm>
              <a:off x="837402" y="1236942"/>
              <a:ext cx="1136416" cy="46386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30000">
                  <a:schemeClr val="accent2">
                    <a:lumMod val="60000"/>
                    <a:lumOff val="40000"/>
                  </a:schemeClr>
                </a:gs>
                <a:gs pos="70000">
                  <a:schemeClr val="accent2"/>
                </a:gs>
                <a:gs pos="100000">
                  <a:schemeClr val="accent2">
                    <a:lumMod val="50000"/>
                  </a:schemeClr>
                </a:gs>
              </a:gsLst>
              <a:lin ang="1890000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 dirty="0" smtClean="0">
                  <a:latin typeface="Tele-GroteskNor" pitchFamily="2" charset="0"/>
                </a:rPr>
                <a:t>BBB-Nutzer </a:t>
              </a:r>
              <a:r>
                <a:rPr lang="de-DE" sz="1600" dirty="0">
                  <a:latin typeface="Tele-GroteskNor" pitchFamily="2" charset="0"/>
                </a:rPr>
                <a:t>1</a:t>
              </a:r>
            </a:p>
          </p:txBody>
        </p:sp>
        <p:sp>
          <p:nvSpPr>
            <p:cNvPr id="41" name="Abgerundetes Rechteck 40"/>
            <p:cNvSpPr/>
            <p:nvPr/>
          </p:nvSpPr>
          <p:spPr>
            <a:xfrm>
              <a:off x="1477690" y="1772291"/>
              <a:ext cx="1136417" cy="46386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30000">
                  <a:schemeClr val="accent2">
                    <a:lumMod val="60000"/>
                    <a:lumOff val="40000"/>
                  </a:schemeClr>
                </a:gs>
                <a:gs pos="70000">
                  <a:schemeClr val="accent2"/>
                </a:gs>
                <a:gs pos="100000">
                  <a:schemeClr val="accent2">
                    <a:lumMod val="50000"/>
                  </a:schemeClr>
                </a:gs>
              </a:gsLst>
              <a:lin ang="1890000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 dirty="0" smtClean="0">
                  <a:latin typeface="Tele-GroteskNor" pitchFamily="2" charset="0"/>
                </a:rPr>
                <a:t>BBB-Nutzer </a:t>
              </a:r>
              <a:r>
                <a:rPr lang="de-DE" sz="1600" dirty="0">
                  <a:latin typeface="Tele-GroteskNor" pitchFamily="2" charset="0"/>
                </a:rPr>
                <a:t>2</a:t>
              </a:r>
            </a:p>
          </p:txBody>
        </p:sp>
        <p:sp>
          <p:nvSpPr>
            <p:cNvPr id="43" name="Abgerundetes Rechteck 42"/>
            <p:cNvSpPr/>
            <p:nvPr/>
          </p:nvSpPr>
          <p:spPr>
            <a:xfrm>
              <a:off x="2785548" y="1541408"/>
              <a:ext cx="1136416" cy="46386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30000">
                  <a:schemeClr val="accent2">
                    <a:lumMod val="60000"/>
                    <a:lumOff val="40000"/>
                  </a:schemeClr>
                </a:gs>
                <a:gs pos="70000">
                  <a:schemeClr val="accent2"/>
                </a:gs>
                <a:gs pos="100000">
                  <a:schemeClr val="accent2">
                    <a:lumMod val="50000"/>
                  </a:schemeClr>
                </a:gs>
              </a:gsLst>
              <a:lin ang="1890000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 dirty="0" smtClean="0">
                  <a:latin typeface="Tele-GroteskNor" pitchFamily="2" charset="0"/>
                </a:rPr>
                <a:t>BBB-Nutzer </a:t>
              </a:r>
              <a:r>
                <a:rPr lang="de-DE" sz="1600" dirty="0">
                  <a:latin typeface="Tele-GroteskNor" pitchFamily="2" charset="0"/>
                </a:rPr>
                <a:t>3</a:t>
              </a:r>
            </a:p>
          </p:txBody>
        </p:sp>
      </p:grpSp>
      <p:cxnSp>
        <p:nvCxnSpPr>
          <p:cNvPr id="40" name="Gekrümmte Verbindung 21"/>
          <p:cNvCxnSpPr>
            <a:stCxn id="11" idx="1"/>
            <a:endCxn id="38" idx="1"/>
          </p:cNvCxnSpPr>
          <p:nvPr/>
        </p:nvCxnSpPr>
        <p:spPr>
          <a:xfrm rot="5400000" flipH="1" flipV="1">
            <a:off x="3823397" y="2073462"/>
            <a:ext cx="2073270" cy="576064"/>
          </a:xfrm>
          <a:prstGeom prst="curvedConnector2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krümmte Verbindung 21"/>
          <p:cNvCxnSpPr>
            <a:stCxn id="11" idx="1"/>
            <a:endCxn id="43" idx="2"/>
          </p:cNvCxnSpPr>
          <p:nvPr/>
        </p:nvCxnSpPr>
        <p:spPr>
          <a:xfrm rot="5400000" flipH="1" flipV="1">
            <a:off x="5207721" y="1225538"/>
            <a:ext cx="1536871" cy="2808313"/>
          </a:xfrm>
          <a:prstGeom prst="curvedConnector3">
            <a:avLst>
              <a:gd name="adj1" fmla="val 50000"/>
            </a:avLst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Gekrümmte Verbindung 21"/>
          <p:cNvCxnSpPr>
            <a:stCxn id="11" idx="1"/>
            <a:endCxn id="41" idx="1"/>
          </p:cNvCxnSpPr>
          <p:nvPr/>
        </p:nvCxnSpPr>
        <p:spPr>
          <a:xfrm rot="5400000" flipH="1" flipV="1">
            <a:off x="4375070" y="2057139"/>
            <a:ext cx="1537921" cy="1144061"/>
          </a:xfrm>
          <a:prstGeom prst="curvedConnector2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Pfeil nach oben und unten 44"/>
          <p:cNvSpPr/>
          <p:nvPr/>
        </p:nvSpPr>
        <p:spPr>
          <a:xfrm>
            <a:off x="4391980" y="4797152"/>
            <a:ext cx="360040" cy="864096"/>
          </a:xfrm>
          <a:prstGeom prst="upDown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sp>
        <p:nvSpPr>
          <p:cNvPr id="46" name="Textfeld 45"/>
          <p:cNvSpPr txBox="1"/>
          <p:nvPr/>
        </p:nvSpPr>
        <p:spPr>
          <a:xfrm>
            <a:off x="4752026" y="5044534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chemeClr val="accent6"/>
                </a:solidFill>
                <a:latin typeface="Tele-GroteskNor" pitchFamily="2" charset="0"/>
              </a:rPr>
              <a:t>Redis PubSub</a:t>
            </a:r>
            <a:endParaRPr lang="de-DE" dirty="0">
              <a:solidFill>
                <a:schemeClr val="accent6"/>
              </a:solidFill>
              <a:latin typeface="Tele-GroteskNor" pitchFamily="2" charset="0"/>
            </a:endParaRPr>
          </a:p>
        </p:txBody>
      </p:sp>
      <p:sp>
        <p:nvSpPr>
          <p:cNvPr id="80" name="Geschweifte Klammer links 79"/>
          <p:cNvSpPr/>
          <p:nvPr/>
        </p:nvSpPr>
        <p:spPr>
          <a:xfrm>
            <a:off x="3203848" y="2780928"/>
            <a:ext cx="288032" cy="1169551"/>
          </a:xfrm>
          <a:prstGeom prst="leftBrace">
            <a:avLst>
              <a:gd name="adj1" fmla="val 8333"/>
              <a:gd name="adj2" fmla="val 16864"/>
            </a:avLst>
          </a:prstGeom>
          <a:noFill/>
          <a:ln w="19050">
            <a:solidFill>
              <a:srgbClr val="00B050"/>
            </a:solidFill>
          </a:ln>
          <a:scene3d>
            <a:camera prst="orthographicFront">
              <a:rot lat="0" lon="10799999" rev="0"/>
            </a:camera>
            <a:lightRig rig="threePt" dir="t"/>
          </a:scene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00B050"/>
              </a:solidFill>
              <a:latin typeface="Tele-GroteskNor" pitchFamily="2" charset="0"/>
            </a:endParaRPr>
          </a:p>
        </p:txBody>
      </p:sp>
      <p:sp>
        <p:nvSpPr>
          <p:cNvPr id="81" name="Textfeld 80"/>
          <p:cNvSpPr txBox="1"/>
          <p:nvPr/>
        </p:nvSpPr>
        <p:spPr>
          <a:xfrm>
            <a:off x="1763688" y="2780928"/>
            <a:ext cx="172819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u="sng" dirty="0" smtClean="0">
                <a:latin typeface="Tele-GroteskNor" pitchFamily="2" charset="0"/>
              </a:rPr>
              <a:t>Informationen: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Sitzungen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Benutzer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Chatnachrichten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Umfragen</a:t>
            </a:r>
            <a:endParaRPr lang="de-DE" sz="1400" dirty="0">
              <a:latin typeface="Tele-GroteskNor" pitchFamily="2" charset="0"/>
            </a:endParaRPr>
          </a:p>
        </p:txBody>
      </p:sp>
      <p:sp>
        <p:nvSpPr>
          <p:cNvPr id="31" name="Abgerundetes Rechteck 30"/>
          <p:cNvSpPr/>
          <p:nvPr/>
        </p:nvSpPr>
        <p:spPr>
          <a:xfrm>
            <a:off x="1137959" y="1397393"/>
            <a:ext cx="985769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4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34" name="Abgerundetes Rechteck 33"/>
          <p:cNvSpPr/>
          <p:nvPr/>
        </p:nvSpPr>
        <p:spPr>
          <a:xfrm>
            <a:off x="2267744" y="1629326"/>
            <a:ext cx="985769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5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35" name="Abgerundetes Rechteck 34"/>
          <p:cNvSpPr/>
          <p:nvPr/>
        </p:nvSpPr>
        <p:spPr>
          <a:xfrm>
            <a:off x="2938159" y="1092926"/>
            <a:ext cx="985769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6</a:t>
            </a:r>
            <a:endParaRPr lang="de-DE" sz="1600" dirty="0">
              <a:latin typeface="Tele-GroteskNor" pitchFamily="2" charset="0"/>
            </a:endParaRPr>
          </a:p>
        </p:txBody>
      </p:sp>
      <p:cxnSp>
        <p:nvCxnSpPr>
          <p:cNvPr id="93" name="Gekrümmte Verbindung 21"/>
          <p:cNvCxnSpPr>
            <a:stCxn id="11" idx="1"/>
            <a:endCxn id="35" idx="3"/>
          </p:cNvCxnSpPr>
          <p:nvPr/>
        </p:nvCxnSpPr>
        <p:spPr>
          <a:xfrm rot="16200000" flipV="1">
            <a:off x="3211329" y="2037458"/>
            <a:ext cx="2073270" cy="648072"/>
          </a:xfrm>
          <a:prstGeom prst="curvedConnector2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krümmte Verbindung 21"/>
          <p:cNvCxnSpPr>
            <a:endCxn id="34" idx="3"/>
          </p:cNvCxnSpPr>
          <p:nvPr/>
        </p:nvCxnSpPr>
        <p:spPr>
          <a:xfrm rot="16200000" flipV="1">
            <a:off x="3160536" y="1954236"/>
            <a:ext cx="1504444" cy="1318489"/>
          </a:xfrm>
          <a:prstGeom prst="curvedConnector2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krümmte Verbindung 21"/>
          <p:cNvCxnSpPr>
            <a:stCxn id="11" idx="1"/>
            <a:endCxn id="31" idx="2"/>
          </p:cNvCxnSpPr>
          <p:nvPr/>
        </p:nvCxnSpPr>
        <p:spPr>
          <a:xfrm rot="16200000" flipV="1">
            <a:off x="2332987" y="1159116"/>
            <a:ext cx="1536870" cy="2941156"/>
          </a:xfrm>
          <a:prstGeom prst="curvedConnector3">
            <a:avLst>
              <a:gd name="adj1" fmla="val 50000"/>
            </a:avLst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hteck 29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9013804"/>
      </p:ext>
    </p:extLst>
  </p:cSld>
  <p:clrMapOvr>
    <a:masterClrMapping/>
  </p:clrMapOvr>
</p:sld>
</file>

<file path=ppt/theme/theme1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127</Words>
  <Application>Microsoft Office PowerPoint</Application>
  <PresentationFormat>Bildschirmpräsentation (4:3)</PresentationFormat>
  <Paragraphs>72</Paragraphs>
  <Slides>5</Slides>
  <Notes>0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9" baseType="lpstr">
      <vt:lpstr>Arial</vt:lpstr>
      <vt:lpstr>Calibri</vt:lpstr>
      <vt:lpstr>Tele-GroteskNor</vt:lpstr>
      <vt:lpstr>Larissa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Luise Kaufmann</dc:creator>
  <cp:lastModifiedBy>luise</cp:lastModifiedBy>
  <cp:revision>46</cp:revision>
  <dcterms:created xsi:type="dcterms:W3CDTF">2016-07-27T12:07:42Z</dcterms:created>
  <dcterms:modified xsi:type="dcterms:W3CDTF">2016-09-24T10:56:32Z</dcterms:modified>
</cp:coreProperties>
</file>