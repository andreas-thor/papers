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0074"/>
    <a:srgbClr val="990099"/>
    <a:srgbClr val="FFFF00"/>
    <a:srgbClr val="66CCFF"/>
    <a:srgbClr val="99FF99"/>
    <a:srgbClr val="FF7C80"/>
    <a:srgbClr val="FFFF99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22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344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55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8492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865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61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240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3488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742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7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5591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12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49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2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3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Chatnachrichten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Umfragen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 rot="2508825">
            <a:off x="4862627" y="4043372"/>
            <a:ext cx="360040" cy="1873398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1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2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3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5153002" y="4980071"/>
            <a:ext cx="2875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„get_all_meetings_request“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Sitzungen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15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</a:t>
            </a:r>
            <a:b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</a:br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2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3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2" name="Gekrümmte Verbindung 21"/>
          <p:cNvCxnSpPr/>
          <p:nvPr/>
        </p:nvCxnSpPr>
        <p:spPr>
          <a:xfrm rot="16200000" flipH="1">
            <a:off x="803714" y="2144990"/>
            <a:ext cx="3972176" cy="320435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1871699" y="341970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rgbClr val="00B050"/>
                </a:solidFill>
                <a:latin typeface="Tele-GroteskNor" pitchFamily="2" charset="0"/>
              </a:rPr>
              <a:t>Verarbeitung</a:t>
            </a:r>
            <a:endParaRPr lang="de-DE" dirty="0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23" name="Rechteck 2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227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19" name="Gruppieren 18"/>
          <p:cNvGrpSpPr/>
          <p:nvPr/>
        </p:nvGrpSpPr>
        <p:grpSpPr>
          <a:xfrm>
            <a:off x="4788025" y="692696"/>
            <a:ext cx="3960439" cy="1872208"/>
            <a:chOff x="395536" y="620688"/>
            <a:chExt cx="4464496" cy="1872208"/>
          </a:xfrm>
        </p:grpSpPr>
        <p:sp>
          <p:nvSpPr>
            <p:cNvPr id="6" name="Rechteck 5"/>
            <p:cNvSpPr/>
            <p:nvPr/>
          </p:nvSpPr>
          <p:spPr>
            <a:xfrm>
              <a:off x="395536" y="620688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8" name="Ellipse 7"/>
            <p:cNvSpPr/>
            <p:nvPr/>
          </p:nvSpPr>
          <p:spPr>
            <a:xfrm>
              <a:off x="611560" y="908720"/>
              <a:ext cx="3960440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13" name="Abgerundetes Rechteck 12"/>
            <p:cNvSpPr/>
            <p:nvPr/>
          </p:nvSpPr>
          <p:spPr>
            <a:xfrm>
              <a:off x="882572" y="1297214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14" name="Abgerundetes Rechteck 13"/>
            <p:cNvSpPr/>
            <p:nvPr/>
          </p:nvSpPr>
          <p:spPr>
            <a:xfrm>
              <a:off x="2059575" y="1582080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15" name="Abgerundetes Rechteck 14"/>
            <p:cNvSpPr/>
            <p:nvPr/>
          </p:nvSpPr>
          <p:spPr>
            <a:xfrm>
              <a:off x="3236578" y="1324859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1"/>
            <a:endCxn id="13" idx="2"/>
          </p:cNvCxnSpPr>
          <p:nvPr/>
        </p:nvCxnSpPr>
        <p:spPr>
          <a:xfrm flipH="1" flipV="1">
            <a:off x="5724129" y="1833088"/>
            <a:ext cx="288031" cy="1271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14" idx="2"/>
          </p:cNvCxnSpPr>
          <p:nvPr/>
        </p:nvCxnSpPr>
        <p:spPr>
          <a:xfrm flipV="1">
            <a:off x="6012160" y="2117954"/>
            <a:ext cx="756084" cy="9870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15" idx="2"/>
          </p:cNvCxnSpPr>
          <p:nvPr/>
        </p:nvCxnSpPr>
        <p:spPr>
          <a:xfrm flipV="1">
            <a:off x="6012160" y="1860733"/>
            <a:ext cx="1800200" cy="124423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Zu entwickelnde Anwendung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641790" y="1833088"/>
            <a:ext cx="3513293" cy="502209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Script (PHP)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641790" y="1123011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A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1905552" y="98072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B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3169314" y="110053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C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39" name="Gekrümmte Verbindung 21"/>
          <p:cNvCxnSpPr/>
          <p:nvPr/>
        </p:nvCxnSpPr>
        <p:spPr>
          <a:xfrm rot="16200000" flipH="1">
            <a:off x="1594882" y="2936152"/>
            <a:ext cx="3397955" cy="219624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krümmte Verbindung 21"/>
          <p:cNvCxnSpPr>
            <a:stCxn id="31" idx="2"/>
            <a:endCxn id="30" idx="1"/>
          </p:cNvCxnSpPr>
          <p:nvPr/>
        </p:nvCxnSpPr>
        <p:spPr>
          <a:xfrm>
            <a:off x="1134675" y="1586877"/>
            <a:ext cx="21625" cy="319758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krümmte Verbindung 21"/>
          <p:cNvCxnSpPr>
            <a:stCxn id="34" idx="2"/>
            <a:endCxn id="30" idx="0"/>
          </p:cNvCxnSpPr>
          <p:nvPr/>
        </p:nvCxnSpPr>
        <p:spPr>
          <a:xfrm>
            <a:off x="2398437" y="1444594"/>
            <a:ext cx="0" cy="388494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krümmte Verbindung 21"/>
          <p:cNvCxnSpPr>
            <a:stCxn id="35" idx="2"/>
            <a:endCxn id="30" idx="7"/>
          </p:cNvCxnSpPr>
          <p:nvPr/>
        </p:nvCxnSpPr>
        <p:spPr>
          <a:xfrm flipH="1">
            <a:off x="3640573" y="1564404"/>
            <a:ext cx="21626" cy="342231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krümmte Verbindung 21"/>
          <p:cNvCxnSpPr>
            <a:stCxn id="11" idx="2"/>
            <a:endCxn id="30" idx="4"/>
          </p:cNvCxnSpPr>
          <p:nvPr/>
        </p:nvCxnSpPr>
        <p:spPr>
          <a:xfrm rot="10800000">
            <a:off x="2398438" y="2335298"/>
            <a:ext cx="2821635" cy="1309727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304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3779912" y="3398129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79" name="Gruppieren 78"/>
          <p:cNvGrpSpPr/>
          <p:nvPr/>
        </p:nvGrpSpPr>
        <p:grpSpPr>
          <a:xfrm>
            <a:off x="5652120" y="2780928"/>
            <a:ext cx="1872208" cy="1815882"/>
            <a:chOff x="6876256" y="2780928"/>
            <a:chExt cx="1872208" cy="1815882"/>
          </a:xfrm>
        </p:grpSpPr>
        <p:sp>
          <p:nvSpPr>
            <p:cNvPr id="17" name="Textfeld 16"/>
            <p:cNvSpPr txBox="1"/>
            <p:nvPr/>
          </p:nvSpPr>
          <p:spPr>
            <a:xfrm>
              <a:off x="7020272" y="2780928"/>
              <a:ext cx="1728192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u="sng" dirty="0" smtClean="0">
                  <a:latin typeface="Tele-GroteskNor" pitchFamily="2" charset="0"/>
                </a:rPr>
                <a:t>Informationen:</a:t>
              </a:r>
              <a:r>
                <a:rPr lang="de-DE" sz="1400" dirty="0" smtClean="0">
                  <a:latin typeface="Tele-GroteskNor" pitchFamily="2" charset="0"/>
                </a:rPr>
                <a:t/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Sitzungen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Benutzer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Chatnachrichten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Präsentationsfolien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Mauszeiger (Cursor)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Umfragen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…</a:t>
              </a:r>
              <a:endParaRPr lang="de-DE" sz="1400" dirty="0">
                <a:latin typeface="Tele-GroteskNor" pitchFamily="2" charset="0"/>
              </a:endParaRPr>
            </a:p>
          </p:txBody>
        </p:sp>
        <p:sp>
          <p:nvSpPr>
            <p:cNvPr id="18" name="Geschweifte Klammer links 17"/>
            <p:cNvSpPr/>
            <p:nvPr/>
          </p:nvSpPr>
          <p:spPr>
            <a:xfrm>
              <a:off x="6876256" y="2780928"/>
              <a:ext cx="288032" cy="1728192"/>
            </a:xfrm>
            <a:prstGeom prst="leftBrace">
              <a:avLst>
                <a:gd name="adj1" fmla="val 8333"/>
                <a:gd name="adj2" fmla="val 16864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rgbClr val="00B050"/>
                </a:solidFill>
                <a:latin typeface="Tele-GroteskNor" pitchFamily="2" charset="0"/>
              </a:endParaRPr>
            </a:p>
          </p:txBody>
        </p:sp>
      </p:grp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Vereinfachter Client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grpSp>
        <p:nvGrpSpPr>
          <p:cNvPr id="32" name="Gruppieren 31"/>
          <p:cNvGrpSpPr/>
          <p:nvPr/>
        </p:nvGrpSpPr>
        <p:grpSpPr>
          <a:xfrm>
            <a:off x="641790" y="692696"/>
            <a:ext cx="8074735" cy="1872208"/>
            <a:chOff x="-4242399" y="836712"/>
            <a:chExt cx="9102431" cy="1872208"/>
          </a:xfrm>
        </p:grpSpPr>
        <p:sp>
          <p:nvSpPr>
            <p:cNvPr id="33" name="Rechteck 32"/>
            <p:cNvSpPr/>
            <p:nvPr/>
          </p:nvSpPr>
          <p:spPr>
            <a:xfrm>
              <a:off x="395536" y="836712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36" name="Ellipse 35"/>
            <p:cNvSpPr/>
            <p:nvPr/>
          </p:nvSpPr>
          <p:spPr>
            <a:xfrm>
              <a:off x="-4242399" y="1125269"/>
              <a:ext cx="8814399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38" name="Abgerundetes Rechteck 37"/>
            <p:cNvSpPr/>
            <p:nvPr/>
          </p:nvSpPr>
          <p:spPr>
            <a:xfrm>
              <a:off x="837402" y="1236942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41" name="Abgerundetes Rechteck 40"/>
            <p:cNvSpPr/>
            <p:nvPr/>
          </p:nvSpPr>
          <p:spPr>
            <a:xfrm>
              <a:off x="1477690" y="1772291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43" name="Abgerundetes Rechteck 42"/>
            <p:cNvSpPr/>
            <p:nvPr/>
          </p:nvSpPr>
          <p:spPr>
            <a:xfrm>
              <a:off x="2785548" y="1541408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cxnSp>
        <p:nvCxnSpPr>
          <p:cNvPr id="40" name="Gekrümmte Verbindung 21"/>
          <p:cNvCxnSpPr>
            <a:stCxn id="11" idx="1"/>
            <a:endCxn id="38" idx="1"/>
          </p:cNvCxnSpPr>
          <p:nvPr/>
        </p:nvCxnSpPr>
        <p:spPr>
          <a:xfrm rot="5400000" flipH="1" flipV="1">
            <a:off x="3823397" y="2073462"/>
            <a:ext cx="2073270" cy="576064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43" idx="2"/>
          </p:cNvCxnSpPr>
          <p:nvPr/>
        </p:nvCxnSpPr>
        <p:spPr>
          <a:xfrm rot="5400000" flipH="1" flipV="1">
            <a:off x="5207721" y="1225538"/>
            <a:ext cx="1536871" cy="2808313"/>
          </a:xfrm>
          <a:prstGeom prst="curvedConnector3">
            <a:avLst>
              <a:gd name="adj1" fmla="val 50000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41" idx="1"/>
          </p:cNvCxnSpPr>
          <p:nvPr/>
        </p:nvCxnSpPr>
        <p:spPr>
          <a:xfrm rot="5400000" flipH="1" flipV="1">
            <a:off x="4375070" y="2057139"/>
            <a:ext cx="1537921" cy="1144061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feil nach oben und unten 44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6" name="Textfeld 4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80" name="Geschweifte Klammer links 79"/>
          <p:cNvSpPr/>
          <p:nvPr/>
        </p:nvSpPr>
        <p:spPr>
          <a:xfrm>
            <a:off x="3203848" y="2780928"/>
            <a:ext cx="288032" cy="1169551"/>
          </a:xfrm>
          <a:prstGeom prst="leftBrace">
            <a:avLst>
              <a:gd name="adj1" fmla="val 8333"/>
              <a:gd name="adj2" fmla="val 16864"/>
            </a:avLst>
          </a:prstGeom>
          <a:noFill/>
          <a:ln w="19050"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81" name="Textfeld 80"/>
          <p:cNvSpPr txBox="1"/>
          <p:nvPr/>
        </p:nvSpPr>
        <p:spPr>
          <a:xfrm>
            <a:off x="1763688" y="2780928"/>
            <a:ext cx="17281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1137959" y="1397393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4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2267744" y="16293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5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2938159" y="10929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6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93" name="Gekrümmte Verbindung 21"/>
          <p:cNvCxnSpPr>
            <a:stCxn id="11" idx="1"/>
            <a:endCxn id="35" idx="3"/>
          </p:cNvCxnSpPr>
          <p:nvPr/>
        </p:nvCxnSpPr>
        <p:spPr>
          <a:xfrm rot="16200000" flipV="1">
            <a:off x="3211329" y="2037458"/>
            <a:ext cx="2073270" cy="648072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krümmte Verbindung 21"/>
          <p:cNvCxnSpPr>
            <a:endCxn id="34" idx="3"/>
          </p:cNvCxnSpPr>
          <p:nvPr/>
        </p:nvCxnSpPr>
        <p:spPr>
          <a:xfrm rot="16200000" flipV="1">
            <a:off x="3160536" y="1954236"/>
            <a:ext cx="1504444" cy="131848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krümmte Verbindung 21"/>
          <p:cNvCxnSpPr>
            <a:stCxn id="11" idx="1"/>
            <a:endCxn id="31" idx="2"/>
          </p:cNvCxnSpPr>
          <p:nvPr/>
        </p:nvCxnSpPr>
        <p:spPr>
          <a:xfrm rot="16200000" flipV="1">
            <a:off x="2332987" y="1159116"/>
            <a:ext cx="1536870" cy="2941156"/>
          </a:xfrm>
          <a:prstGeom prst="curvedConnector3">
            <a:avLst>
              <a:gd name="adj1" fmla="val 50000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 2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13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/>
          <p:cNvGrpSpPr/>
          <p:nvPr/>
        </p:nvGrpSpPr>
        <p:grpSpPr>
          <a:xfrm>
            <a:off x="4067944" y="2492896"/>
            <a:ext cx="1440160" cy="1537267"/>
            <a:chOff x="6660232" y="2174999"/>
            <a:chExt cx="1440160" cy="1537267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0232" y="2492896"/>
              <a:ext cx="1219370" cy="1219370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</p:pic>
        <p:pic>
          <p:nvPicPr>
            <p:cNvPr id="1030" name="Picture 6" descr="Datei:Bbb logo.png"/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077"/>
            <a:stretch/>
          </p:blipFill>
          <p:spPr bwMode="auto">
            <a:xfrm>
              <a:off x="7452320" y="2174999"/>
              <a:ext cx="648072" cy="6357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uppieren 14"/>
          <p:cNvGrpSpPr/>
          <p:nvPr/>
        </p:nvGrpSpPr>
        <p:grpSpPr>
          <a:xfrm>
            <a:off x="827584" y="951008"/>
            <a:ext cx="7481701" cy="1368152"/>
            <a:chOff x="827584" y="951008"/>
            <a:chExt cx="7481701" cy="1368152"/>
          </a:xfrm>
        </p:grpSpPr>
        <p:grpSp>
          <p:nvGrpSpPr>
            <p:cNvPr id="14" name="Gruppieren 13"/>
            <p:cNvGrpSpPr/>
            <p:nvPr/>
          </p:nvGrpSpPr>
          <p:grpSpPr>
            <a:xfrm>
              <a:off x="5580112" y="951008"/>
              <a:ext cx="2729173" cy="1368152"/>
              <a:chOff x="899592" y="944724"/>
              <a:chExt cx="2729173" cy="1368152"/>
            </a:xfrm>
          </p:grpSpPr>
          <p:sp>
            <p:nvSpPr>
              <p:cNvPr id="9" name="Rechteck 8"/>
              <p:cNvSpPr/>
              <p:nvPr/>
            </p:nvSpPr>
            <p:spPr>
              <a:xfrm>
                <a:off x="899592" y="944724"/>
                <a:ext cx="2729173" cy="1368152"/>
              </a:xfrm>
              <a:prstGeom prst="rect">
                <a:avLst/>
              </a:prstGeom>
              <a:solidFill>
                <a:srgbClr val="66CCF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5" name="Grafik 4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1024597"/>
                <a:ext cx="1219200" cy="1219200"/>
              </a:xfrm>
              <a:prstGeom prst="rect">
                <a:avLst/>
              </a:prstGeom>
            </p:spPr>
          </p:pic>
          <p:sp>
            <p:nvSpPr>
              <p:cNvPr id="10" name="Plus 9"/>
              <p:cNvSpPr/>
              <p:nvPr/>
            </p:nvSpPr>
            <p:spPr>
              <a:xfrm>
                <a:off x="2195736" y="1340768"/>
                <a:ext cx="509628" cy="505457"/>
              </a:xfrm>
              <a:prstGeom prst="mathPlus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4" name="Grafik 3"/>
              <p:cNvPicPr>
                <a:picLocks noChangeAspect="1"/>
              </p:cNvPicPr>
              <p:nvPr/>
            </p:nvPicPr>
            <p:blipFill>
              <a:blip r:embed="rId5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61132" y="1144983"/>
                <a:ext cx="967633" cy="967633"/>
              </a:xfrm>
              <a:prstGeom prst="rect">
                <a:avLst/>
              </a:prstGeom>
            </p:spPr>
          </p:pic>
        </p:grpSp>
        <p:grpSp>
          <p:nvGrpSpPr>
            <p:cNvPr id="11" name="Gruppieren 10"/>
            <p:cNvGrpSpPr/>
            <p:nvPr/>
          </p:nvGrpSpPr>
          <p:grpSpPr>
            <a:xfrm>
              <a:off x="3995936" y="951008"/>
              <a:ext cx="1368152" cy="1368152"/>
              <a:chOff x="899592" y="2780928"/>
              <a:chExt cx="1368152" cy="1368152"/>
            </a:xfrm>
          </p:grpSpPr>
          <p:sp>
            <p:nvSpPr>
              <p:cNvPr id="16" name="Rechteck 15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99FF9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3" name="Grafik 12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  <p:grpSp>
          <p:nvGrpSpPr>
            <p:cNvPr id="19" name="Gruppieren 18"/>
            <p:cNvGrpSpPr/>
            <p:nvPr/>
          </p:nvGrpSpPr>
          <p:grpSpPr>
            <a:xfrm>
              <a:off x="2411760" y="951008"/>
              <a:ext cx="1368152" cy="1368152"/>
              <a:chOff x="899592" y="2780928"/>
              <a:chExt cx="1368152" cy="1368152"/>
            </a:xfrm>
          </p:grpSpPr>
          <p:sp>
            <p:nvSpPr>
              <p:cNvPr id="21" name="Rechteck 20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FF7C80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0" name="Grafik 19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  <p:grpSp>
          <p:nvGrpSpPr>
            <p:cNvPr id="22" name="Gruppieren 21"/>
            <p:cNvGrpSpPr/>
            <p:nvPr/>
          </p:nvGrpSpPr>
          <p:grpSpPr>
            <a:xfrm>
              <a:off x="827584" y="951008"/>
              <a:ext cx="1368152" cy="1368152"/>
              <a:chOff x="899592" y="2780928"/>
              <a:chExt cx="1368152" cy="1368152"/>
            </a:xfrm>
          </p:grpSpPr>
          <p:sp>
            <p:nvSpPr>
              <p:cNvPr id="24" name="Rechteck 23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FFFF9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3" name="Grafik 22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</p:grpSp>
      <p:cxnSp>
        <p:nvCxnSpPr>
          <p:cNvPr id="18" name="Gerade Verbindung mit Pfeil 17"/>
          <p:cNvCxnSpPr>
            <a:stCxn id="5" idx="2"/>
            <a:endCxn id="7" idx="3"/>
          </p:cNvCxnSpPr>
          <p:nvPr/>
        </p:nvCxnSpPr>
        <p:spPr>
          <a:xfrm flipH="1">
            <a:off x="5287314" y="2250081"/>
            <a:ext cx="974406" cy="1170397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4" idx="2"/>
            <a:endCxn id="7" idx="3"/>
          </p:cNvCxnSpPr>
          <p:nvPr/>
        </p:nvCxnSpPr>
        <p:spPr>
          <a:xfrm flipH="1">
            <a:off x="5287314" y="2118900"/>
            <a:ext cx="2538155" cy="130157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/>
          <p:cNvCxnSpPr>
            <a:stCxn id="16" idx="2"/>
            <a:endCxn id="7" idx="0"/>
          </p:cNvCxnSpPr>
          <p:nvPr/>
        </p:nvCxnSpPr>
        <p:spPr>
          <a:xfrm flipH="1">
            <a:off x="4677629" y="2319160"/>
            <a:ext cx="2383" cy="491633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/>
          <p:cNvCxnSpPr>
            <a:stCxn id="21" idx="2"/>
            <a:endCxn id="7" idx="1"/>
          </p:cNvCxnSpPr>
          <p:nvPr/>
        </p:nvCxnSpPr>
        <p:spPr>
          <a:xfrm>
            <a:off x="3095836" y="2319160"/>
            <a:ext cx="972108" cy="110131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/>
          <p:cNvCxnSpPr>
            <a:stCxn id="24" idx="2"/>
            <a:endCxn id="7" idx="1"/>
          </p:cNvCxnSpPr>
          <p:nvPr/>
        </p:nvCxnSpPr>
        <p:spPr>
          <a:xfrm>
            <a:off x="1511660" y="2319160"/>
            <a:ext cx="2556284" cy="110131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uppieren 47"/>
          <p:cNvGrpSpPr/>
          <p:nvPr/>
        </p:nvGrpSpPr>
        <p:grpSpPr>
          <a:xfrm>
            <a:off x="1277634" y="2924944"/>
            <a:ext cx="918102" cy="763700"/>
            <a:chOff x="1221878" y="3128690"/>
            <a:chExt cx="918102" cy="763700"/>
          </a:xfrm>
        </p:grpSpPr>
        <p:sp>
          <p:nvSpPr>
            <p:cNvPr id="47" name="Rechteck 46"/>
            <p:cNvSpPr/>
            <p:nvPr/>
          </p:nvSpPr>
          <p:spPr>
            <a:xfrm>
              <a:off x="1221878" y="3128690"/>
              <a:ext cx="918102" cy="161673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1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Rechteck 50"/>
            <p:cNvSpPr/>
            <p:nvPr/>
          </p:nvSpPr>
          <p:spPr>
            <a:xfrm>
              <a:off x="1221878" y="3333281"/>
              <a:ext cx="918102" cy="161673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2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Rechteck 51"/>
            <p:cNvSpPr/>
            <p:nvPr/>
          </p:nvSpPr>
          <p:spPr>
            <a:xfrm>
              <a:off x="1221878" y="3531999"/>
              <a:ext cx="918102" cy="161673"/>
            </a:xfrm>
            <a:prstGeom prst="rect">
              <a:avLst/>
            </a:prstGeom>
            <a:solidFill>
              <a:srgbClr val="99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3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Rechteck 52"/>
            <p:cNvSpPr/>
            <p:nvPr/>
          </p:nvSpPr>
          <p:spPr>
            <a:xfrm>
              <a:off x="1221878" y="3730717"/>
              <a:ext cx="918102" cy="161673"/>
            </a:xfrm>
            <a:prstGeom prst="rect">
              <a:avLst/>
            </a:prstGeom>
            <a:solidFill>
              <a:srgbClr val="66CC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4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580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989923" y="1628800"/>
            <a:ext cx="2037946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Redis</a:t>
            </a:r>
            <a:r>
              <a:rPr lang="de-DE" dirty="0" smtClean="0"/>
              <a:t> </a:t>
            </a:r>
            <a:r>
              <a:rPr lang="de-DE" dirty="0" err="1" smtClean="0"/>
              <a:t>PubSub</a:t>
            </a:r>
            <a:endParaRPr lang="de-DE" dirty="0"/>
          </a:p>
        </p:txBody>
      </p:sp>
      <p:sp>
        <p:nvSpPr>
          <p:cNvPr id="5" name="Rechteck 4"/>
          <p:cNvSpPr/>
          <p:nvPr/>
        </p:nvSpPr>
        <p:spPr>
          <a:xfrm>
            <a:off x="2987824" y="2571284"/>
            <a:ext cx="5499072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BBB Kern</a:t>
            </a:r>
            <a:endParaRPr lang="de-DE" dirty="0"/>
          </a:p>
        </p:txBody>
      </p:sp>
      <p:grpSp>
        <p:nvGrpSpPr>
          <p:cNvPr id="15" name="Gruppieren 14"/>
          <p:cNvGrpSpPr/>
          <p:nvPr/>
        </p:nvGrpSpPr>
        <p:grpSpPr>
          <a:xfrm>
            <a:off x="1115616" y="548680"/>
            <a:ext cx="1394616" cy="504056"/>
            <a:chOff x="369072" y="548680"/>
            <a:chExt cx="1394616" cy="504056"/>
          </a:xfrm>
        </p:grpSpPr>
        <p:sp>
          <p:nvSpPr>
            <p:cNvPr id="8" name="Rechteck 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4" name="Grafik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17" name="Gruppieren 16"/>
          <p:cNvGrpSpPr/>
          <p:nvPr/>
        </p:nvGrpSpPr>
        <p:grpSpPr>
          <a:xfrm>
            <a:off x="2582240" y="548680"/>
            <a:ext cx="1394616" cy="504056"/>
            <a:chOff x="369072" y="548680"/>
            <a:chExt cx="1394616" cy="504056"/>
          </a:xfrm>
        </p:grpSpPr>
        <p:sp>
          <p:nvSpPr>
            <p:cNvPr id="18" name="Rechteck 1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9" name="Grafik 18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0" name="Gruppieren 19"/>
          <p:cNvGrpSpPr/>
          <p:nvPr/>
        </p:nvGrpSpPr>
        <p:grpSpPr>
          <a:xfrm>
            <a:off x="4067944" y="548680"/>
            <a:ext cx="1394616" cy="504056"/>
            <a:chOff x="369072" y="548680"/>
            <a:chExt cx="1394616" cy="504056"/>
          </a:xfrm>
        </p:grpSpPr>
        <p:sp>
          <p:nvSpPr>
            <p:cNvPr id="21" name="Rechteck 20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2" name="Grafik 21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3" name="Gruppieren 22"/>
          <p:cNvGrpSpPr/>
          <p:nvPr/>
        </p:nvGrpSpPr>
        <p:grpSpPr>
          <a:xfrm>
            <a:off x="5580112" y="548680"/>
            <a:ext cx="1394616" cy="504056"/>
            <a:chOff x="369072" y="548680"/>
            <a:chExt cx="1394616" cy="504056"/>
          </a:xfrm>
        </p:grpSpPr>
        <p:sp>
          <p:nvSpPr>
            <p:cNvPr id="24" name="Rechteck 23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5" name="Grafik 2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6" name="Gruppieren 25"/>
          <p:cNvGrpSpPr/>
          <p:nvPr/>
        </p:nvGrpSpPr>
        <p:grpSpPr>
          <a:xfrm>
            <a:off x="7092280" y="548680"/>
            <a:ext cx="1394616" cy="504056"/>
            <a:chOff x="369072" y="548680"/>
            <a:chExt cx="1394616" cy="504056"/>
          </a:xfrm>
        </p:grpSpPr>
        <p:sp>
          <p:nvSpPr>
            <p:cNvPr id="27" name="Rechteck 26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8" name="Grafik 2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32" name="Gruppieren 31"/>
          <p:cNvGrpSpPr/>
          <p:nvPr/>
        </p:nvGrpSpPr>
        <p:grpSpPr>
          <a:xfrm>
            <a:off x="7395922" y="1268760"/>
            <a:ext cx="1280534" cy="613568"/>
            <a:chOff x="6702312" y="2167556"/>
            <a:chExt cx="1280534" cy="613568"/>
          </a:xfrm>
        </p:grpSpPr>
        <p:sp>
          <p:nvSpPr>
            <p:cNvPr id="6" name="Rechteck 5"/>
            <p:cNvSpPr/>
            <p:nvPr/>
          </p:nvSpPr>
          <p:spPr>
            <a:xfrm>
              <a:off x="6702312" y="2167556"/>
              <a:ext cx="894024" cy="39734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Dozent</a:t>
              </a:r>
              <a:endParaRPr lang="de-DE" dirty="0"/>
            </a:p>
          </p:txBody>
        </p:sp>
        <p:pic>
          <p:nvPicPr>
            <p:cNvPr id="31" name="Grafik 30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42" b="15506"/>
            <a:stretch/>
          </p:blipFill>
          <p:spPr>
            <a:xfrm>
              <a:off x="7452320" y="2405852"/>
              <a:ext cx="530526" cy="375272"/>
            </a:xfrm>
            <a:prstGeom prst="rect">
              <a:avLst/>
            </a:prstGeom>
          </p:spPr>
        </p:pic>
      </p:grpSp>
      <p:pic>
        <p:nvPicPr>
          <p:cNvPr id="37" name="Grafik 3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42" b="15506"/>
          <a:stretch/>
        </p:blipFill>
        <p:spPr>
          <a:xfrm>
            <a:off x="1426123" y="2492896"/>
            <a:ext cx="939833" cy="664799"/>
          </a:xfrm>
          <a:prstGeom prst="rect">
            <a:avLst/>
          </a:prstGeom>
        </p:spPr>
      </p:pic>
      <p:grpSp>
        <p:nvGrpSpPr>
          <p:cNvPr id="36" name="Gruppieren 35"/>
          <p:cNvGrpSpPr/>
          <p:nvPr/>
        </p:nvGrpSpPr>
        <p:grpSpPr>
          <a:xfrm>
            <a:off x="1111368" y="1412776"/>
            <a:ext cx="1569344" cy="883841"/>
            <a:chOff x="698400" y="1916832"/>
            <a:chExt cx="1569344" cy="883841"/>
          </a:xfrm>
        </p:grpSpPr>
        <p:pic>
          <p:nvPicPr>
            <p:cNvPr id="16" name="Grafik 15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41" r="13579"/>
            <a:stretch/>
          </p:blipFill>
          <p:spPr>
            <a:xfrm>
              <a:off x="1650842" y="2027578"/>
              <a:ext cx="550984" cy="717612"/>
            </a:xfrm>
            <a:prstGeom prst="rect">
              <a:avLst/>
            </a:prstGeom>
          </p:spPr>
        </p:pic>
        <p:pic>
          <p:nvPicPr>
            <p:cNvPr id="29" name="Grafik 28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236" r="2750" b="19797"/>
            <a:stretch/>
          </p:blipFill>
          <p:spPr>
            <a:xfrm>
              <a:off x="810185" y="1990340"/>
              <a:ext cx="752268" cy="502556"/>
            </a:xfrm>
            <a:prstGeom prst="rect">
              <a:avLst/>
            </a:prstGeom>
          </p:spPr>
        </p:pic>
        <p:sp>
          <p:nvSpPr>
            <p:cNvPr id="34" name="Textfeld 33"/>
            <p:cNvSpPr txBox="1"/>
            <p:nvPr/>
          </p:nvSpPr>
          <p:spPr>
            <a:xfrm>
              <a:off x="698400" y="2492896"/>
              <a:ext cx="97583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sz="1400" dirty="0" smtClean="0">
                  <a:solidFill>
                    <a:srgbClr val="0070C0"/>
                  </a:solidFill>
                </a:rPr>
                <a:t>Bild &amp; Ton</a:t>
              </a:r>
              <a:endParaRPr lang="de-DE" sz="1400" dirty="0">
                <a:solidFill>
                  <a:srgbClr val="0070C0"/>
                </a:solidFill>
              </a:endParaRPr>
            </a:p>
          </p:txBody>
        </p:sp>
        <p:sp>
          <p:nvSpPr>
            <p:cNvPr id="35" name="Rechteck 34"/>
            <p:cNvSpPr/>
            <p:nvPr/>
          </p:nvSpPr>
          <p:spPr>
            <a:xfrm>
              <a:off x="698400" y="1916832"/>
              <a:ext cx="1569344" cy="88384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r Verbinder 38"/>
          <p:cNvCxnSpPr>
            <a:stCxn id="37" idx="0"/>
            <a:endCxn id="35" idx="2"/>
          </p:cNvCxnSpPr>
          <p:nvPr/>
        </p:nvCxnSpPr>
        <p:spPr>
          <a:xfrm flipV="1">
            <a:off x="1896040" y="2296617"/>
            <a:ext cx="0" cy="19627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/>
          <p:cNvCxnSpPr>
            <a:stCxn id="8" idx="0"/>
            <a:endCxn id="35" idx="1"/>
          </p:cNvCxnSpPr>
          <p:nvPr/>
        </p:nvCxnSpPr>
        <p:spPr>
          <a:xfrm rot="16200000" flipH="1" flipV="1">
            <a:off x="833755" y="826292"/>
            <a:ext cx="1306017" cy="750792"/>
          </a:xfrm>
          <a:prstGeom prst="bentConnector4">
            <a:avLst>
              <a:gd name="adj1" fmla="val -17504"/>
              <a:gd name="adj2" fmla="val 13044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/>
          <p:cNvCxnSpPr>
            <a:stCxn id="18" idx="0"/>
            <a:endCxn id="35" idx="1"/>
          </p:cNvCxnSpPr>
          <p:nvPr/>
        </p:nvCxnSpPr>
        <p:spPr>
          <a:xfrm rot="16200000" flipH="1" flipV="1">
            <a:off x="1567067" y="92980"/>
            <a:ext cx="1306017" cy="2217416"/>
          </a:xfrm>
          <a:prstGeom prst="bentConnector4">
            <a:avLst>
              <a:gd name="adj1" fmla="val -17504"/>
              <a:gd name="adj2" fmla="val 110309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/>
          <p:cNvCxnSpPr>
            <a:stCxn id="21" idx="0"/>
            <a:endCxn id="35" idx="1"/>
          </p:cNvCxnSpPr>
          <p:nvPr/>
        </p:nvCxnSpPr>
        <p:spPr>
          <a:xfrm rot="16200000" flipH="1" flipV="1">
            <a:off x="2309919" y="-649872"/>
            <a:ext cx="1306017" cy="3703120"/>
          </a:xfrm>
          <a:prstGeom prst="bentConnector4">
            <a:avLst>
              <a:gd name="adj1" fmla="val -17504"/>
              <a:gd name="adj2" fmla="val 10617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/>
          <p:cNvCxnSpPr>
            <a:stCxn id="24" idx="0"/>
            <a:endCxn id="35" idx="1"/>
          </p:cNvCxnSpPr>
          <p:nvPr/>
        </p:nvCxnSpPr>
        <p:spPr>
          <a:xfrm rot="16200000" flipH="1" flipV="1">
            <a:off x="3066003" y="-1405956"/>
            <a:ext cx="1306017" cy="5215288"/>
          </a:xfrm>
          <a:prstGeom prst="bentConnector4">
            <a:avLst>
              <a:gd name="adj1" fmla="val -17504"/>
              <a:gd name="adj2" fmla="val 10438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/>
          <p:cNvCxnSpPr>
            <a:stCxn id="27" idx="0"/>
            <a:endCxn id="35" idx="1"/>
          </p:cNvCxnSpPr>
          <p:nvPr/>
        </p:nvCxnSpPr>
        <p:spPr>
          <a:xfrm rot="16200000" flipH="1" flipV="1">
            <a:off x="3822087" y="-2162040"/>
            <a:ext cx="1306017" cy="6727456"/>
          </a:xfrm>
          <a:prstGeom prst="bentConnector4">
            <a:avLst>
              <a:gd name="adj1" fmla="val -17504"/>
              <a:gd name="adj2" fmla="val 10339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/>
          <p:cNvCxnSpPr>
            <a:endCxn id="31" idx="2"/>
          </p:cNvCxnSpPr>
          <p:nvPr/>
        </p:nvCxnSpPr>
        <p:spPr>
          <a:xfrm flipV="1">
            <a:off x="8411193" y="1882328"/>
            <a:ext cx="0" cy="688956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/>
          <p:cNvCxnSpPr>
            <a:stCxn id="37" idx="3"/>
            <a:endCxn id="5" idx="1"/>
          </p:cNvCxnSpPr>
          <p:nvPr/>
        </p:nvCxnSpPr>
        <p:spPr>
          <a:xfrm flipV="1">
            <a:off x="2365956" y="2823312"/>
            <a:ext cx="621868" cy="1984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/>
          <p:cNvCxnSpPr>
            <a:stCxn id="4" idx="2"/>
          </p:cNvCxnSpPr>
          <p:nvPr/>
        </p:nvCxnSpPr>
        <p:spPr>
          <a:xfrm>
            <a:off x="4008896" y="2204864"/>
            <a:ext cx="0" cy="366420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/>
          <p:cNvCxnSpPr>
            <a:stCxn id="255" idx="2"/>
            <a:endCxn id="4" idx="0"/>
          </p:cNvCxnSpPr>
          <p:nvPr/>
        </p:nvCxnSpPr>
        <p:spPr>
          <a:xfrm rot="16200000" flipH="1">
            <a:off x="2296601" y="-83495"/>
            <a:ext cx="581000" cy="2843590"/>
          </a:xfrm>
          <a:prstGeom prst="bentConnector3">
            <a:avLst>
              <a:gd name="adj1" fmla="val 32076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/>
          <p:cNvCxnSpPr>
            <a:stCxn id="261" idx="2"/>
            <a:endCxn id="4" idx="0"/>
          </p:cNvCxnSpPr>
          <p:nvPr/>
        </p:nvCxnSpPr>
        <p:spPr>
          <a:xfrm rot="16200000" flipH="1">
            <a:off x="3031966" y="651870"/>
            <a:ext cx="576064" cy="1377796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/>
          <p:cNvCxnSpPr>
            <a:stCxn id="264" idx="2"/>
            <a:endCxn id="4" idx="0"/>
          </p:cNvCxnSpPr>
          <p:nvPr/>
        </p:nvCxnSpPr>
        <p:spPr>
          <a:xfrm rot="5400000">
            <a:off x="3774041" y="1287591"/>
            <a:ext cx="576064" cy="106354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/>
          <p:cNvCxnSpPr>
            <a:stCxn id="270" idx="2"/>
            <a:endCxn id="4" idx="0"/>
          </p:cNvCxnSpPr>
          <p:nvPr/>
        </p:nvCxnSpPr>
        <p:spPr>
          <a:xfrm rot="5400000">
            <a:off x="4527081" y="534552"/>
            <a:ext cx="576064" cy="1612433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 Verbindung mit Pfeil 94"/>
          <p:cNvCxnSpPr>
            <a:stCxn id="274" idx="2"/>
            <a:endCxn id="4" idx="0"/>
          </p:cNvCxnSpPr>
          <p:nvPr/>
        </p:nvCxnSpPr>
        <p:spPr>
          <a:xfrm rot="5400000">
            <a:off x="5289193" y="-227561"/>
            <a:ext cx="576064" cy="3136658"/>
          </a:xfrm>
          <a:prstGeom prst="bentConnector3">
            <a:avLst>
              <a:gd name="adj1" fmla="val 31260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Rechteck 167"/>
          <p:cNvSpPr/>
          <p:nvPr/>
        </p:nvSpPr>
        <p:spPr>
          <a:xfrm>
            <a:off x="5203531" y="1628800"/>
            <a:ext cx="2032869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MongoDB</a:t>
            </a:r>
            <a:endParaRPr lang="de-DE" dirty="0"/>
          </a:p>
        </p:txBody>
      </p:sp>
      <p:cxnSp>
        <p:nvCxnSpPr>
          <p:cNvPr id="179" name="Gerade Verbindung mit Pfeil 178"/>
          <p:cNvCxnSpPr>
            <a:stCxn id="168" idx="1"/>
            <a:endCxn id="4" idx="3"/>
          </p:cNvCxnSpPr>
          <p:nvPr/>
        </p:nvCxnSpPr>
        <p:spPr>
          <a:xfrm flipH="1">
            <a:off x="5027869" y="1916832"/>
            <a:ext cx="175662" cy="0"/>
          </a:xfrm>
          <a:prstGeom prst="straightConnector1">
            <a:avLst/>
          </a:prstGeom>
          <a:ln w="12700">
            <a:solidFill>
              <a:srgbClr val="990099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 Verbindung mit Pfeil 82"/>
          <p:cNvCxnSpPr>
            <a:stCxn id="168" idx="0"/>
            <a:endCxn id="169" idx="2"/>
          </p:cNvCxnSpPr>
          <p:nvPr/>
        </p:nvCxnSpPr>
        <p:spPr>
          <a:xfrm rot="16200000" flipV="1">
            <a:off x="3453425" y="-1137741"/>
            <a:ext cx="576064" cy="4957018"/>
          </a:xfrm>
          <a:prstGeom prst="bentConnector3">
            <a:avLst>
              <a:gd name="adj1" fmla="val 5000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 Verbindung mit Pfeil 82"/>
          <p:cNvCxnSpPr>
            <a:stCxn id="168" idx="0"/>
            <a:endCxn id="243" idx="2"/>
          </p:cNvCxnSpPr>
          <p:nvPr/>
        </p:nvCxnSpPr>
        <p:spPr>
          <a:xfrm rot="16200000" flipV="1">
            <a:off x="4185327" y="-405840"/>
            <a:ext cx="581000" cy="3488279"/>
          </a:xfrm>
          <a:prstGeom prst="bentConnector3">
            <a:avLst>
              <a:gd name="adj1" fmla="val 49672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 Verbindung mit Pfeil 82"/>
          <p:cNvCxnSpPr>
            <a:stCxn id="168" idx="0"/>
            <a:endCxn id="246" idx="2"/>
          </p:cNvCxnSpPr>
          <p:nvPr/>
        </p:nvCxnSpPr>
        <p:spPr>
          <a:xfrm rot="16200000" flipV="1">
            <a:off x="4926273" y="335107"/>
            <a:ext cx="576064" cy="2011322"/>
          </a:xfrm>
          <a:prstGeom prst="bentConnector3">
            <a:avLst>
              <a:gd name="adj1" fmla="val 5022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 Verbindung mit Pfeil 82"/>
          <p:cNvCxnSpPr>
            <a:stCxn id="168" idx="0"/>
            <a:endCxn id="248" idx="2"/>
          </p:cNvCxnSpPr>
          <p:nvPr/>
        </p:nvCxnSpPr>
        <p:spPr>
          <a:xfrm rot="16200000" flipV="1">
            <a:off x="5682357" y="1091191"/>
            <a:ext cx="576064" cy="499154"/>
          </a:xfrm>
          <a:prstGeom prst="bentConnector3">
            <a:avLst>
              <a:gd name="adj1" fmla="val 5033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 Verbindung mit Pfeil 82"/>
          <p:cNvCxnSpPr>
            <a:stCxn id="168" idx="0"/>
            <a:endCxn id="251" idx="2"/>
          </p:cNvCxnSpPr>
          <p:nvPr/>
        </p:nvCxnSpPr>
        <p:spPr>
          <a:xfrm rot="5400000" flipH="1" flipV="1">
            <a:off x="6441757" y="830945"/>
            <a:ext cx="576064" cy="1019646"/>
          </a:xfrm>
          <a:prstGeom prst="bentConnector3">
            <a:avLst>
              <a:gd name="adj1" fmla="val 5033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hteck 168"/>
          <p:cNvSpPr/>
          <p:nvPr/>
        </p:nvSpPr>
        <p:spPr>
          <a:xfrm>
            <a:off x="1050240" y="692696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3" name="Rechteck 242"/>
          <p:cNvSpPr/>
          <p:nvPr/>
        </p:nvSpPr>
        <p:spPr>
          <a:xfrm>
            <a:off x="2518979" y="687760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6" name="Rechteck 245"/>
          <p:cNvSpPr/>
          <p:nvPr/>
        </p:nvSpPr>
        <p:spPr>
          <a:xfrm>
            <a:off x="3995936" y="692696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8" name="Rechteck 247"/>
          <p:cNvSpPr/>
          <p:nvPr/>
        </p:nvSpPr>
        <p:spPr>
          <a:xfrm>
            <a:off x="5508104" y="692696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Rechteck 250"/>
          <p:cNvSpPr/>
          <p:nvPr/>
        </p:nvSpPr>
        <p:spPr>
          <a:xfrm>
            <a:off x="7026904" y="692696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5" name="Rechteck 254"/>
          <p:cNvSpPr/>
          <p:nvPr/>
        </p:nvSpPr>
        <p:spPr>
          <a:xfrm>
            <a:off x="952598" y="687760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Rechteck 260"/>
          <p:cNvSpPr/>
          <p:nvPr/>
        </p:nvSpPr>
        <p:spPr>
          <a:xfrm>
            <a:off x="2418392" y="692696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4" name="Rechteck 263"/>
          <p:cNvSpPr/>
          <p:nvPr/>
        </p:nvSpPr>
        <p:spPr>
          <a:xfrm>
            <a:off x="3902542" y="692696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0" name="Rechteck 269"/>
          <p:cNvSpPr/>
          <p:nvPr/>
        </p:nvSpPr>
        <p:spPr>
          <a:xfrm>
            <a:off x="5408621" y="692696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4" name="Rechteck 273"/>
          <p:cNvSpPr/>
          <p:nvPr/>
        </p:nvSpPr>
        <p:spPr>
          <a:xfrm>
            <a:off x="6932846" y="692696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/>
          <p:cNvSpPr txBox="1"/>
          <p:nvPr/>
        </p:nvSpPr>
        <p:spPr>
          <a:xfrm>
            <a:off x="924264" y="3488111"/>
            <a:ext cx="74641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</a:rPr>
              <a:t>Komplette Kommunikation</a:t>
            </a:r>
            <a:r>
              <a:rPr lang="de-DE" dirty="0" smtClean="0"/>
              <a:t/>
            </a:r>
            <a:br>
              <a:rPr lang="de-DE" dirty="0" smtClean="0"/>
            </a:br>
            <a:r>
              <a:rPr lang="de-DE" dirty="0" smtClean="0">
                <a:solidFill>
                  <a:srgbClr val="990099"/>
                </a:solidFill>
              </a:rPr>
              <a:t>Eventnachrichten</a:t>
            </a:r>
            <a:br>
              <a:rPr lang="de-DE" dirty="0" smtClean="0">
                <a:solidFill>
                  <a:srgbClr val="990099"/>
                </a:solidFill>
              </a:rPr>
            </a:br>
            <a:r>
              <a:rPr lang="de-DE" dirty="0" smtClean="0">
                <a:solidFill>
                  <a:srgbClr val="0070C0"/>
                </a:solidFill>
              </a:rPr>
              <a:t>Bild &amp; Ton</a:t>
            </a:r>
          </a:p>
          <a:p>
            <a:r>
              <a:rPr lang="de-DE" dirty="0" smtClean="0">
                <a:solidFill>
                  <a:srgbClr val="E20074"/>
                </a:solidFill>
              </a:rPr>
              <a:t>Informationen schreiben (Chatnachrichten, Umfrageergebnisse)</a:t>
            </a:r>
          </a:p>
          <a:p>
            <a:r>
              <a:rPr lang="de-DE" dirty="0" smtClean="0">
                <a:solidFill>
                  <a:srgbClr val="00B050"/>
                </a:solidFill>
              </a:rPr>
              <a:t>Informationen lesen (Chatnachrichten, Antwortmöglichkeiten bei Umfragen)</a:t>
            </a:r>
            <a:endParaRPr lang="de-DE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294792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</Words>
  <Application>Microsoft Office PowerPoint</Application>
  <PresentationFormat>Bildschirmpräsentation (4:3)</PresentationFormat>
  <Paragraphs>89</Paragraphs>
  <Slides>7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Arial</vt:lpstr>
      <vt:lpstr>Calibri</vt:lpstr>
      <vt:lpstr>Tele-GroteskNor</vt:lpstr>
      <vt:lpstr>Larissa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Luise Kaufmann</dc:creator>
  <cp:lastModifiedBy>Arbeit</cp:lastModifiedBy>
  <cp:revision>96</cp:revision>
  <dcterms:created xsi:type="dcterms:W3CDTF">2016-07-27T12:07:42Z</dcterms:created>
  <dcterms:modified xsi:type="dcterms:W3CDTF">2017-02-17T15:39:57Z</dcterms:modified>
</cp:coreProperties>
</file>