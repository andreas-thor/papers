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6858000" type="screen4x3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6CCFF"/>
    <a:srgbClr val="99FF99"/>
    <a:srgbClr val="FF7C80"/>
    <a:srgbClr val="FFFF99"/>
    <a:srgbClr val="E20074"/>
    <a:srgbClr val="00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100" d="100"/>
          <a:sy n="100" d="100"/>
        </p:scale>
        <p:origin x="62" y="5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 smtClean="0"/>
              <a:t>Formatvorlage des Untertitelmasters durch Klicken bearbeiten</a:t>
            </a:r>
            <a:endParaRPr lang="de-DE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A7EEA7-7CF7-4A21-92C8-3CFB69AD4175}" type="datetimeFigureOut">
              <a:rPr lang="de-DE" smtClean="0"/>
              <a:t>17.02.2017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DAC56A-6D16-4296-AB1F-BFC087679F0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433449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 smtClean="0"/>
              <a:t>Textmasterformat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A7EEA7-7CF7-4A21-92C8-3CFB69AD4175}" type="datetimeFigureOut">
              <a:rPr lang="de-DE" smtClean="0"/>
              <a:t>17.02.2017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DAC56A-6D16-4296-AB1F-BFC087679F0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74557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 smtClean="0"/>
              <a:t>Textmasterformat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A7EEA7-7CF7-4A21-92C8-3CFB69AD4175}" type="datetimeFigureOut">
              <a:rPr lang="de-DE" smtClean="0"/>
              <a:t>17.02.2017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DAC56A-6D16-4296-AB1F-BFC087679F0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284924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 smtClean="0"/>
              <a:t>Textmasterformat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 smtClean="0"/>
              <a:t>Textmasterformat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A7EEA7-7CF7-4A21-92C8-3CFB69AD4175}" type="datetimeFigureOut">
              <a:rPr lang="de-DE" smtClean="0"/>
              <a:t>17.02.2017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DAC56A-6D16-4296-AB1F-BFC087679F0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428658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smtClean="0"/>
              <a:t>Textmasterformat bearbeiten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smtClean="0"/>
              <a:t>Textmasterformat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 smtClean="0"/>
              <a:t>Textmasterformat bearbeiten</a:t>
            </a:r>
          </a:p>
        </p:txBody>
      </p:sp>
      <p:sp>
        <p:nvSpPr>
          <p:cNvPr id="6" name="Inhaltsplatzhalt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 smtClean="0"/>
              <a:t>Textmasterformat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A7EEA7-7CF7-4A21-92C8-3CFB69AD4175}" type="datetimeFigureOut">
              <a:rPr lang="de-DE" smtClean="0"/>
              <a:t>17.02.2017</a:t>
            </a:fld>
            <a:endParaRPr lang="de-DE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DAC56A-6D16-4296-AB1F-BFC087679F0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326125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A7EEA7-7CF7-4A21-92C8-3CFB69AD4175}" type="datetimeFigureOut">
              <a:rPr lang="de-DE" smtClean="0"/>
              <a:t>17.02.2017</a:t>
            </a:fld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DAC56A-6D16-4296-AB1F-BFC087679F0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424059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A7EEA7-7CF7-4A21-92C8-3CFB69AD4175}" type="datetimeFigureOut">
              <a:rPr lang="de-DE" smtClean="0"/>
              <a:t>17.02.2017</a:t>
            </a:fld>
            <a:endParaRPr lang="de-DE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DAC56A-6D16-4296-AB1F-BFC087679F0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834880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 smtClean="0"/>
              <a:t>Textmasterformat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 smtClean="0"/>
              <a:t>Textmasterformat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A7EEA7-7CF7-4A21-92C8-3CFB69AD4175}" type="datetimeFigureOut">
              <a:rPr lang="de-DE" smtClean="0"/>
              <a:t>17.02.2017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DAC56A-6D16-4296-AB1F-BFC087679F0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874276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Bildplatzhalt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 smtClean="0"/>
              <a:t>Textmasterformat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A7EEA7-7CF7-4A21-92C8-3CFB69AD4175}" type="datetimeFigureOut">
              <a:rPr lang="de-DE" smtClean="0"/>
              <a:t>17.02.2017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DAC56A-6D16-4296-AB1F-BFC087679F0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647942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 smtClean="0"/>
              <a:t>Textmasterformat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A7EEA7-7CF7-4A21-92C8-3CFB69AD4175}" type="datetimeFigureOut">
              <a:rPr lang="de-DE" smtClean="0"/>
              <a:t>17.02.2017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DAC56A-6D16-4296-AB1F-BFC087679F0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155913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de-DE" smtClean="0"/>
              <a:t>Textmasterformat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A7EEA7-7CF7-4A21-92C8-3CFB69AD4175}" type="datetimeFigureOut">
              <a:rPr lang="de-DE" smtClean="0"/>
              <a:t>17.02.2017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DAC56A-6D16-4296-AB1F-BFC087679F0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881225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 smtClean="0"/>
              <a:t>Textmasterformat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2A7EEA7-7CF7-4A21-92C8-3CFB69AD4175}" type="datetimeFigureOut">
              <a:rPr lang="de-DE" smtClean="0"/>
              <a:t>17.02.2017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8DAC56A-6D16-4296-AB1F-BFC087679F0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114961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jpeg"/><Relationship Id="rId4" Type="http://schemas.openxmlformats.org/officeDocument/2006/relationships/image" Target="../media/image3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/>
          <p:cNvSpPr/>
          <p:nvPr/>
        </p:nvSpPr>
        <p:spPr>
          <a:xfrm>
            <a:off x="251520" y="5733256"/>
            <a:ext cx="8640960" cy="864096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 smtClean="0">
                <a:solidFill>
                  <a:schemeClr val="tx2"/>
                </a:solidFill>
                <a:latin typeface="Tele-GroteskNor" pitchFamily="2" charset="0"/>
              </a:rPr>
              <a:t>BigBlueButton Kern</a:t>
            </a:r>
            <a:endParaRPr lang="de-DE" dirty="0">
              <a:solidFill>
                <a:schemeClr val="tx2"/>
              </a:solidFill>
              <a:latin typeface="Tele-GroteskNor" pitchFamily="2" charset="0"/>
            </a:endParaRPr>
          </a:p>
        </p:txBody>
      </p:sp>
      <p:sp>
        <p:nvSpPr>
          <p:cNvPr id="5" name="Rechteck 4"/>
          <p:cNvSpPr/>
          <p:nvPr/>
        </p:nvSpPr>
        <p:spPr>
          <a:xfrm>
            <a:off x="251520" y="260648"/>
            <a:ext cx="8640960" cy="4464496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 anchorCtr="0"/>
          <a:lstStyle/>
          <a:p>
            <a:r>
              <a:rPr lang="de-DE" dirty="0" smtClean="0">
                <a:solidFill>
                  <a:schemeClr val="accent2"/>
                </a:solidFill>
                <a:latin typeface="Tele-GroteskNor" pitchFamily="2" charset="0"/>
              </a:rPr>
              <a:t>HTML5-App</a:t>
            </a:r>
            <a:endParaRPr lang="de-DE" dirty="0">
              <a:solidFill>
                <a:schemeClr val="accent2"/>
              </a:solidFill>
              <a:latin typeface="Tele-GroteskNor" pitchFamily="2" charset="0"/>
            </a:endParaRPr>
          </a:p>
        </p:txBody>
      </p:sp>
      <p:sp>
        <p:nvSpPr>
          <p:cNvPr id="6" name="Rechteck 5"/>
          <p:cNvSpPr/>
          <p:nvPr/>
        </p:nvSpPr>
        <p:spPr>
          <a:xfrm>
            <a:off x="395536" y="620688"/>
            <a:ext cx="8352928" cy="1872208"/>
          </a:xfrm>
          <a:prstGeom prst="rect">
            <a:avLst/>
          </a:prstGeom>
          <a:ln w="25400">
            <a:solidFill>
              <a:schemeClr val="accent2"/>
            </a:solidFill>
            <a:prstDash val="sysDot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de-DE" dirty="0" smtClean="0">
                <a:solidFill>
                  <a:schemeClr val="accent2"/>
                </a:solidFill>
                <a:latin typeface="Tele-GroteskNor" pitchFamily="2" charset="0"/>
              </a:rPr>
              <a:t>Client-Seite</a:t>
            </a:r>
            <a:endParaRPr lang="de-DE" dirty="0">
              <a:solidFill>
                <a:schemeClr val="accent2"/>
              </a:solidFill>
              <a:latin typeface="Tele-GroteskNor" pitchFamily="2" charset="0"/>
            </a:endParaRPr>
          </a:p>
        </p:txBody>
      </p:sp>
      <p:sp>
        <p:nvSpPr>
          <p:cNvPr id="7" name="Rechteck 6"/>
          <p:cNvSpPr/>
          <p:nvPr/>
        </p:nvSpPr>
        <p:spPr>
          <a:xfrm>
            <a:off x="395536" y="2708920"/>
            <a:ext cx="8352928" cy="1872208"/>
          </a:xfrm>
          <a:prstGeom prst="rect">
            <a:avLst/>
          </a:prstGeom>
          <a:ln w="25400">
            <a:solidFill>
              <a:schemeClr val="accent2"/>
            </a:solidFill>
            <a:prstDash val="sysDot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de-DE" dirty="0" smtClean="0">
                <a:solidFill>
                  <a:schemeClr val="accent2"/>
                </a:solidFill>
                <a:latin typeface="Tele-GroteskNor" pitchFamily="2" charset="0"/>
              </a:rPr>
              <a:t>Server-Seite</a:t>
            </a:r>
            <a:endParaRPr lang="de-DE" dirty="0">
              <a:solidFill>
                <a:schemeClr val="accent2"/>
              </a:solidFill>
              <a:latin typeface="Tele-GroteskNor" pitchFamily="2" charset="0"/>
            </a:endParaRPr>
          </a:p>
        </p:txBody>
      </p:sp>
      <p:sp>
        <p:nvSpPr>
          <p:cNvPr id="8" name="Ellipse 7"/>
          <p:cNvSpPr/>
          <p:nvPr/>
        </p:nvSpPr>
        <p:spPr>
          <a:xfrm>
            <a:off x="611560" y="908720"/>
            <a:ext cx="3960440" cy="1296144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tIns="0" rtlCol="0" anchor="t"/>
          <a:lstStyle/>
          <a:p>
            <a:pPr algn="ctr"/>
            <a:r>
              <a:rPr lang="de-DE" dirty="0" smtClean="0">
                <a:solidFill>
                  <a:schemeClr val="bg1">
                    <a:lumMod val="95000"/>
                  </a:schemeClr>
                </a:solidFill>
                <a:latin typeface="Tele-GroteskNor" pitchFamily="2" charset="0"/>
              </a:rPr>
              <a:t>Sitzung 1</a:t>
            </a:r>
            <a:endParaRPr lang="de-DE" dirty="0">
              <a:solidFill>
                <a:schemeClr val="bg1">
                  <a:lumMod val="95000"/>
                </a:schemeClr>
              </a:solidFill>
              <a:latin typeface="Tele-GroteskNor" pitchFamily="2" charset="0"/>
            </a:endParaRPr>
          </a:p>
        </p:txBody>
      </p:sp>
      <p:sp>
        <p:nvSpPr>
          <p:cNvPr id="9" name="Ellipse 8"/>
          <p:cNvSpPr/>
          <p:nvPr/>
        </p:nvSpPr>
        <p:spPr>
          <a:xfrm>
            <a:off x="4932040" y="764704"/>
            <a:ext cx="1656184" cy="792088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smtClean="0">
                <a:solidFill>
                  <a:schemeClr val="bg1">
                    <a:lumMod val="95000"/>
                  </a:schemeClr>
                </a:solidFill>
                <a:latin typeface="Tele-GroteskNor" pitchFamily="2" charset="0"/>
              </a:rPr>
              <a:t>Sitzung 2</a:t>
            </a:r>
            <a:endParaRPr lang="de-DE" dirty="0">
              <a:solidFill>
                <a:schemeClr val="bg1">
                  <a:lumMod val="95000"/>
                </a:schemeClr>
              </a:solidFill>
              <a:latin typeface="Tele-GroteskNor" pitchFamily="2" charset="0"/>
            </a:endParaRPr>
          </a:p>
        </p:txBody>
      </p:sp>
      <p:sp>
        <p:nvSpPr>
          <p:cNvPr id="10" name="Pfeil nach oben und unten 9"/>
          <p:cNvSpPr/>
          <p:nvPr/>
        </p:nvSpPr>
        <p:spPr>
          <a:xfrm>
            <a:off x="4391980" y="4797152"/>
            <a:ext cx="360040" cy="864096"/>
          </a:xfrm>
          <a:prstGeom prst="upDownArrow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latin typeface="Tele-GroteskNor" pitchFamily="2" charset="0"/>
            </a:endParaRPr>
          </a:p>
        </p:txBody>
      </p:sp>
      <p:sp>
        <p:nvSpPr>
          <p:cNvPr id="11" name="Flussdiagramm: Magnetplattenspeicher 10"/>
          <p:cNvSpPr/>
          <p:nvPr/>
        </p:nvSpPr>
        <p:spPr>
          <a:xfrm>
            <a:off x="5220072" y="3104964"/>
            <a:ext cx="1584176" cy="1080120"/>
          </a:xfrm>
          <a:prstGeom prst="flowChartMagneticDisk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smtClean="0">
                <a:solidFill>
                  <a:schemeClr val="bg1">
                    <a:lumMod val="95000"/>
                  </a:schemeClr>
                </a:solidFill>
                <a:latin typeface="Tele-GroteskNor" pitchFamily="2" charset="0"/>
              </a:rPr>
              <a:t>MongoDB</a:t>
            </a:r>
            <a:endParaRPr lang="de-DE" dirty="0">
              <a:solidFill>
                <a:schemeClr val="bg1">
                  <a:lumMod val="95000"/>
                </a:schemeClr>
              </a:solidFill>
              <a:latin typeface="Tele-GroteskNor" pitchFamily="2" charset="0"/>
            </a:endParaRPr>
          </a:p>
        </p:txBody>
      </p:sp>
      <p:sp>
        <p:nvSpPr>
          <p:cNvPr id="12" name="Ellipse 11"/>
          <p:cNvSpPr/>
          <p:nvPr/>
        </p:nvSpPr>
        <p:spPr>
          <a:xfrm>
            <a:off x="6740624" y="1412776"/>
            <a:ext cx="1656184" cy="792088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smtClean="0">
                <a:solidFill>
                  <a:schemeClr val="bg1">
                    <a:lumMod val="95000"/>
                  </a:schemeClr>
                </a:solidFill>
                <a:latin typeface="Tele-GroteskNor" pitchFamily="2" charset="0"/>
              </a:rPr>
              <a:t>Sitzung 3</a:t>
            </a:r>
            <a:endParaRPr lang="de-DE" dirty="0">
              <a:solidFill>
                <a:schemeClr val="bg1">
                  <a:lumMod val="95000"/>
                </a:schemeClr>
              </a:solidFill>
              <a:latin typeface="Tele-GroteskNor" pitchFamily="2" charset="0"/>
            </a:endParaRPr>
          </a:p>
        </p:txBody>
      </p:sp>
      <p:sp>
        <p:nvSpPr>
          <p:cNvPr id="13" name="Abgerundetes Rechteck 12"/>
          <p:cNvSpPr/>
          <p:nvPr/>
        </p:nvSpPr>
        <p:spPr>
          <a:xfrm>
            <a:off x="971600" y="1297214"/>
            <a:ext cx="936104" cy="463866"/>
          </a:xfrm>
          <a:prstGeom prst="roundRect">
            <a:avLst/>
          </a:prstGeom>
          <a:gradFill flip="none" rotWithShape="1">
            <a:gsLst>
              <a:gs pos="0">
                <a:schemeClr val="accent2">
                  <a:lumMod val="40000"/>
                  <a:lumOff val="60000"/>
                </a:schemeClr>
              </a:gs>
              <a:gs pos="30000">
                <a:schemeClr val="accent2">
                  <a:lumMod val="60000"/>
                  <a:lumOff val="40000"/>
                </a:schemeClr>
              </a:gs>
              <a:gs pos="70000">
                <a:schemeClr val="accent2"/>
              </a:gs>
              <a:gs pos="100000">
                <a:schemeClr val="accent2">
                  <a:lumMod val="50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 smtClean="0">
                <a:latin typeface="Tele-GroteskNor" pitchFamily="2" charset="0"/>
              </a:rPr>
              <a:t>BBB-Nutzer 1</a:t>
            </a:r>
            <a:endParaRPr lang="de-DE" sz="1600" dirty="0">
              <a:latin typeface="Tele-GroteskNor" pitchFamily="2" charset="0"/>
            </a:endParaRPr>
          </a:p>
        </p:txBody>
      </p:sp>
      <p:sp>
        <p:nvSpPr>
          <p:cNvPr id="14" name="Abgerundetes Rechteck 13"/>
          <p:cNvSpPr/>
          <p:nvPr/>
        </p:nvSpPr>
        <p:spPr>
          <a:xfrm>
            <a:off x="2123728" y="1615218"/>
            <a:ext cx="936104" cy="463866"/>
          </a:xfrm>
          <a:prstGeom prst="roundRect">
            <a:avLst/>
          </a:prstGeom>
          <a:gradFill flip="none" rotWithShape="1">
            <a:gsLst>
              <a:gs pos="0">
                <a:schemeClr val="accent2">
                  <a:lumMod val="40000"/>
                  <a:lumOff val="60000"/>
                </a:schemeClr>
              </a:gs>
              <a:gs pos="30000">
                <a:schemeClr val="accent2">
                  <a:lumMod val="60000"/>
                  <a:lumOff val="40000"/>
                </a:schemeClr>
              </a:gs>
              <a:gs pos="70000">
                <a:schemeClr val="accent2"/>
              </a:gs>
              <a:gs pos="100000">
                <a:schemeClr val="accent2">
                  <a:lumMod val="50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 smtClean="0">
                <a:latin typeface="Tele-GroteskNor" pitchFamily="2" charset="0"/>
              </a:rPr>
              <a:t>BBB-Nutzer 2</a:t>
            </a:r>
            <a:endParaRPr lang="de-DE" sz="1600" dirty="0">
              <a:latin typeface="Tele-GroteskNor" pitchFamily="2" charset="0"/>
            </a:endParaRPr>
          </a:p>
        </p:txBody>
      </p:sp>
      <p:sp>
        <p:nvSpPr>
          <p:cNvPr id="15" name="Abgerundetes Rechteck 14"/>
          <p:cNvSpPr/>
          <p:nvPr/>
        </p:nvSpPr>
        <p:spPr>
          <a:xfrm>
            <a:off x="3347864" y="1324859"/>
            <a:ext cx="936104" cy="463866"/>
          </a:xfrm>
          <a:prstGeom prst="roundRect">
            <a:avLst/>
          </a:prstGeom>
          <a:gradFill flip="none" rotWithShape="1">
            <a:gsLst>
              <a:gs pos="0">
                <a:schemeClr val="accent2">
                  <a:lumMod val="40000"/>
                  <a:lumOff val="60000"/>
                </a:schemeClr>
              </a:gs>
              <a:gs pos="30000">
                <a:schemeClr val="accent2">
                  <a:lumMod val="60000"/>
                  <a:lumOff val="40000"/>
                </a:schemeClr>
              </a:gs>
              <a:gs pos="70000">
                <a:schemeClr val="accent2"/>
              </a:gs>
              <a:gs pos="100000">
                <a:schemeClr val="accent2">
                  <a:lumMod val="50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 smtClean="0">
                <a:latin typeface="Tele-GroteskNor" pitchFamily="2" charset="0"/>
              </a:rPr>
              <a:t>BBB-Nutzer 3</a:t>
            </a:r>
            <a:endParaRPr lang="de-DE" sz="1600" dirty="0">
              <a:latin typeface="Tele-GroteskNor" pitchFamily="2" charset="0"/>
            </a:endParaRPr>
          </a:p>
        </p:txBody>
      </p:sp>
      <p:sp>
        <p:nvSpPr>
          <p:cNvPr id="16" name="Textfeld 15"/>
          <p:cNvSpPr txBox="1"/>
          <p:nvPr/>
        </p:nvSpPr>
        <p:spPr>
          <a:xfrm>
            <a:off x="4752026" y="5044534"/>
            <a:ext cx="2016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smtClean="0">
                <a:solidFill>
                  <a:schemeClr val="accent6"/>
                </a:solidFill>
                <a:latin typeface="Tele-GroteskNor" pitchFamily="2" charset="0"/>
              </a:rPr>
              <a:t>Redis PubSub</a:t>
            </a:r>
            <a:endParaRPr lang="de-DE" dirty="0">
              <a:solidFill>
                <a:schemeClr val="accent6"/>
              </a:solidFill>
              <a:latin typeface="Tele-GroteskNor" pitchFamily="2" charset="0"/>
            </a:endParaRPr>
          </a:p>
        </p:txBody>
      </p:sp>
      <p:sp>
        <p:nvSpPr>
          <p:cNvPr id="17" name="Textfeld 16"/>
          <p:cNvSpPr txBox="1"/>
          <p:nvPr/>
        </p:nvSpPr>
        <p:spPr>
          <a:xfrm>
            <a:off x="7020272" y="2780928"/>
            <a:ext cx="172819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u="sng" dirty="0" smtClean="0">
                <a:latin typeface="Tele-GroteskNor" pitchFamily="2" charset="0"/>
              </a:rPr>
              <a:t>Informationen:</a:t>
            </a:r>
            <a:r>
              <a:rPr lang="de-DE" sz="1400" dirty="0" smtClean="0">
                <a:latin typeface="Tele-GroteskNor" pitchFamily="2" charset="0"/>
              </a:rPr>
              <a:t/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Sitzungen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Benutzer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</a:t>
            </a:r>
            <a:r>
              <a:rPr lang="de-DE" sz="1400" b="1" dirty="0" smtClean="0">
                <a:latin typeface="Tele-GroteskNor" pitchFamily="2" charset="0"/>
              </a:rPr>
              <a:t>Chatnachrichten</a:t>
            </a:r>
            <a:r>
              <a:rPr lang="de-DE" sz="1400" dirty="0" smtClean="0">
                <a:latin typeface="Tele-GroteskNor" pitchFamily="2" charset="0"/>
              </a:rPr>
              <a:t/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Präsentationsfolien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Mauszeiger (Cursor)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</a:t>
            </a:r>
            <a:r>
              <a:rPr lang="de-DE" sz="1400" b="1" dirty="0" smtClean="0">
                <a:latin typeface="Tele-GroteskNor" pitchFamily="2" charset="0"/>
              </a:rPr>
              <a:t>Umfragen</a:t>
            </a:r>
            <a:r>
              <a:rPr lang="de-DE" sz="1400" dirty="0" smtClean="0">
                <a:latin typeface="Tele-GroteskNor" pitchFamily="2" charset="0"/>
              </a:rPr>
              <a:t/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…</a:t>
            </a:r>
            <a:endParaRPr lang="de-DE" sz="1400" dirty="0">
              <a:latin typeface="Tele-GroteskNor" pitchFamily="2" charset="0"/>
            </a:endParaRPr>
          </a:p>
        </p:txBody>
      </p:sp>
      <p:sp>
        <p:nvSpPr>
          <p:cNvPr id="18" name="Geschweifte Klammer links 17"/>
          <p:cNvSpPr/>
          <p:nvPr/>
        </p:nvSpPr>
        <p:spPr>
          <a:xfrm>
            <a:off x="6876256" y="2780928"/>
            <a:ext cx="288032" cy="1728192"/>
          </a:xfrm>
          <a:prstGeom prst="leftBrac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>
              <a:latin typeface="Tele-GroteskNor" pitchFamily="2" charset="0"/>
            </a:endParaRPr>
          </a:p>
        </p:txBody>
      </p:sp>
      <p:cxnSp>
        <p:nvCxnSpPr>
          <p:cNvPr id="20" name="Gekrümmte Verbindung 19"/>
          <p:cNvCxnSpPr>
            <a:stCxn id="11" idx="2"/>
            <a:endCxn id="13" idx="2"/>
          </p:cNvCxnSpPr>
          <p:nvPr/>
        </p:nvCxnSpPr>
        <p:spPr>
          <a:xfrm rot="10800000">
            <a:off x="1439652" y="1761080"/>
            <a:ext cx="3780420" cy="1883944"/>
          </a:xfrm>
          <a:prstGeom prst="curvedConnector2">
            <a:avLst/>
          </a:prstGeom>
          <a:ln w="190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Gekrümmte Verbindung 22"/>
          <p:cNvCxnSpPr>
            <a:stCxn id="11" idx="2"/>
            <a:endCxn id="14" idx="2"/>
          </p:cNvCxnSpPr>
          <p:nvPr/>
        </p:nvCxnSpPr>
        <p:spPr>
          <a:xfrm rot="10800000">
            <a:off x="2591780" y="2079084"/>
            <a:ext cx="2628292" cy="1565940"/>
          </a:xfrm>
          <a:prstGeom prst="curvedConnector2">
            <a:avLst/>
          </a:prstGeom>
          <a:ln w="190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Gekrümmte Verbindung 25"/>
          <p:cNvCxnSpPr>
            <a:stCxn id="11" idx="2"/>
            <a:endCxn id="15" idx="2"/>
          </p:cNvCxnSpPr>
          <p:nvPr/>
        </p:nvCxnSpPr>
        <p:spPr>
          <a:xfrm rot="10800000">
            <a:off x="3815916" y="1788726"/>
            <a:ext cx="1404156" cy="1856299"/>
          </a:xfrm>
          <a:prstGeom prst="curvedConnector2">
            <a:avLst/>
          </a:prstGeom>
          <a:ln w="190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Gerade Verbindung mit Pfeil 29"/>
          <p:cNvCxnSpPr>
            <a:stCxn id="11" idx="1"/>
            <a:endCxn id="9" idx="4"/>
          </p:cNvCxnSpPr>
          <p:nvPr/>
        </p:nvCxnSpPr>
        <p:spPr>
          <a:xfrm flipH="1" flipV="1">
            <a:off x="5760132" y="1556792"/>
            <a:ext cx="252028" cy="1548172"/>
          </a:xfrm>
          <a:prstGeom prst="straightConnector1">
            <a:avLst/>
          </a:prstGeom>
          <a:ln w="19050">
            <a:solidFill>
              <a:srgbClr val="FF0000"/>
            </a:solidFill>
            <a:prstDash val="sys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Gerade Verbindung mit Pfeil 30"/>
          <p:cNvCxnSpPr>
            <a:stCxn id="11" idx="1"/>
            <a:endCxn id="12" idx="4"/>
          </p:cNvCxnSpPr>
          <p:nvPr/>
        </p:nvCxnSpPr>
        <p:spPr>
          <a:xfrm flipV="1">
            <a:off x="6012160" y="2204864"/>
            <a:ext cx="1556556" cy="900100"/>
          </a:xfrm>
          <a:prstGeom prst="straightConnector1">
            <a:avLst/>
          </a:prstGeom>
          <a:ln w="19050">
            <a:solidFill>
              <a:srgbClr val="FF0000"/>
            </a:solidFill>
            <a:prstDash val="sys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hteck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>
              <a:latin typeface="Tele-GroteskNor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506160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/>
          <p:cNvSpPr/>
          <p:nvPr/>
        </p:nvSpPr>
        <p:spPr>
          <a:xfrm>
            <a:off x="251520" y="5733256"/>
            <a:ext cx="8640960" cy="864096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 smtClean="0">
                <a:solidFill>
                  <a:schemeClr val="tx2"/>
                </a:solidFill>
                <a:latin typeface="Tele-GroteskNor" pitchFamily="2" charset="0"/>
              </a:rPr>
              <a:t>BigBlueButton Kern</a:t>
            </a:r>
            <a:endParaRPr lang="de-DE" dirty="0">
              <a:solidFill>
                <a:schemeClr val="tx2"/>
              </a:solidFill>
              <a:latin typeface="Tele-GroteskNor" pitchFamily="2" charset="0"/>
            </a:endParaRPr>
          </a:p>
        </p:txBody>
      </p:sp>
      <p:sp>
        <p:nvSpPr>
          <p:cNvPr id="5" name="Rechteck 4"/>
          <p:cNvSpPr/>
          <p:nvPr/>
        </p:nvSpPr>
        <p:spPr>
          <a:xfrm>
            <a:off x="251520" y="260648"/>
            <a:ext cx="8640960" cy="4464496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 anchorCtr="0"/>
          <a:lstStyle/>
          <a:p>
            <a:r>
              <a:rPr lang="de-DE" dirty="0" smtClean="0">
                <a:solidFill>
                  <a:schemeClr val="accent2"/>
                </a:solidFill>
                <a:latin typeface="Tele-GroteskNor" pitchFamily="2" charset="0"/>
              </a:rPr>
              <a:t>HTML5-App</a:t>
            </a:r>
            <a:endParaRPr lang="de-DE" dirty="0">
              <a:solidFill>
                <a:schemeClr val="accent2"/>
              </a:solidFill>
              <a:latin typeface="Tele-GroteskNor" pitchFamily="2" charset="0"/>
            </a:endParaRPr>
          </a:p>
        </p:txBody>
      </p:sp>
      <p:sp>
        <p:nvSpPr>
          <p:cNvPr id="6" name="Rechteck 5"/>
          <p:cNvSpPr/>
          <p:nvPr/>
        </p:nvSpPr>
        <p:spPr>
          <a:xfrm>
            <a:off x="395536" y="620688"/>
            <a:ext cx="8352928" cy="1872208"/>
          </a:xfrm>
          <a:prstGeom prst="rect">
            <a:avLst/>
          </a:prstGeom>
          <a:ln w="25400">
            <a:solidFill>
              <a:schemeClr val="accent2"/>
            </a:solidFill>
            <a:prstDash val="sysDot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de-DE" dirty="0" smtClean="0">
                <a:solidFill>
                  <a:schemeClr val="accent2"/>
                </a:solidFill>
                <a:latin typeface="Tele-GroteskNor" pitchFamily="2" charset="0"/>
              </a:rPr>
              <a:t>Client-Seite</a:t>
            </a:r>
            <a:endParaRPr lang="de-DE" dirty="0">
              <a:solidFill>
                <a:schemeClr val="accent2"/>
              </a:solidFill>
              <a:latin typeface="Tele-GroteskNor" pitchFamily="2" charset="0"/>
            </a:endParaRPr>
          </a:p>
        </p:txBody>
      </p:sp>
      <p:sp>
        <p:nvSpPr>
          <p:cNvPr id="7" name="Rechteck 6"/>
          <p:cNvSpPr/>
          <p:nvPr/>
        </p:nvSpPr>
        <p:spPr>
          <a:xfrm>
            <a:off x="395536" y="2708920"/>
            <a:ext cx="8352928" cy="1872208"/>
          </a:xfrm>
          <a:prstGeom prst="rect">
            <a:avLst/>
          </a:prstGeom>
          <a:ln w="25400">
            <a:solidFill>
              <a:schemeClr val="accent2"/>
            </a:solidFill>
            <a:prstDash val="sysDot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de-DE" dirty="0" smtClean="0">
                <a:solidFill>
                  <a:schemeClr val="accent2"/>
                </a:solidFill>
                <a:latin typeface="Tele-GroteskNor" pitchFamily="2" charset="0"/>
              </a:rPr>
              <a:t>Server-Seite</a:t>
            </a:r>
            <a:endParaRPr lang="de-DE" dirty="0">
              <a:solidFill>
                <a:schemeClr val="accent2"/>
              </a:solidFill>
              <a:latin typeface="Tele-GroteskNor" pitchFamily="2" charset="0"/>
            </a:endParaRPr>
          </a:p>
        </p:txBody>
      </p:sp>
      <p:sp>
        <p:nvSpPr>
          <p:cNvPr id="8" name="Ellipse 7"/>
          <p:cNvSpPr/>
          <p:nvPr/>
        </p:nvSpPr>
        <p:spPr>
          <a:xfrm>
            <a:off x="611560" y="908720"/>
            <a:ext cx="3960440" cy="1296144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tIns="0" rtlCol="0" anchor="t"/>
          <a:lstStyle/>
          <a:p>
            <a:pPr algn="ctr"/>
            <a:r>
              <a:rPr lang="de-DE" dirty="0" smtClean="0">
                <a:solidFill>
                  <a:schemeClr val="bg1">
                    <a:lumMod val="95000"/>
                  </a:schemeClr>
                </a:solidFill>
                <a:latin typeface="Tele-GroteskNor" pitchFamily="2" charset="0"/>
              </a:rPr>
              <a:t>Sitzung 1</a:t>
            </a:r>
            <a:endParaRPr lang="de-DE" dirty="0">
              <a:solidFill>
                <a:schemeClr val="bg1">
                  <a:lumMod val="95000"/>
                </a:schemeClr>
              </a:solidFill>
              <a:latin typeface="Tele-GroteskNor" pitchFamily="2" charset="0"/>
            </a:endParaRPr>
          </a:p>
        </p:txBody>
      </p:sp>
      <p:sp>
        <p:nvSpPr>
          <p:cNvPr id="9" name="Ellipse 8"/>
          <p:cNvSpPr/>
          <p:nvPr/>
        </p:nvSpPr>
        <p:spPr>
          <a:xfrm>
            <a:off x="4932040" y="764704"/>
            <a:ext cx="1656184" cy="792088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smtClean="0">
                <a:solidFill>
                  <a:schemeClr val="bg1">
                    <a:lumMod val="95000"/>
                  </a:schemeClr>
                </a:solidFill>
                <a:latin typeface="Tele-GroteskNor" pitchFamily="2" charset="0"/>
              </a:rPr>
              <a:t>Sitzung 2</a:t>
            </a:r>
            <a:endParaRPr lang="de-DE" dirty="0">
              <a:solidFill>
                <a:schemeClr val="bg1">
                  <a:lumMod val="95000"/>
                </a:schemeClr>
              </a:solidFill>
              <a:latin typeface="Tele-GroteskNor" pitchFamily="2" charset="0"/>
            </a:endParaRPr>
          </a:p>
        </p:txBody>
      </p:sp>
      <p:sp>
        <p:nvSpPr>
          <p:cNvPr id="10" name="Pfeil nach oben und unten 9"/>
          <p:cNvSpPr/>
          <p:nvPr/>
        </p:nvSpPr>
        <p:spPr>
          <a:xfrm rot="2508825">
            <a:off x="4862627" y="4043372"/>
            <a:ext cx="360040" cy="1873398"/>
          </a:xfrm>
          <a:prstGeom prst="upDownArrow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latin typeface="Tele-GroteskNor" pitchFamily="2" charset="0"/>
            </a:endParaRPr>
          </a:p>
        </p:txBody>
      </p:sp>
      <p:sp>
        <p:nvSpPr>
          <p:cNvPr id="11" name="Flussdiagramm: Magnetplattenspeicher 10"/>
          <p:cNvSpPr/>
          <p:nvPr/>
        </p:nvSpPr>
        <p:spPr>
          <a:xfrm>
            <a:off x="5220072" y="3104964"/>
            <a:ext cx="1584176" cy="1080120"/>
          </a:xfrm>
          <a:prstGeom prst="flowChartMagneticDisk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smtClean="0">
                <a:solidFill>
                  <a:schemeClr val="bg1">
                    <a:lumMod val="95000"/>
                  </a:schemeClr>
                </a:solidFill>
                <a:latin typeface="Tele-GroteskNor" pitchFamily="2" charset="0"/>
              </a:rPr>
              <a:t>MongoDB</a:t>
            </a:r>
            <a:endParaRPr lang="de-DE" dirty="0">
              <a:solidFill>
                <a:schemeClr val="bg1">
                  <a:lumMod val="95000"/>
                </a:schemeClr>
              </a:solidFill>
              <a:latin typeface="Tele-GroteskNor" pitchFamily="2" charset="0"/>
            </a:endParaRPr>
          </a:p>
        </p:txBody>
      </p:sp>
      <p:sp>
        <p:nvSpPr>
          <p:cNvPr id="12" name="Ellipse 11"/>
          <p:cNvSpPr/>
          <p:nvPr/>
        </p:nvSpPr>
        <p:spPr>
          <a:xfrm>
            <a:off x="6740624" y="1412776"/>
            <a:ext cx="1656184" cy="792088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smtClean="0">
                <a:solidFill>
                  <a:schemeClr val="bg1">
                    <a:lumMod val="95000"/>
                  </a:schemeClr>
                </a:solidFill>
                <a:latin typeface="Tele-GroteskNor" pitchFamily="2" charset="0"/>
              </a:rPr>
              <a:t>Sitzung 3</a:t>
            </a:r>
            <a:endParaRPr lang="de-DE" dirty="0">
              <a:solidFill>
                <a:schemeClr val="bg1">
                  <a:lumMod val="95000"/>
                </a:schemeClr>
              </a:solidFill>
              <a:latin typeface="Tele-GroteskNor" pitchFamily="2" charset="0"/>
            </a:endParaRPr>
          </a:p>
        </p:txBody>
      </p:sp>
      <p:sp>
        <p:nvSpPr>
          <p:cNvPr id="13" name="Abgerundetes Rechteck 12"/>
          <p:cNvSpPr/>
          <p:nvPr/>
        </p:nvSpPr>
        <p:spPr>
          <a:xfrm>
            <a:off x="971600" y="1297214"/>
            <a:ext cx="936104" cy="463866"/>
          </a:xfrm>
          <a:prstGeom prst="roundRect">
            <a:avLst/>
          </a:prstGeom>
          <a:gradFill flip="none" rotWithShape="1">
            <a:gsLst>
              <a:gs pos="0">
                <a:schemeClr val="accent2">
                  <a:lumMod val="40000"/>
                  <a:lumOff val="60000"/>
                </a:schemeClr>
              </a:gs>
              <a:gs pos="30000">
                <a:schemeClr val="accent2">
                  <a:lumMod val="60000"/>
                  <a:lumOff val="40000"/>
                </a:schemeClr>
              </a:gs>
              <a:gs pos="70000">
                <a:schemeClr val="accent2"/>
              </a:gs>
              <a:gs pos="100000">
                <a:schemeClr val="accent2">
                  <a:lumMod val="50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 smtClean="0">
                <a:latin typeface="Tele-GroteskNor" pitchFamily="2" charset="0"/>
              </a:rPr>
              <a:t>Sicht 1</a:t>
            </a:r>
            <a:endParaRPr lang="de-DE" dirty="0">
              <a:latin typeface="Tele-GroteskNor" pitchFamily="2" charset="0"/>
            </a:endParaRPr>
          </a:p>
        </p:txBody>
      </p:sp>
      <p:sp>
        <p:nvSpPr>
          <p:cNvPr id="14" name="Abgerundetes Rechteck 13"/>
          <p:cNvSpPr/>
          <p:nvPr/>
        </p:nvSpPr>
        <p:spPr>
          <a:xfrm>
            <a:off x="2123728" y="1615218"/>
            <a:ext cx="936104" cy="463866"/>
          </a:xfrm>
          <a:prstGeom prst="roundRect">
            <a:avLst/>
          </a:prstGeom>
          <a:gradFill flip="none" rotWithShape="1">
            <a:gsLst>
              <a:gs pos="0">
                <a:schemeClr val="accent2">
                  <a:lumMod val="40000"/>
                  <a:lumOff val="60000"/>
                </a:schemeClr>
              </a:gs>
              <a:gs pos="30000">
                <a:schemeClr val="accent2">
                  <a:lumMod val="60000"/>
                  <a:lumOff val="40000"/>
                </a:schemeClr>
              </a:gs>
              <a:gs pos="70000">
                <a:schemeClr val="accent2"/>
              </a:gs>
              <a:gs pos="100000">
                <a:schemeClr val="accent2">
                  <a:lumMod val="50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 smtClean="0">
                <a:latin typeface="Tele-GroteskNor" pitchFamily="2" charset="0"/>
              </a:rPr>
              <a:t>Sicht 2</a:t>
            </a:r>
            <a:endParaRPr lang="de-DE" dirty="0">
              <a:latin typeface="Tele-GroteskNor" pitchFamily="2" charset="0"/>
            </a:endParaRPr>
          </a:p>
        </p:txBody>
      </p:sp>
      <p:sp>
        <p:nvSpPr>
          <p:cNvPr id="15" name="Abgerundetes Rechteck 14"/>
          <p:cNvSpPr/>
          <p:nvPr/>
        </p:nvSpPr>
        <p:spPr>
          <a:xfrm>
            <a:off x="3347864" y="1324859"/>
            <a:ext cx="936104" cy="463866"/>
          </a:xfrm>
          <a:prstGeom prst="roundRect">
            <a:avLst/>
          </a:prstGeom>
          <a:gradFill flip="none" rotWithShape="1">
            <a:gsLst>
              <a:gs pos="0">
                <a:schemeClr val="accent2">
                  <a:lumMod val="40000"/>
                  <a:lumOff val="60000"/>
                </a:schemeClr>
              </a:gs>
              <a:gs pos="30000">
                <a:schemeClr val="accent2">
                  <a:lumMod val="60000"/>
                  <a:lumOff val="40000"/>
                </a:schemeClr>
              </a:gs>
              <a:gs pos="70000">
                <a:schemeClr val="accent2"/>
              </a:gs>
              <a:gs pos="100000">
                <a:schemeClr val="accent2">
                  <a:lumMod val="50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 smtClean="0">
                <a:latin typeface="Tele-GroteskNor" pitchFamily="2" charset="0"/>
              </a:rPr>
              <a:t>Sicht 3</a:t>
            </a:r>
            <a:endParaRPr lang="de-DE" dirty="0">
              <a:latin typeface="Tele-GroteskNor" pitchFamily="2" charset="0"/>
            </a:endParaRPr>
          </a:p>
        </p:txBody>
      </p:sp>
      <p:sp>
        <p:nvSpPr>
          <p:cNvPr id="16" name="Textfeld 15"/>
          <p:cNvSpPr txBox="1"/>
          <p:nvPr/>
        </p:nvSpPr>
        <p:spPr>
          <a:xfrm>
            <a:off x="5153002" y="4980071"/>
            <a:ext cx="28753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smtClean="0">
                <a:solidFill>
                  <a:schemeClr val="accent6"/>
                </a:solidFill>
                <a:latin typeface="Tele-GroteskNor" pitchFamily="2" charset="0"/>
              </a:rPr>
              <a:t>„get_all_meetings_request“</a:t>
            </a:r>
            <a:endParaRPr lang="de-DE" dirty="0">
              <a:solidFill>
                <a:schemeClr val="accent6"/>
              </a:solidFill>
              <a:latin typeface="Tele-GroteskNor" pitchFamily="2" charset="0"/>
            </a:endParaRPr>
          </a:p>
        </p:txBody>
      </p:sp>
      <p:sp>
        <p:nvSpPr>
          <p:cNvPr id="17" name="Textfeld 16"/>
          <p:cNvSpPr txBox="1"/>
          <p:nvPr/>
        </p:nvSpPr>
        <p:spPr>
          <a:xfrm>
            <a:off x="7020272" y="2780928"/>
            <a:ext cx="172819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u="sng" dirty="0" smtClean="0">
                <a:latin typeface="Tele-GroteskNor" pitchFamily="2" charset="0"/>
              </a:rPr>
              <a:t>Informationen:</a:t>
            </a:r>
            <a:r>
              <a:rPr lang="de-DE" sz="1400" dirty="0" smtClean="0">
                <a:latin typeface="Tele-GroteskNor" pitchFamily="2" charset="0"/>
              </a:rPr>
              <a:t/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</a:t>
            </a:r>
            <a:r>
              <a:rPr lang="de-DE" sz="1400" b="1" dirty="0" smtClean="0">
                <a:latin typeface="Tele-GroteskNor" pitchFamily="2" charset="0"/>
              </a:rPr>
              <a:t>Sitzungen</a:t>
            </a:r>
            <a:r>
              <a:rPr lang="de-DE" sz="1400" dirty="0" smtClean="0">
                <a:latin typeface="Tele-GroteskNor" pitchFamily="2" charset="0"/>
              </a:rPr>
              <a:t/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Benutzer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Chatnachrichten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Präsentationsfolien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Mauszeiger (Cursor)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Umfragen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…</a:t>
            </a:r>
            <a:endParaRPr lang="de-DE" sz="1400" dirty="0">
              <a:latin typeface="Tele-GroteskNor" pitchFamily="2" charset="0"/>
            </a:endParaRPr>
          </a:p>
        </p:txBody>
      </p:sp>
      <p:sp>
        <p:nvSpPr>
          <p:cNvPr id="18" name="Geschweifte Klammer links 17"/>
          <p:cNvSpPr/>
          <p:nvPr/>
        </p:nvSpPr>
        <p:spPr>
          <a:xfrm>
            <a:off x="6876256" y="2780928"/>
            <a:ext cx="288032" cy="1728192"/>
          </a:xfrm>
          <a:prstGeom prst="leftBrac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>
              <a:latin typeface="Tele-GroteskNor" pitchFamily="2" charset="0"/>
            </a:endParaRPr>
          </a:p>
        </p:txBody>
      </p:sp>
      <p:cxnSp>
        <p:nvCxnSpPr>
          <p:cNvPr id="20" name="Gekrümmte Verbindung 19"/>
          <p:cNvCxnSpPr>
            <a:stCxn id="11" idx="2"/>
            <a:endCxn id="13" idx="2"/>
          </p:cNvCxnSpPr>
          <p:nvPr/>
        </p:nvCxnSpPr>
        <p:spPr>
          <a:xfrm rot="10800000">
            <a:off x="1439652" y="1761080"/>
            <a:ext cx="3780420" cy="1883944"/>
          </a:xfrm>
          <a:prstGeom prst="curvedConnector2">
            <a:avLst/>
          </a:prstGeom>
          <a:ln w="190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Gekrümmte Verbindung 22"/>
          <p:cNvCxnSpPr>
            <a:stCxn id="11" idx="2"/>
            <a:endCxn id="14" idx="2"/>
          </p:cNvCxnSpPr>
          <p:nvPr/>
        </p:nvCxnSpPr>
        <p:spPr>
          <a:xfrm rot="10800000">
            <a:off x="2591780" y="2079084"/>
            <a:ext cx="2628292" cy="1565940"/>
          </a:xfrm>
          <a:prstGeom prst="curvedConnector2">
            <a:avLst/>
          </a:prstGeom>
          <a:ln w="190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Gekrümmte Verbindung 25"/>
          <p:cNvCxnSpPr>
            <a:stCxn id="11" idx="2"/>
            <a:endCxn id="15" idx="2"/>
          </p:cNvCxnSpPr>
          <p:nvPr/>
        </p:nvCxnSpPr>
        <p:spPr>
          <a:xfrm rot="10800000">
            <a:off x="3815916" y="1788726"/>
            <a:ext cx="1404156" cy="1856299"/>
          </a:xfrm>
          <a:prstGeom prst="curvedConnector2">
            <a:avLst/>
          </a:prstGeom>
          <a:ln w="190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Gerade Verbindung mit Pfeil 29"/>
          <p:cNvCxnSpPr>
            <a:stCxn id="11" idx="1"/>
            <a:endCxn id="9" idx="4"/>
          </p:cNvCxnSpPr>
          <p:nvPr/>
        </p:nvCxnSpPr>
        <p:spPr>
          <a:xfrm flipH="1" flipV="1">
            <a:off x="5760132" y="1556792"/>
            <a:ext cx="252028" cy="1548172"/>
          </a:xfrm>
          <a:prstGeom prst="straightConnector1">
            <a:avLst/>
          </a:prstGeom>
          <a:ln w="19050">
            <a:solidFill>
              <a:srgbClr val="FF0000"/>
            </a:solidFill>
            <a:prstDash val="sys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Gerade Verbindung mit Pfeil 30"/>
          <p:cNvCxnSpPr>
            <a:stCxn id="11" idx="1"/>
            <a:endCxn id="12" idx="4"/>
          </p:cNvCxnSpPr>
          <p:nvPr/>
        </p:nvCxnSpPr>
        <p:spPr>
          <a:xfrm flipV="1">
            <a:off x="6012160" y="2204864"/>
            <a:ext cx="1556556" cy="900100"/>
          </a:xfrm>
          <a:prstGeom prst="straightConnector1">
            <a:avLst/>
          </a:prstGeom>
          <a:ln w="19050">
            <a:solidFill>
              <a:srgbClr val="FF0000"/>
            </a:solidFill>
            <a:prstDash val="sys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hteck 2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>
              <a:latin typeface="Tele-GroteskNor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321572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/>
          <p:cNvSpPr/>
          <p:nvPr/>
        </p:nvSpPr>
        <p:spPr>
          <a:xfrm>
            <a:off x="4283968" y="4725144"/>
            <a:ext cx="576064" cy="1008112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latin typeface="Tele-GroteskNor" pitchFamily="2" charset="0"/>
            </a:endParaRPr>
          </a:p>
        </p:txBody>
      </p:sp>
      <p:sp>
        <p:nvSpPr>
          <p:cNvPr id="4" name="Rechteck 3"/>
          <p:cNvSpPr/>
          <p:nvPr/>
        </p:nvSpPr>
        <p:spPr>
          <a:xfrm>
            <a:off x="251520" y="5733256"/>
            <a:ext cx="8640960" cy="864096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 smtClean="0">
                <a:solidFill>
                  <a:schemeClr val="tx2"/>
                </a:solidFill>
                <a:latin typeface="Tele-GroteskNor" pitchFamily="2" charset="0"/>
              </a:rPr>
              <a:t>BigBlueButton Kern</a:t>
            </a:r>
            <a:endParaRPr lang="de-DE" dirty="0">
              <a:solidFill>
                <a:schemeClr val="tx2"/>
              </a:solidFill>
              <a:latin typeface="Tele-GroteskNor" pitchFamily="2" charset="0"/>
            </a:endParaRPr>
          </a:p>
        </p:txBody>
      </p:sp>
      <p:sp>
        <p:nvSpPr>
          <p:cNvPr id="5" name="Rechteck 4"/>
          <p:cNvSpPr/>
          <p:nvPr/>
        </p:nvSpPr>
        <p:spPr>
          <a:xfrm>
            <a:off x="251520" y="260648"/>
            <a:ext cx="8640960" cy="4464496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 anchorCtr="0"/>
          <a:lstStyle/>
          <a:p>
            <a:r>
              <a:rPr lang="de-DE" dirty="0" smtClean="0">
                <a:solidFill>
                  <a:schemeClr val="accent2"/>
                </a:solidFill>
                <a:latin typeface="Tele-GroteskNor" pitchFamily="2" charset="0"/>
              </a:rPr>
              <a:t>HTML5-App</a:t>
            </a:r>
            <a:endParaRPr lang="de-DE" dirty="0">
              <a:solidFill>
                <a:schemeClr val="accent2"/>
              </a:solidFill>
              <a:latin typeface="Tele-GroteskNor" pitchFamily="2" charset="0"/>
            </a:endParaRPr>
          </a:p>
        </p:txBody>
      </p:sp>
      <p:sp>
        <p:nvSpPr>
          <p:cNvPr id="6" name="Rechteck 5"/>
          <p:cNvSpPr/>
          <p:nvPr/>
        </p:nvSpPr>
        <p:spPr>
          <a:xfrm>
            <a:off x="395536" y="620688"/>
            <a:ext cx="8352928" cy="1872208"/>
          </a:xfrm>
          <a:prstGeom prst="rect">
            <a:avLst/>
          </a:prstGeom>
          <a:ln w="25400">
            <a:solidFill>
              <a:schemeClr val="accent2"/>
            </a:solidFill>
            <a:prstDash val="sysDot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de-DE" dirty="0" smtClean="0">
                <a:solidFill>
                  <a:schemeClr val="accent2"/>
                </a:solidFill>
                <a:latin typeface="Tele-GroteskNor" pitchFamily="2" charset="0"/>
              </a:rPr>
              <a:t>Client-Seite</a:t>
            </a:r>
            <a:endParaRPr lang="de-DE" dirty="0">
              <a:solidFill>
                <a:schemeClr val="accent2"/>
              </a:solidFill>
              <a:latin typeface="Tele-GroteskNor" pitchFamily="2" charset="0"/>
            </a:endParaRPr>
          </a:p>
        </p:txBody>
      </p:sp>
      <p:sp>
        <p:nvSpPr>
          <p:cNvPr id="7" name="Rechteck 6"/>
          <p:cNvSpPr/>
          <p:nvPr/>
        </p:nvSpPr>
        <p:spPr>
          <a:xfrm>
            <a:off x="395536" y="2708920"/>
            <a:ext cx="8352928" cy="1872208"/>
          </a:xfrm>
          <a:prstGeom prst="rect">
            <a:avLst/>
          </a:prstGeom>
          <a:ln w="25400">
            <a:solidFill>
              <a:schemeClr val="accent2"/>
            </a:solidFill>
            <a:prstDash val="sysDot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de-DE" dirty="0" smtClean="0">
                <a:solidFill>
                  <a:schemeClr val="accent2"/>
                </a:solidFill>
                <a:latin typeface="Tele-GroteskNor" pitchFamily="2" charset="0"/>
              </a:rPr>
              <a:t>Server-</a:t>
            </a:r>
            <a:br>
              <a:rPr lang="de-DE" dirty="0" smtClean="0">
                <a:solidFill>
                  <a:schemeClr val="accent2"/>
                </a:solidFill>
                <a:latin typeface="Tele-GroteskNor" pitchFamily="2" charset="0"/>
              </a:rPr>
            </a:br>
            <a:r>
              <a:rPr lang="de-DE" dirty="0" smtClean="0">
                <a:solidFill>
                  <a:schemeClr val="accent2"/>
                </a:solidFill>
                <a:latin typeface="Tele-GroteskNor" pitchFamily="2" charset="0"/>
              </a:rPr>
              <a:t>Seite</a:t>
            </a:r>
            <a:endParaRPr lang="de-DE" dirty="0">
              <a:solidFill>
                <a:schemeClr val="accent2"/>
              </a:solidFill>
              <a:latin typeface="Tele-GroteskNor" pitchFamily="2" charset="0"/>
            </a:endParaRPr>
          </a:p>
        </p:txBody>
      </p:sp>
      <p:sp>
        <p:nvSpPr>
          <p:cNvPr id="8" name="Ellipse 7"/>
          <p:cNvSpPr/>
          <p:nvPr/>
        </p:nvSpPr>
        <p:spPr>
          <a:xfrm>
            <a:off x="611560" y="908720"/>
            <a:ext cx="3960440" cy="1296144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tIns="0" rtlCol="0" anchor="t"/>
          <a:lstStyle/>
          <a:p>
            <a:pPr algn="ctr"/>
            <a:r>
              <a:rPr lang="de-DE" dirty="0" smtClean="0">
                <a:solidFill>
                  <a:schemeClr val="bg1">
                    <a:lumMod val="95000"/>
                  </a:schemeClr>
                </a:solidFill>
                <a:latin typeface="Tele-GroteskNor" pitchFamily="2" charset="0"/>
              </a:rPr>
              <a:t>Sitzung 1</a:t>
            </a:r>
            <a:endParaRPr lang="de-DE" dirty="0">
              <a:solidFill>
                <a:schemeClr val="bg1">
                  <a:lumMod val="95000"/>
                </a:schemeClr>
              </a:solidFill>
              <a:latin typeface="Tele-GroteskNor" pitchFamily="2" charset="0"/>
            </a:endParaRPr>
          </a:p>
        </p:txBody>
      </p:sp>
      <p:sp>
        <p:nvSpPr>
          <p:cNvPr id="9" name="Ellipse 8"/>
          <p:cNvSpPr/>
          <p:nvPr/>
        </p:nvSpPr>
        <p:spPr>
          <a:xfrm>
            <a:off x="4932040" y="764704"/>
            <a:ext cx="1656184" cy="792088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smtClean="0">
                <a:solidFill>
                  <a:schemeClr val="bg1">
                    <a:lumMod val="95000"/>
                  </a:schemeClr>
                </a:solidFill>
                <a:latin typeface="Tele-GroteskNor" pitchFamily="2" charset="0"/>
              </a:rPr>
              <a:t>Sitzung 2</a:t>
            </a:r>
            <a:endParaRPr lang="de-DE" dirty="0">
              <a:solidFill>
                <a:schemeClr val="bg1">
                  <a:lumMod val="95000"/>
                </a:schemeClr>
              </a:solidFill>
              <a:latin typeface="Tele-GroteskNor" pitchFamily="2" charset="0"/>
            </a:endParaRPr>
          </a:p>
        </p:txBody>
      </p:sp>
      <p:sp>
        <p:nvSpPr>
          <p:cNvPr id="11" name="Flussdiagramm: Magnetplattenspeicher 10"/>
          <p:cNvSpPr/>
          <p:nvPr/>
        </p:nvSpPr>
        <p:spPr>
          <a:xfrm>
            <a:off x="5220072" y="3104964"/>
            <a:ext cx="1584176" cy="1080120"/>
          </a:xfrm>
          <a:prstGeom prst="flowChartMagneticDisk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smtClean="0">
                <a:solidFill>
                  <a:schemeClr val="bg1">
                    <a:lumMod val="95000"/>
                  </a:schemeClr>
                </a:solidFill>
                <a:latin typeface="Tele-GroteskNor" pitchFamily="2" charset="0"/>
              </a:rPr>
              <a:t>MongoDB</a:t>
            </a:r>
            <a:endParaRPr lang="de-DE" dirty="0">
              <a:solidFill>
                <a:schemeClr val="bg1">
                  <a:lumMod val="95000"/>
                </a:schemeClr>
              </a:solidFill>
              <a:latin typeface="Tele-GroteskNor" pitchFamily="2" charset="0"/>
            </a:endParaRPr>
          </a:p>
        </p:txBody>
      </p:sp>
      <p:sp>
        <p:nvSpPr>
          <p:cNvPr id="12" name="Ellipse 11"/>
          <p:cNvSpPr/>
          <p:nvPr/>
        </p:nvSpPr>
        <p:spPr>
          <a:xfrm>
            <a:off x="6740624" y="1412776"/>
            <a:ext cx="1656184" cy="792088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smtClean="0">
                <a:solidFill>
                  <a:schemeClr val="bg1">
                    <a:lumMod val="95000"/>
                  </a:schemeClr>
                </a:solidFill>
                <a:latin typeface="Tele-GroteskNor" pitchFamily="2" charset="0"/>
              </a:rPr>
              <a:t>Sitzung 3</a:t>
            </a:r>
            <a:endParaRPr lang="de-DE" dirty="0">
              <a:solidFill>
                <a:schemeClr val="bg1">
                  <a:lumMod val="95000"/>
                </a:schemeClr>
              </a:solidFill>
              <a:latin typeface="Tele-GroteskNor" pitchFamily="2" charset="0"/>
            </a:endParaRPr>
          </a:p>
        </p:txBody>
      </p:sp>
      <p:sp>
        <p:nvSpPr>
          <p:cNvPr id="13" name="Abgerundetes Rechteck 12"/>
          <p:cNvSpPr/>
          <p:nvPr/>
        </p:nvSpPr>
        <p:spPr>
          <a:xfrm>
            <a:off x="971600" y="1297214"/>
            <a:ext cx="936104" cy="463866"/>
          </a:xfrm>
          <a:prstGeom prst="roundRect">
            <a:avLst/>
          </a:prstGeom>
          <a:gradFill flip="none" rotWithShape="1">
            <a:gsLst>
              <a:gs pos="0">
                <a:schemeClr val="accent2">
                  <a:lumMod val="40000"/>
                  <a:lumOff val="60000"/>
                </a:schemeClr>
              </a:gs>
              <a:gs pos="30000">
                <a:schemeClr val="accent2">
                  <a:lumMod val="60000"/>
                  <a:lumOff val="40000"/>
                </a:schemeClr>
              </a:gs>
              <a:gs pos="70000">
                <a:schemeClr val="accent2"/>
              </a:gs>
              <a:gs pos="100000">
                <a:schemeClr val="accent2">
                  <a:lumMod val="50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 smtClean="0">
                <a:latin typeface="Tele-GroteskNor" pitchFamily="2" charset="0"/>
              </a:rPr>
              <a:t>BBB-Nutzer 1</a:t>
            </a:r>
            <a:endParaRPr lang="de-DE" sz="1600" dirty="0">
              <a:latin typeface="Tele-GroteskNor" pitchFamily="2" charset="0"/>
            </a:endParaRPr>
          </a:p>
        </p:txBody>
      </p:sp>
      <p:sp>
        <p:nvSpPr>
          <p:cNvPr id="14" name="Abgerundetes Rechteck 13"/>
          <p:cNvSpPr/>
          <p:nvPr/>
        </p:nvSpPr>
        <p:spPr>
          <a:xfrm>
            <a:off x="2123728" y="1615218"/>
            <a:ext cx="936104" cy="463866"/>
          </a:xfrm>
          <a:prstGeom prst="roundRect">
            <a:avLst/>
          </a:prstGeom>
          <a:gradFill flip="none" rotWithShape="1">
            <a:gsLst>
              <a:gs pos="0">
                <a:schemeClr val="accent2">
                  <a:lumMod val="40000"/>
                  <a:lumOff val="60000"/>
                </a:schemeClr>
              </a:gs>
              <a:gs pos="30000">
                <a:schemeClr val="accent2">
                  <a:lumMod val="60000"/>
                  <a:lumOff val="40000"/>
                </a:schemeClr>
              </a:gs>
              <a:gs pos="70000">
                <a:schemeClr val="accent2"/>
              </a:gs>
              <a:gs pos="100000">
                <a:schemeClr val="accent2">
                  <a:lumMod val="50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 smtClean="0">
                <a:latin typeface="Tele-GroteskNor" pitchFamily="2" charset="0"/>
              </a:rPr>
              <a:t>BBB-Nutzer </a:t>
            </a:r>
            <a:r>
              <a:rPr lang="de-DE" sz="1600" dirty="0">
                <a:latin typeface="Tele-GroteskNor" pitchFamily="2" charset="0"/>
              </a:rPr>
              <a:t>2</a:t>
            </a:r>
          </a:p>
        </p:txBody>
      </p:sp>
      <p:sp>
        <p:nvSpPr>
          <p:cNvPr id="15" name="Abgerundetes Rechteck 14"/>
          <p:cNvSpPr/>
          <p:nvPr/>
        </p:nvSpPr>
        <p:spPr>
          <a:xfrm>
            <a:off x="3347864" y="1324859"/>
            <a:ext cx="936104" cy="463866"/>
          </a:xfrm>
          <a:prstGeom prst="roundRect">
            <a:avLst/>
          </a:prstGeom>
          <a:gradFill flip="none" rotWithShape="1">
            <a:gsLst>
              <a:gs pos="0">
                <a:schemeClr val="accent2">
                  <a:lumMod val="40000"/>
                  <a:lumOff val="60000"/>
                </a:schemeClr>
              </a:gs>
              <a:gs pos="30000">
                <a:schemeClr val="accent2">
                  <a:lumMod val="60000"/>
                  <a:lumOff val="40000"/>
                </a:schemeClr>
              </a:gs>
              <a:gs pos="70000">
                <a:schemeClr val="accent2"/>
              </a:gs>
              <a:gs pos="100000">
                <a:schemeClr val="accent2">
                  <a:lumMod val="50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 smtClean="0">
                <a:latin typeface="Tele-GroteskNor" pitchFamily="2" charset="0"/>
              </a:rPr>
              <a:t>BBB-Nutzer </a:t>
            </a:r>
            <a:r>
              <a:rPr lang="de-DE" sz="1600" dirty="0">
                <a:latin typeface="Tele-GroteskNor" pitchFamily="2" charset="0"/>
              </a:rPr>
              <a:t>3</a:t>
            </a:r>
          </a:p>
        </p:txBody>
      </p:sp>
      <p:sp>
        <p:nvSpPr>
          <p:cNvPr id="16" name="Textfeld 15"/>
          <p:cNvSpPr txBox="1"/>
          <p:nvPr/>
        </p:nvSpPr>
        <p:spPr>
          <a:xfrm>
            <a:off x="4860032" y="5044534"/>
            <a:ext cx="2016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smtClean="0">
                <a:solidFill>
                  <a:schemeClr val="accent6"/>
                </a:solidFill>
                <a:latin typeface="Tele-GroteskNor" pitchFamily="2" charset="0"/>
              </a:rPr>
              <a:t>Redis PubSub</a:t>
            </a:r>
            <a:endParaRPr lang="de-DE" dirty="0">
              <a:solidFill>
                <a:schemeClr val="accent6"/>
              </a:solidFill>
              <a:latin typeface="Tele-GroteskNor" pitchFamily="2" charset="0"/>
            </a:endParaRPr>
          </a:p>
        </p:txBody>
      </p:sp>
      <p:sp>
        <p:nvSpPr>
          <p:cNvPr id="17" name="Textfeld 16"/>
          <p:cNvSpPr txBox="1"/>
          <p:nvPr/>
        </p:nvSpPr>
        <p:spPr>
          <a:xfrm>
            <a:off x="7020272" y="2780928"/>
            <a:ext cx="172819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u="sng" dirty="0" smtClean="0">
                <a:latin typeface="Tele-GroteskNor" pitchFamily="2" charset="0"/>
              </a:rPr>
              <a:t>Informationen:</a:t>
            </a:r>
            <a:r>
              <a:rPr lang="de-DE" sz="1400" dirty="0" smtClean="0">
                <a:latin typeface="Tele-GroteskNor" pitchFamily="2" charset="0"/>
              </a:rPr>
              <a:t/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Sitzungen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Benutzer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Chatnachrichten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Präsentationsfolien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Mauszeiger (Cursor)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Umfragen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…</a:t>
            </a:r>
            <a:endParaRPr lang="de-DE" sz="1400" dirty="0">
              <a:latin typeface="Tele-GroteskNor" pitchFamily="2" charset="0"/>
            </a:endParaRPr>
          </a:p>
        </p:txBody>
      </p:sp>
      <p:sp>
        <p:nvSpPr>
          <p:cNvPr id="18" name="Geschweifte Klammer links 17"/>
          <p:cNvSpPr/>
          <p:nvPr/>
        </p:nvSpPr>
        <p:spPr>
          <a:xfrm>
            <a:off x="6876256" y="2780928"/>
            <a:ext cx="288032" cy="1728192"/>
          </a:xfrm>
          <a:prstGeom prst="leftBrac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>
              <a:latin typeface="Tele-GroteskNor" pitchFamily="2" charset="0"/>
            </a:endParaRPr>
          </a:p>
        </p:txBody>
      </p:sp>
      <p:cxnSp>
        <p:nvCxnSpPr>
          <p:cNvPr id="22" name="Gekrümmte Verbindung 21"/>
          <p:cNvCxnSpPr/>
          <p:nvPr/>
        </p:nvCxnSpPr>
        <p:spPr>
          <a:xfrm rot="16200000" flipH="1">
            <a:off x="803714" y="2144990"/>
            <a:ext cx="3972176" cy="3204356"/>
          </a:xfrm>
          <a:prstGeom prst="bentConnector3">
            <a:avLst/>
          </a:prstGeom>
          <a:ln w="25400"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Gekrümmte Verbindung 21"/>
          <p:cNvCxnSpPr>
            <a:endCxn id="11" idx="3"/>
          </p:cNvCxnSpPr>
          <p:nvPr/>
        </p:nvCxnSpPr>
        <p:spPr>
          <a:xfrm rot="5400000" flipH="1" flipV="1">
            <a:off x="4590002" y="4311098"/>
            <a:ext cx="1548172" cy="1296144"/>
          </a:xfrm>
          <a:prstGeom prst="bentConnector3">
            <a:avLst>
              <a:gd name="adj1" fmla="val 79818"/>
            </a:avLst>
          </a:prstGeom>
          <a:ln w="25400"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Gekrümmte Verbindung 21"/>
          <p:cNvCxnSpPr>
            <a:stCxn id="11" idx="2"/>
            <a:endCxn id="13" idx="2"/>
          </p:cNvCxnSpPr>
          <p:nvPr/>
        </p:nvCxnSpPr>
        <p:spPr>
          <a:xfrm rot="10800000">
            <a:off x="1439652" y="1761080"/>
            <a:ext cx="3780420" cy="1883944"/>
          </a:xfrm>
          <a:prstGeom prst="curvedConnector2">
            <a:avLst/>
          </a:prstGeom>
          <a:ln w="25400"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Gekrümmte Verbindung 21"/>
          <p:cNvCxnSpPr>
            <a:stCxn id="11" idx="2"/>
            <a:endCxn id="14" idx="2"/>
          </p:cNvCxnSpPr>
          <p:nvPr/>
        </p:nvCxnSpPr>
        <p:spPr>
          <a:xfrm rot="10800000">
            <a:off x="2591780" y="2079084"/>
            <a:ext cx="2628292" cy="1565940"/>
          </a:xfrm>
          <a:prstGeom prst="curvedConnector2">
            <a:avLst/>
          </a:prstGeom>
          <a:ln w="25400"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Gekrümmte Verbindung 21"/>
          <p:cNvCxnSpPr>
            <a:stCxn id="11" idx="2"/>
            <a:endCxn id="15" idx="2"/>
          </p:cNvCxnSpPr>
          <p:nvPr/>
        </p:nvCxnSpPr>
        <p:spPr>
          <a:xfrm rot="10800000">
            <a:off x="3815916" y="1788726"/>
            <a:ext cx="1404156" cy="1856299"/>
          </a:xfrm>
          <a:prstGeom prst="curvedConnector2">
            <a:avLst/>
          </a:prstGeom>
          <a:ln w="25400"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feld 56"/>
          <p:cNvSpPr txBox="1"/>
          <p:nvPr/>
        </p:nvSpPr>
        <p:spPr>
          <a:xfrm>
            <a:off x="1871699" y="3419708"/>
            <a:ext cx="14401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smtClean="0">
                <a:solidFill>
                  <a:srgbClr val="00B050"/>
                </a:solidFill>
                <a:latin typeface="Tele-GroteskNor" pitchFamily="2" charset="0"/>
              </a:rPr>
              <a:t>Verarbeitung</a:t>
            </a:r>
            <a:endParaRPr lang="de-DE" dirty="0">
              <a:solidFill>
                <a:srgbClr val="00B050"/>
              </a:solidFill>
              <a:latin typeface="Tele-GroteskNor" pitchFamily="2" charset="0"/>
            </a:endParaRPr>
          </a:p>
        </p:txBody>
      </p:sp>
      <p:sp>
        <p:nvSpPr>
          <p:cNvPr id="23" name="Rechteck 22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>
              <a:latin typeface="Tele-GroteskNor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522272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/>
          <p:cNvSpPr/>
          <p:nvPr/>
        </p:nvSpPr>
        <p:spPr>
          <a:xfrm>
            <a:off x="4283968" y="4725144"/>
            <a:ext cx="576064" cy="1008112"/>
          </a:xfrm>
          <a:prstGeom prst="rect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latin typeface="Tele-GroteskNor" pitchFamily="2" charset="0"/>
            </a:endParaRPr>
          </a:p>
        </p:txBody>
      </p:sp>
      <p:sp>
        <p:nvSpPr>
          <p:cNvPr id="4" name="Rechteck 3"/>
          <p:cNvSpPr/>
          <p:nvPr/>
        </p:nvSpPr>
        <p:spPr>
          <a:xfrm>
            <a:off x="251520" y="5733256"/>
            <a:ext cx="8640960" cy="864096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 smtClean="0">
                <a:solidFill>
                  <a:schemeClr val="tx2"/>
                </a:solidFill>
                <a:latin typeface="Tele-GroteskNor" pitchFamily="2" charset="0"/>
              </a:rPr>
              <a:t>BigBlueButton Kern</a:t>
            </a:r>
            <a:endParaRPr lang="de-DE" dirty="0">
              <a:solidFill>
                <a:schemeClr val="tx2"/>
              </a:solidFill>
              <a:latin typeface="Tele-GroteskNor" pitchFamily="2" charset="0"/>
            </a:endParaRPr>
          </a:p>
        </p:txBody>
      </p:sp>
      <p:sp>
        <p:nvSpPr>
          <p:cNvPr id="5" name="Rechteck 4"/>
          <p:cNvSpPr/>
          <p:nvPr/>
        </p:nvSpPr>
        <p:spPr>
          <a:xfrm>
            <a:off x="251520" y="260648"/>
            <a:ext cx="8640960" cy="4464496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 anchorCtr="0"/>
          <a:lstStyle/>
          <a:p>
            <a:r>
              <a:rPr lang="de-DE" dirty="0" smtClean="0">
                <a:solidFill>
                  <a:schemeClr val="accent2"/>
                </a:solidFill>
                <a:latin typeface="Tele-GroteskNor" pitchFamily="2" charset="0"/>
              </a:rPr>
              <a:t>HTML5-App</a:t>
            </a:r>
            <a:endParaRPr lang="de-DE" dirty="0">
              <a:solidFill>
                <a:schemeClr val="accent2"/>
              </a:solidFill>
              <a:latin typeface="Tele-GroteskNor" pitchFamily="2" charset="0"/>
            </a:endParaRPr>
          </a:p>
        </p:txBody>
      </p:sp>
      <p:sp>
        <p:nvSpPr>
          <p:cNvPr id="7" name="Rechteck 6"/>
          <p:cNvSpPr/>
          <p:nvPr/>
        </p:nvSpPr>
        <p:spPr>
          <a:xfrm>
            <a:off x="395536" y="2708920"/>
            <a:ext cx="8352928" cy="1872208"/>
          </a:xfrm>
          <a:prstGeom prst="rect">
            <a:avLst/>
          </a:prstGeom>
          <a:ln w="25400">
            <a:solidFill>
              <a:schemeClr val="accent2"/>
            </a:solidFill>
            <a:prstDash val="sysDot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de-DE" dirty="0" smtClean="0">
                <a:solidFill>
                  <a:schemeClr val="accent2"/>
                </a:solidFill>
                <a:latin typeface="Tele-GroteskNor" pitchFamily="2" charset="0"/>
              </a:rPr>
              <a:t>Server-Seite</a:t>
            </a:r>
            <a:endParaRPr lang="de-DE" dirty="0">
              <a:solidFill>
                <a:schemeClr val="accent2"/>
              </a:solidFill>
              <a:latin typeface="Tele-GroteskNor" pitchFamily="2" charset="0"/>
            </a:endParaRPr>
          </a:p>
        </p:txBody>
      </p:sp>
      <p:sp>
        <p:nvSpPr>
          <p:cNvPr id="11" name="Flussdiagramm: Magnetplattenspeicher 10"/>
          <p:cNvSpPr/>
          <p:nvPr/>
        </p:nvSpPr>
        <p:spPr>
          <a:xfrm>
            <a:off x="5220072" y="3104964"/>
            <a:ext cx="1584176" cy="1080120"/>
          </a:xfrm>
          <a:prstGeom prst="flowChartMagneticDisk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smtClean="0">
                <a:solidFill>
                  <a:schemeClr val="bg1">
                    <a:lumMod val="95000"/>
                  </a:schemeClr>
                </a:solidFill>
                <a:latin typeface="Tele-GroteskNor" pitchFamily="2" charset="0"/>
              </a:rPr>
              <a:t>MongoDB</a:t>
            </a:r>
            <a:endParaRPr lang="de-DE" dirty="0">
              <a:solidFill>
                <a:schemeClr val="bg1">
                  <a:lumMod val="95000"/>
                </a:schemeClr>
              </a:solidFill>
              <a:latin typeface="Tele-GroteskNor" pitchFamily="2" charset="0"/>
            </a:endParaRPr>
          </a:p>
        </p:txBody>
      </p:sp>
      <p:grpSp>
        <p:nvGrpSpPr>
          <p:cNvPr id="19" name="Gruppieren 18"/>
          <p:cNvGrpSpPr/>
          <p:nvPr/>
        </p:nvGrpSpPr>
        <p:grpSpPr>
          <a:xfrm>
            <a:off x="4788025" y="692696"/>
            <a:ext cx="3960439" cy="1872208"/>
            <a:chOff x="395536" y="620688"/>
            <a:chExt cx="4464496" cy="1872208"/>
          </a:xfrm>
        </p:grpSpPr>
        <p:sp>
          <p:nvSpPr>
            <p:cNvPr id="6" name="Rechteck 5"/>
            <p:cNvSpPr/>
            <p:nvPr/>
          </p:nvSpPr>
          <p:spPr>
            <a:xfrm>
              <a:off x="395536" y="620688"/>
              <a:ext cx="4464496" cy="1872208"/>
            </a:xfrm>
            <a:prstGeom prst="rect">
              <a:avLst/>
            </a:prstGeom>
            <a:ln w="25400">
              <a:solidFill>
                <a:schemeClr val="accent2"/>
              </a:solidFill>
              <a:prstDash val="sysDot"/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r>
                <a:rPr lang="de-DE" dirty="0" smtClean="0">
                  <a:solidFill>
                    <a:schemeClr val="accent2"/>
                  </a:solidFill>
                  <a:latin typeface="Tele-GroteskNor" pitchFamily="2" charset="0"/>
                </a:rPr>
                <a:t>Client-Seite</a:t>
              </a:r>
              <a:endParaRPr lang="de-DE" dirty="0">
                <a:solidFill>
                  <a:schemeClr val="accent2"/>
                </a:solidFill>
                <a:latin typeface="Tele-GroteskNor" pitchFamily="2" charset="0"/>
              </a:endParaRPr>
            </a:p>
          </p:txBody>
        </p:sp>
        <p:sp>
          <p:nvSpPr>
            <p:cNvPr id="8" name="Ellipse 7"/>
            <p:cNvSpPr/>
            <p:nvPr/>
          </p:nvSpPr>
          <p:spPr>
            <a:xfrm>
              <a:off x="611560" y="908720"/>
              <a:ext cx="3960440" cy="1296144"/>
            </a:xfrm>
            <a:prstGeom prst="ellipse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tIns="0" rtlCol="0" anchor="t"/>
            <a:lstStyle/>
            <a:p>
              <a:pPr algn="ctr"/>
              <a:r>
                <a:rPr lang="de-DE" dirty="0" smtClean="0">
                  <a:solidFill>
                    <a:schemeClr val="bg1">
                      <a:lumMod val="95000"/>
                    </a:schemeClr>
                  </a:solidFill>
                  <a:latin typeface="Tele-GroteskNor" pitchFamily="2" charset="0"/>
                </a:rPr>
                <a:t>Sitzung X</a:t>
              </a:r>
              <a:endParaRPr lang="de-DE" dirty="0">
                <a:solidFill>
                  <a:schemeClr val="bg1">
                    <a:lumMod val="95000"/>
                  </a:schemeClr>
                </a:solidFill>
                <a:latin typeface="Tele-GroteskNor" pitchFamily="2" charset="0"/>
              </a:endParaRPr>
            </a:p>
          </p:txBody>
        </p:sp>
        <p:sp>
          <p:nvSpPr>
            <p:cNvPr id="13" name="Abgerundetes Rechteck 12"/>
            <p:cNvSpPr/>
            <p:nvPr/>
          </p:nvSpPr>
          <p:spPr>
            <a:xfrm>
              <a:off x="882572" y="1297214"/>
              <a:ext cx="1136416" cy="463866"/>
            </a:xfrm>
            <a:prstGeom prst="roundRect">
              <a:avLst/>
            </a:prstGeom>
            <a:gradFill flip="none" rotWithShape="1">
              <a:gsLst>
                <a:gs pos="0">
                  <a:schemeClr val="accent2">
                    <a:lumMod val="40000"/>
                    <a:lumOff val="60000"/>
                  </a:schemeClr>
                </a:gs>
                <a:gs pos="30000">
                  <a:schemeClr val="accent2">
                    <a:lumMod val="60000"/>
                    <a:lumOff val="40000"/>
                  </a:schemeClr>
                </a:gs>
                <a:gs pos="70000">
                  <a:schemeClr val="accent2"/>
                </a:gs>
                <a:gs pos="100000">
                  <a:schemeClr val="accent2">
                    <a:lumMod val="50000"/>
                  </a:schemeClr>
                </a:gs>
              </a:gsLst>
              <a:lin ang="18900000" scaled="1"/>
              <a:tileRect/>
            </a:gradFill>
            <a:ln w="12700">
              <a:solidFill>
                <a:schemeClr val="tx1"/>
              </a:solidFill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600" dirty="0" smtClean="0">
                  <a:latin typeface="Tele-GroteskNor" pitchFamily="2" charset="0"/>
                </a:rPr>
                <a:t>BBB-Nutzer </a:t>
              </a:r>
              <a:r>
                <a:rPr lang="de-DE" sz="1600" dirty="0">
                  <a:latin typeface="Tele-GroteskNor" pitchFamily="2" charset="0"/>
                </a:rPr>
                <a:t>1</a:t>
              </a:r>
            </a:p>
          </p:txBody>
        </p:sp>
        <p:sp>
          <p:nvSpPr>
            <p:cNvPr id="14" name="Abgerundetes Rechteck 13"/>
            <p:cNvSpPr/>
            <p:nvPr/>
          </p:nvSpPr>
          <p:spPr>
            <a:xfrm>
              <a:off x="2059575" y="1582080"/>
              <a:ext cx="1136417" cy="463866"/>
            </a:xfrm>
            <a:prstGeom prst="roundRect">
              <a:avLst/>
            </a:prstGeom>
            <a:gradFill flip="none" rotWithShape="1">
              <a:gsLst>
                <a:gs pos="0">
                  <a:schemeClr val="accent2">
                    <a:lumMod val="40000"/>
                    <a:lumOff val="60000"/>
                  </a:schemeClr>
                </a:gs>
                <a:gs pos="30000">
                  <a:schemeClr val="accent2">
                    <a:lumMod val="60000"/>
                    <a:lumOff val="40000"/>
                  </a:schemeClr>
                </a:gs>
                <a:gs pos="70000">
                  <a:schemeClr val="accent2"/>
                </a:gs>
                <a:gs pos="100000">
                  <a:schemeClr val="accent2">
                    <a:lumMod val="50000"/>
                  </a:schemeClr>
                </a:gs>
              </a:gsLst>
              <a:lin ang="18900000" scaled="1"/>
              <a:tileRect/>
            </a:gradFill>
            <a:ln w="12700">
              <a:solidFill>
                <a:schemeClr val="tx1"/>
              </a:solidFill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600" dirty="0" smtClean="0">
                  <a:latin typeface="Tele-GroteskNor" pitchFamily="2" charset="0"/>
                </a:rPr>
                <a:t>BBB-Nutzer </a:t>
              </a:r>
              <a:r>
                <a:rPr lang="de-DE" sz="1600" dirty="0">
                  <a:latin typeface="Tele-GroteskNor" pitchFamily="2" charset="0"/>
                </a:rPr>
                <a:t>2</a:t>
              </a:r>
            </a:p>
          </p:txBody>
        </p:sp>
        <p:sp>
          <p:nvSpPr>
            <p:cNvPr id="15" name="Abgerundetes Rechteck 14"/>
            <p:cNvSpPr/>
            <p:nvPr/>
          </p:nvSpPr>
          <p:spPr>
            <a:xfrm>
              <a:off x="3236578" y="1324859"/>
              <a:ext cx="1136416" cy="463866"/>
            </a:xfrm>
            <a:prstGeom prst="roundRect">
              <a:avLst/>
            </a:prstGeom>
            <a:gradFill flip="none" rotWithShape="1">
              <a:gsLst>
                <a:gs pos="0">
                  <a:schemeClr val="accent2">
                    <a:lumMod val="40000"/>
                    <a:lumOff val="60000"/>
                  </a:schemeClr>
                </a:gs>
                <a:gs pos="30000">
                  <a:schemeClr val="accent2">
                    <a:lumMod val="60000"/>
                    <a:lumOff val="40000"/>
                  </a:schemeClr>
                </a:gs>
                <a:gs pos="70000">
                  <a:schemeClr val="accent2"/>
                </a:gs>
                <a:gs pos="100000">
                  <a:schemeClr val="accent2">
                    <a:lumMod val="50000"/>
                  </a:schemeClr>
                </a:gs>
              </a:gsLst>
              <a:lin ang="18900000" scaled="1"/>
              <a:tileRect/>
            </a:gradFill>
            <a:ln w="12700">
              <a:solidFill>
                <a:schemeClr val="tx1"/>
              </a:solidFill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600" dirty="0" smtClean="0">
                  <a:latin typeface="Tele-GroteskNor" pitchFamily="2" charset="0"/>
                </a:rPr>
                <a:t>BBB-Nutzer </a:t>
              </a:r>
              <a:r>
                <a:rPr lang="de-DE" sz="1600" dirty="0">
                  <a:latin typeface="Tele-GroteskNor" pitchFamily="2" charset="0"/>
                </a:rPr>
                <a:t>3</a:t>
              </a:r>
            </a:p>
          </p:txBody>
        </p:sp>
      </p:grpSp>
      <p:sp>
        <p:nvSpPr>
          <p:cNvPr id="16" name="Textfeld 15"/>
          <p:cNvSpPr txBox="1"/>
          <p:nvPr/>
        </p:nvSpPr>
        <p:spPr>
          <a:xfrm>
            <a:off x="4860032" y="5044534"/>
            <a:ext cx="2016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smtClean="0">
                <a:solidFill>
                  <a:schemeClr val="accent6"/>
                </a:solidFill>
                <a:latin typeface="Tele-GroteskNor" pitchFamily="2" charset="0"/>
              </a:rPr>
              <a:t>Redis PubSub</a:t>
            </a:r>
            <a:endParaRPr lang="de-DE" dirty="0">
              <a:solidFill>
                <a:schemeClr val="accent6"/>
              </a:solidFill>
              <a:latin typeface="Tele-GroteskNor" pitchFamily="2" charset="0"/>
            </a:endParaRPr>
          </a:p>
        </p:txBody>
      </p:sp>
      <p:sp>
        <p:nvSpPr>
          <p:cNvPr id="17" name="Textfeld 16"/>
          <p:cNvSpPr txBox="1"/>
          <p:nvPr/>
        </p:nvSpPr>
        <p:spPr>
          <a:xfrm>
            <a:off x="7020272" y="2780928"/>
            <a:ext cx="172819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u="sng" dirty="0" smtClean="0">
                <a:latin typeface="Tele-GroteskNor" pitchFamily="2" charset="0"/>
              </a:rPr>
              <a:t>Informationen:</a:t>
            </a:r>
            <a:r>
              <a:rPr lang="de-DE" sz="1400" dirty="0" smtClean="0">
                <a:latin typeface="Tele-GroteskNor" pitchFamily="2" charset="0"/>
              </a:rPr>
              <a:t/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Sitzungen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Benutzer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Chatnachrichten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Präsentationsfolien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Mauszeiger (Cursor)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Umfragen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…</a:t>
            </a:r>
            <a:endParaRPr lang="de-DE" sz="1400" dirty="0">
              <a:latin typeface="Tele-GroteskNor" pitchFamily="2" charset="0"/>
            </a:endParaRPr>
          </a:p>
        </p:txBody>
      </p:sp>
      <p:sp>
        <p:nvSpPr>
          <p:cNvPr id="18" name="Geschweifte Klammer links 17"/>
          <p:cNvSpPr/>
          <p:nvPr/>
        </p:nvSpPr>
        <p:spPr>
          <a:xfrm>
            <a:off x="6876256" y="2780928"/>
            <a:ext cx="288032" cy="1728192"/>
          </a:xfrm>
          <a:prstGeom prst="leftBrac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>
              <a:latin typeface="Tele-GroteskNor" pitchFamily="2" charset="0"/>
            </a:endParaRPr>
          </a:p>
        </p:txBody>
      </p:sp>
      <p:cxnSp>
        <p:nvCxnSpPr>
          <p:cNvPr id="37" name="Gekrümmte Verbindung 21"/>
          <p:cNvCxnSpPr>
            <a:endCxn id="11" idx="3"/>
          </p:cNvCxnSpPr>
          <p:nvPr/>
        </p:nvCxnSpPr>
        <p:spPr>
          <a:xfrm rot="5400000" flipH="1" flipV="1">
            <a:off x="4590002" y="4311098"/>
            <a:ext cx="1548172" cy="1296144"/>
          </a:xfrm>
          <a:prstGeom prst="bentConnector3">
            <a:avLst>
              <a:gd name="adj1" fmla="val 79818"/>
            </a:avLst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Gekrümmte Verbindung 21"/>
          <p:cNvCxnSpPr>
            <a:stCxn id="11" idx="1"/>
            <a:endCxn id="13" idx="2"/>
          </p:cNvCxnSpPr>
          <p:nvPr/>
        </p:nvCxnSpPr>
        <p:spPr>
          <a:xfrm flipH="1" flipV="1">
            <a:off x="5724129" y="1833088"/>
            <a:ext cx="288031" cy="1271876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Gekrümmte Verbindung 21"/>
          <p:cNvCxnSpPr>
            <a:stCxn id="11" idx="1"/>
            <a:endCxn id="14" idx="2"/>
          </p:cNvCxnSpPr>
          <p:nvPr/>
        </p:nvCxnSpPr>
        <p:spPr>
          <a:xfrm flipV="1">
            <a:off x="6012160" y="2117954"/>
            <a:ext cx="756084" cy="987010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Gekrümmte Verbindung 21"/>
          <p:cNvCxnSpPr>
            <a:stCxn id="11" idx="1"/>
            <a:endCxn id="15" idx="2"/>
          </p:cNvCxnSpPr>
          <p:nvPr/>
        </p:nvCxnSpPr>
        <p:spPr>
          <a:xfrm flipV="1">
            <a:off x="6012160" y="1860733"/>
            <a:ext cx="1800200" cy="1244231"/>
          </a:xfrm>
          <a:prstGeom prst="straightConnector1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hteck 28"/>
          <p:cNvSpPr/>
          <p:nvPr/>
        </p:nvSpPr>
        <p:spPr>
          <a:xfrm>
            <a:off x="418218" y="692171"/>
            <a:ext cx="3960439" cy="1872208"/>
          </a:xfrm>
          <a:prstGeom prst="rect">
            <a:avLst/>
          </a:prstGeom>
          <a:ln w="25400">
            <a:solidFill>
              <a:schemeClr val="accent2"/>
            </a:solidFill>
            <a:prstDash val="sysDot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de-DE" dirty="0" smtClean="0">
                <a:solidFill>
                  <a:schemeClr val="accent2"/>
                </a:solidFill>
                <a:latin typeface="Tele-GroteskNor" pitchFamily="2" charset="0"/>
              </a:rPr>
              <a:t>Zu entwickelnde Anwendung</a:t>
            </a:r>
            <a:endParaRPr lang="de-DE" dirty="0">
              <a:solidFill>
                <a:schemeClr val="accent2"/>
              </a:solidFill>
              <a:latin typeface="Tele-GroteskNor" pitchFamily="2" charset="0"/>
            </a:endParaRPr>
          </a:p>
        </p:txBody>
      </p:sp>
      <p:sp>
        <p:nvSpPr>
          <p:cNvPr id="30" name="Ellipse 29"/>
          <p:cNvSpPr/>
          <p:nvPr/>
        </p:nvSpPr>
        <p:spPr>
          <a:xfrm>
            <a:off x="641790" y="1833088"/>
            <a:ext cx="3513293" cy="502209"/>
          </a:xfrm>
          <a:prstGeom prst="ellipse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tIns="0" rtlCol="0" anchor="ctr"/>
          <a:lstStyle/>
          <a:p>
            <a:pPr algn="ctr"/>
            <a:r>
              <a:rPr lang="de-DE" dirty="0" smtClean="0">
                <a:solidFill>
                  <a:schemeClr val="bg1">
                    <a:lumMod val="95000"/>
                  </a:schemeClr>
                </a:solidFill>
                <a:latin typeface="Tele-GroteskNor" pitchFamily="2" charset="0"/>
              </a:rPr>
              <a:t>Script (PHP)</a:t>
            </a:r>
            <a:endParaRPr lang="de-DE" dirty="0">
              <a:solidFill>
                <a:schemeClr val="bg1">
                  <a:lumMod val="95000"/>
                </a:schemeClr>
              </a:solidFill>
              <a:latin typeface="Tele-GroteskNor" pitchFamily="2" charset="0"/>
            </a:endParaRPr>
          </a:p>
        </p:txBody>
      </p:sp>
      <p:sp>
        <p:nvSpPr>
          <p:cNvPr id="31" name="Abgerundetes Rechteck 30"/>
          <p:cNvSpPr/>
          <p:nvPr/>
        </p:nvSpPr>
        <p:spPr>
          <a:xfrm>
            <a:off x="641790" y="1123011"/>
            <a:ext cx="985769" cy="463866"/>
          </a:xfrm>
          <a:prstGeom prst="roundRect">
            <a:avLst/>
          </a:prstGeom>
          <a:gradFill flip="none" rotWithShape="1">
            <a:gsLst>
              <a:gs pos="0">
                <a:schemeClr val="accent2">
                  <a:lumMod val="40000"/>
                  <a:lumOff val="60000"/>
                </a:schemeClr>
              </a:gs>
              <a:gs pos="30000">
                <a:schemeClr val="accent2">
                  <a:lumMod val="60000"/>
                  <a:lumOff val="40000"/>
                </a:schemeClr>
              </a:gs>
              <a:gs pos="70000">
                <a:schemeClr val="accent2"/>
              </a:gs>
              <a:gs pos="100000">
                <a:schemeClr val="accent2">
                  <a:lumMod val="50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 smtClean="0">
                <a:latin typeface="Tele-GroteskNor" pitchFamily="2" charset="0"/>
              </a:rPr>
              <a:t>Nutzer A</a:t>
            </a:r>
            <a:endParaRPr lang="de-DE" sz="1600" dirty="0">
              <a:latin typeface="Tele-GroteskNor" pitchFamily="2" charset="0"/>
            </a:endParaRPr>
          </a:p>
        </p:txBody>
      </p:sp>
      <p:sp>
        <p:nvSpPr>
          <p:cNvPr id="34" name="Abgerundetes Rechteck 33"/>
          <p:cNvSpPr/>
          <p:nvPr/>
        </p:nvSpPr>
        <p:spPr>
          <a:xfrm>
            <a:off x="1905552" y="980728"/>
            <a:ext cx="985769" cy="463866"/>
          </a:xfrm>
          <a:prstGeom prst="roundRect">
            <a:avLst/>
          </a:prstGeom>
          <a:gradFill flip="none" rotWithShape="1">
            <a:gsLst>
              <a:gs pos="0">
                <a:schemeClr val="accent2">
                  <a:lumMod val="40000"/>
                  <a:lumOff val="60000"/>
                </a:schemeClr>
              </a:gs>
              <a:gs pos="30000">
                <a:schemeClr val="accent2">
                  <a:lumMod val="60000"/>
                  <a:lumOff val="40000"/>
                </a:schemeClr>
              </a:gs>
              <a:gs pos="70000">
                <a:schemeClr val="accent2"/>
              </a:gs>
              <a:gs pos="100000">
                <a:schemeClr val="accent2">
                  <a:lumMod val="50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 smtClean="0">
                <a:latin typeface="Tele-GroteskNor" pitchFamily="2" charset="0"/>
              </a:rPr>
              <a:t>Nutzer B</a:t>
            </a:r>
            <a:endParaRPr lang="de-DE" sz="1600" dirty="0">
              <a:latin typeface="Tele-GroteskNor" pitchFamily="2" charset="0"/>
            </a:endParaRPr>
          </a:p>
        </p:txBody>
      </p:sp>
      <p:sp>
        <p:nvSpPr>
          <p:cNvPr id="35" name="Abgerundetes Rechteck 34"/>
          <p:cNvSpPr/>
          <p:nvPr/>
        </p:nvSpPr>
        <p:spPr>
          <a:xfrm>
            <a:off x="3169314" y="1100538"/>
            <a:ext cx="985769" cy="463866"/>
          </a:xfrm>
          <a:prstGeom prst="roundRect">
            <a:avLst/>
          </a:prstGeom>
          <a:gradFill flip="none" rotWithShape="1">
            <a:gsLst>
              <a:gs pos="0">
                <a:schemeClr val="accent2">
                  <a:lumMod val="40000"/>
                  <a:lumOff val="60000"/>
                </a:schemeClr>
              </a:gs>
              <a:gs pos="30000">
                <a:schemeClr val="accent2">
                  <a:lumMod val="60000"/>
                  <a:lumOff val="40000"/>
                </a:schemeClr>
              </a:gs>
              <a:gs pos="70000">
                <a:schemeClr val="accent2"/>
              </a:gs>
              <a:gs pos="100000">
                <a:schemeClr val="accent2">
                  <a:lumMod val="50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 smtClean="0">
                <a:latin typeface="Tele-GroteskNor" pitchFamily="2" charset="0"/>
              </a:rPr>
              <a:t>Nutzer C</a:t>
            </a:r>
            <a:endParaRPr lang="de-DE" sz="1600" dirty="0">
              <a:latin typeface="Tele-GroteskNor" pitchFamily="2" charset="0"/>
            </a:endParaRPr>
          </a:p>
        </p:txBody>
      </p:sp>
      <p:cxnSp>
        <p:nvCxnSpPr>
          <p:cNvPr id="39" name="Gekrümmte Verbindung 21"/>
          <p:cNvCxnSpPr/>
          <p:nvPr/>
        </p:nvCxnSpPr>
        <p:spPr>
          <a:xfrm rot="16200000" flipH="1">
            <a:off x="1594882" y="2936152"/>
            <a:ext cx="3397955" cy="2196246"/>
          </a:xfrm>
          <a:prstGeom prst="bentConnector3">
            <a:avLst/>
          </a:prstGeom>
          <a:ln w="25400"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Gekrümmte Verbindung 21"/>
          <p:cNvCxnSpPr>
            <a:stCxn id="31" idx="2"/>
            <a:endCxn id="30" idx="1"/>
          </p:cNvCxnSpPr>
          <p:nvPr/>
        </p:nvCxnSpPr>
        <p:spPr>
          <a:xfrm>
            <a:off x="1134675" y="1586877"/>
            <a:ext cx="21625" cy="319758"/>
          </a:xfrm>
          <a:prstGeom prst="straightConnector1">
            <a:avLst/>
          </a:prstGeom>
          <a:ln w="25400">
            <a:solidFill>
              <a:srgbClr val="00B050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Gekrümmte Verbindung 21"/>
          <p:cNvCxnSpPr>
            <a:stCxn id="34" idx="2"/>
            <a:endCxn id="30" idx="0"/>
          </p:cNvCxnSpPr>
          <p:nvPr/>
        </p:nvCxnSpPr>
        <p:spPr>
          <a:xfrm>
            <a:off x="2398437" y="1444594"/>
            <a:ext cx="0" cy="388494"/>
          </a:xfrm>
          <a:prstGeom prst="straightConnector1">
            <a:avLst/>
          </a:prstGeom>
          <a:ln w="25400">
            <a:solidFill>
              <a:srgbClr val="00B050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Gekrümmte Verbindung 21"/>
          <p:cNvCxnSpPr>
            <a:stCxn id="35" idx="2"/>
            <a:endCxn id="30" idx="7"/>
          </p:cNvCxnSpPr>
          <p:nvPr/>
        </p:nvCxnSpPr>
        <p:spPr>
          <a:xfrm flipH="1">
            <a:off x="3640573" y="1564404"/>
            <a:ext cx="21626" cy="342231"/>
          </a:xfrm>
          <a:prstGeom prst="straightConnector1">
            <a:avLst/>
          </a:prstGeom>
          <a:ln w="25400">
            <a:solidFill>
              <a:srgbClr val="00B050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Gekrümmte Verbindung 21"/>
          <p:cNvCxnSpPr>
            <a:stCxn id="11" idx="2"/>
            <a:endCxn id="30" idx="4"/>
          </p:cNvCxnSpPr>
          <p:nvPr/>
        </p:nvCxnSpPr>
        <p:spPr>
          <a:xfrm rot="10800000">
            <a:off x="2398438" y="2335298"/>
            <a:ext cx="2821635" cy="1309727"/>
          </a:xfrm>
          <a:prstGeom prst="curvedConnector2">
            <a:avLst/>
          </a:prstGeom>
          <a:ln w="25400"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Rechteck 3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>
              <a:latin typeface="Tele-GroteskNor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013047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/>
          <p:cNvSpPr/>
          <p:nvPr/>
        </p:nvSpPr>
        <p:spPr>
          <a:xfrm>
            <a:off x="251520" y="5733256"/>
            <a:ext cx="8640960" cy="864096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dirty="0" smtClean="0">
                <a:solidFill>
                  <a:schemeClr val="tx2"/>
                </a:solidFill>
                <a:latin typeface="Tele-GroteskNor" pitchFamily="2" charset="0"/>
              </a:rPr>
              <a:t>BigBlueButton Kern</a:t>
            </a:r>
            <a:endParaRPr lang="de-DE" dirty="0">
              <a:solidFill>
                <a:schemeClr val="tx2"/>
              </a:solidFill>
              <a:latin typeface="Tele-GroteskNor" pitchFamily="2" charset="0"/>
            </a:endParaRPr>
          </a:p>
        </p:txBody>
      </p:sp>
      <p:sp>
        <p:nvSpPr>
          <p:cNvPr id="5" name="Rechteck 4"/>
          <p:cNvSpPr/>
          <p:nvPr/>
        </p:nvSpPr>
        <p:spPr>
          <a:xfrm>
            <a:off x="251520" y="260648"/>
            <a:ext cx="8640960" cy="4464496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 anchorCtr="0"/>
          <a:lstStyle/>
          <a:p>
            <a:r>
              <a:rPr lang="de-DE" dirty="0" smtClean="0">
                <a:solidFill>
                  <a:schemeClr val="accent2"/>
                </a:solidFill>
                <a:latin typeface="Tele-GroteskNor" pitchFamily="2" charset="0"/>
              </a:rPr>
              <a:t>HTML5-App</a:t>
            </a:r>
            <a:endParaRPr lang="de-DE" dirty="0">
              <a:solidFill>
                <a:schemeClr val="accent2"/>
              </a:solidFill>
              <a:latin typeface="Tele-GroteskNor" pitchFamily="2" charset="0"/>
            </a:endParaRPr>
          </a:p>
        </p:txBody>
      </p:sp>
      <p:sp>
        <p:nvSpPr>
          <p:cNvPr id="7" name="Rechteck 6"/>
          <p:cNvSpPr/>
          <p:nvPr/>
        </p:nvSpPr>
        <p:spPr>
          <a:xfrm>
            <a:off x="395536" y="2708920"/>
            <a:ext cx="8352928" cy="1872208"/>
          </a:xfrm>
          <a:prstGeom prst="rect">
            <a:avLst/>
          </a:prstGeom>
          <a:ln w="25400">
            <a:solidFill>
              <a:schemeClr val="accent2"/>
            </a:solidFill>
            <a:prstDash val="sysDot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de-DE" dirty="0" smtClean="0">
                <a:solidFill>
                  <a:schemeClr val="accent2"/>
                </a:solidFill>
                <a:latin typeface="Tele-GroteskNor" pitchFamily="2" charset="0"/>
              </a:rPr>
              <a:t>Server-Seite</a:t>
            </a:r>
            <a:endParaRPr lang="de-DE" dirty="0">
              <a:solidFill>
                <a:schemeClr val="accent2"/>
              </a:solidFill>
              <a:latin typeface="Tele-GroteskNor" pitchFamily="2" charset="0"/>
            </a:endParaRPr>
          </a:p>
        </p:txBody>
      </p:sp>
      <p:sp>
        <p:nvSpPr>
          <p:cNvPr id="11" name="Flussdiagramm: Magnetplattenspeicher 10"/>
          <p:cNvSpPr/>
          <p:nvPr/>
        </p:nvSpPr>
        <p:spPr>
          <a:xfrm>
            <a:off x="3779912" y="3398129"/>
            <a:ext cx="1584176" cy="1080120"/>
          </a:xfrm>
          <a:prstGeom prst="flowChartMagneticDisk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 smtClean="0">
                <a:solidFill>
                  <a:schemeClr val="bg1">
                    <a:lumMod val="95000"/>
                  </a:schemeClr>
                </a:solidFill>
                <a:latin typeface="Tele-GroteskNor" pitchFamily="2" charset="0"/>
              </a:rPr>
              <a:t>MongoDB</a:t>
            </a:r>
            <a:endParaRPr lang="de-DE" dirty="0">
              <a:solidFill>
                <a:schemeClr val="bg1">
                  <a:lumMod val="95000"/>
                </a:schemeClr>
              </a:solidFill>
              <a:latin typeface="Tele-GroteskNor" pitchFamily="2" charset="0"/>
            </a:endParaRPr>
          </a:p>
        </p:txBody>
      </p:sp>
      <p:grpSp>
        <p:nvGrpSpPr>
          <p:cNvPr id="79" name="Gruppieren 78"/>
          <p:cNvGrpSpPr/>
          <p:nvPr/>
        </p:nvGrpSpPr>
        <p:grpSpPr>
          <a:xfrm>
            <a:off x="5652120" y="2780928"/>
            <a:ext cx="1872208" cy="1815882"/>
            <a:chOff x="6876256" y="2780928"/>
            <a:chExt cx="1872208" cy="1815882"/>
          </a:xfrm>
        </p:grpSpPr>
        <p:sp>
          <p:nvSpPr>
            <p:cNvPr id="17" name="Textfeld 16"/>
            <p:cNvSpPr txBox="1"/>
            <p:nvPr/>
          </p:nvSpPr>
          <p:spPr>
            <a:xfrm>
              <a:off x="7020272" y="2780928"/>
              <a:ext cx="1728192" cy="18158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1400" u="sng" dirty="0" smtClean="0">
                  <a:latin typeface="Tele-GroteskNor" pitchFamily="2" charset="0"/>
                </a:rPr>
                <a:t>Informationen:</a:t>
              </a:r>
              <a:r>
                <a:rPr lang="de-DE" sz="1400" dirty="0" smtClean="0">
                  <a:latin typeface="Tele-GroteskNor" pitchFamily="2" charset="0"/>
                </a:rPr>
                <a:t/>
              </a:r>
              <a:br>
                <a:rPr lang="de-DE" sz="1400" dirty="0" smtClean="0">
                  <a:latin typeface="Tele-GroteskNor" pitchFamily="2" charset="0"/>
                </a:rPr>
              </a:br>
              <a:r>
                <a:rPr lang="de-DE" sz="1400" dirty="0" smtClean="0">
                  <a:latin typeface="Tele-GroteskNor" pitchFamily="2" charset="0"/>
                </a:rPr>
                <a:t>- Sitzungen</a:t>
              </a:r>
              <a:br>
                <a:rPr lang="de-DE" sz="1400" dirty="0" smtClean="0">
                  <a:latin typeface="Tele-GroteskNor" pitchFamily="2" charset="0"/>
                </a:rPr>
              </a:br>
              <a:r>
                <a:rPr lang="de-DE" sz="1400" dirty="0" smtClean="0">
                  <a:latin typeface="Tele-GroteskNor" pitchFamily="2" charset="0"/>
                </a:rPr>
                <a:t>- Benutzer</a:t>
              </a:r>
              <a:br>
                <a:rPr lang="de-DE" sz="1400" dirty="0" smtClean="0">
                  <a:latin typeface="Tele-GroteskNor" pitchFamily="2" charset="0"/>
                </a:rPr>
              </a:br>
              <a:r>
                <a:rPr lang="de-DE" sz="1400" dirty="0" smtClean="0">
                  <a:latin typeface="Tele-GroteskNor" pitchFamily="2" charset="0"/>
                </a:rPr>
                <a:t>- Chatnachrichten</a:t>
              </a:r>
              <a:br>
                <a:rPr lang="de-DE" sz="1400" dirty="0" smtClean="0">
                  <a:latin typeface="Tele-GroteskNor" pitchFamily="2" charset="0"/>
                </a:rPr>
              </a:br>
              <a:r>
                <a:rPr lang="de-DE" sz="1400" dirty="0" smtClean="0">
                  <a:latin typeface="Tele-GroteskNor" pitchFamily="2" charset="0"/>
                </a:rPr>
                <a:t>- Präsentationsfolien</a:t>
              </a:r>
              <a:br>
                <a:rPr lang="de-DE" sz="1400" dirty="0" smtClean="0">
                  <a:latin typeface="Tele-GroteskNor" pitchFamily="2" charset="0"/>
                </a:rPr>
              </a:br>
              <a:r>
                <a:rPr lang="de-DE" sz="1400" dirty="0" smtClean="0">
                  <a:latin typeface="Tele-GroteskNor" pitchFamily="2" charset="0"/>
                </a:rPr>
                <a:t>- Mauszeiger (Cursor)</a:t>
              </a:r>
              <a:br>
                <a:rPr lang="de-DE" sz="1400" dirty="0" smtClean="0">
                  <a:latin typeface="Tele-GroteskNor" pitchFamily="2" charset="0"/>
                </a:rPr>
              </a:br>
              <a:r>
                <a:rPr lang="de-DE" sz="1400" dirty="0" smtClean="0">
                  <a:latin typeface="Tele-GroteskNor" pitchFamily="2" charset="0"/>
                </a:rPr>
                <a:t>- Umfragen</a:t>
              </a:r>
              <a:br>
                <a:rPr lang="de-DE" sz="1400" dirty="0" smtClean="0">
                  <a:latin typeface="Tele-GroteskNor" pitchFamily="2" charset="0"/>
                </a:rPr>
              </a:br>
              <a:r>
                <a:rPr lang="de-DE" sz="1400" dirty="0" smtClean="0">
                  <a:latin typeface="Tele-GroteskNor" pitchFamily="2" charset="0"/>
                </a:rPr>
                <a:t>- …</a:t>
              </a:r>
              <a:endParaRPr lang="de-DE" sz="1400" dirty="0">
                <a:latin typeface="Tele-GroteskNor" pitchFamily="2" charset="0"/>
              </a:endParaRPr>
            </a:p>
          </p:txBody>
        </p:sp>
        <p:sp>
          <p:nvSpPr>
            <p:cNvPr id="18" name="Geschweifte Klammer links 17"/>
            <p:cNvSpPr/>
            <p:nvPr/>
          </p:nvSpPr>
          <p:spPr>
            <a:xfrm>
              <a:off x="6876256" y="2780928"/>
              <a:ext cx="288032" cy="1728192"/>
            </a:xfrm>
            <a:prstGeom prst="leftBrace">
              <a:avLst>
                <a:gd name="adj1" fmla="val 8333"/>
                <a:gd name="adj2" fmla="val 16864"/>
              </a:avLst>
            </a:prstGeom>
            <a:noFill/>
            <a:ln w="190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>
                <a:solidFill>
                  <a:srgbClr val="00B050"/>
                </a:solidFill>
                <a:latin typeface="Tele-GroteskNor" pitchFamily="2" charset="0"/>
              </a:endParaRPr>
            </a:p>
          </p:txBody>
        </p:sp>
      </p:grpSp>
      <p:sp>
        <p:nvSpPr>
          <p:cNvPr id="29" name="Rechteck 28"/>
          <p:cNvSpPr/>
          <p:nvPr/>
        </p:nvSpPr>
        <p:spPr>
          <a:xfrm>
            <a:off x="418218" y="692171"/>
            <a:ext cx="3960439" cy="1872208"/>
          </a:xfrm>
          <a:prstGeom prst="rect">
            <a:avLst/>
          </a:prstGeom>
          <a:ln w="25400">
            <a:solidFill>
              <a:schemeClr val="accent2"/>
            </a:solidFill>
            <a:prstDash val="sysDot"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de-DE" dirty="0" smtClean="0">
                <a:solidFill>
                  <a:schemeClr val="accent2"/>
                </a:solidFill>
                <a:latin typeface="Tele-GroteskNor" pitchFamily="2" charset="0"/>
              </a:rPr>
              <a:t>Vereinfachter Client</a:t>
            </a:r>
            <a:endParaRPr lang="de-DE" dirty="0">
              <a:solidFill>
                <a:schemeClr val="accent2"/>
              </a:solidFill>
              <a:latin typeface="Tele-GroteskNor" pitchFamily="2" charset="0"/>
            </a:endParaRPr>
          </a:p>
        </p:txBody>
      </p:sp>
      <p:grpSp>
        <p:nvGrpSpPr>
          <p:cNvPr id="32" name="Gruppieren 31"/>
          <p:cNvGrpSpPr/>
          <p:nvPr/>
        </p:nvGrpSpPr>
        <p:grpSpPr>
          <a:xfrm>
            <a:off x="641790" y="692696"/>
            <a:ext cx="8074735" cy="1872208"/>
            <a:chOff x="-4242399" y="836712"/>
            <a:chExt cx="9102431" cy="1872208"/>
          </a:xfrm>
        </p:grpSpPr>
        <p:sp>
          <p:nvSpPr>
            <p:cNvPr id="33" name="Rechteck 32"/>
            <p:cNvSpPr/>
            <p:nvPr/>
          </p:nvSpPr>
          <p:spPr>
            <a:xfrm>
              <a:off x="395536" y="836712"/>
              <a:ext cx="4464496" cy="1872208"/>
            </a:xfrm>
            <a:prstGeom prst="rect">
              <a:avLst/>
            </a:prstGeom>
            <a:ln w="25400">
              <a:solidFill>
                <a:schemeClr val="accent2"/>
              </a:solidFill>
              <a:prstDash val="sysDot"/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r>
                <a:rPr lang="de-DE" dirty="0" smtClean="0">
                  <a:solidFill>
                    <a:schemeClr val="accent2"/>
                  </a:solidFill>
                  <a:latin typeface="Tele-GroteskNor" pitchFamily="2" charset="0"/>
                </a:rPr>
                <a:t>Client-Seite</a:t>
              </a:r>
              <a:endParaRPr lang="de-DE" dirty="0">
                <a:solidFill>
                  <a:schemeClr val="accent2"/>
                </a:solidFill>
                <a:latin typeface="Tele-GroteskNor" pitchFamily="2" charset="0"/>
              </a:endParaRPr>
            </a:p>
          </p:txBody>
        </p:sp>
        <p:sp>
          <p:nvSpPr>
            <p:cNvPr id="36" name="Ellipse 35"/>
            <p:cNvSpPr/>
            <p:nvPr/>
          </p:nvSpPr>
          <p:spPr>
            <a:xfrm>
              <a:off x="-4242399" y="1125269"/>
              <a:ext cx="8814399" cy="1296144"/>
            </a:xfrm>
            <a:prstGeom prst="ellipse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tIns="0" rtlCol="0" anchor="t"/>
            <a:lstStyle/>
            <a:p>
              <a:pPr algn="ctr"/>
              <a:r>
                <a:rPr lang="de-DE" dirty="0" smtClean="0">
                  <a:solidFill>
                    <a:schemeClr val="bg1">
                      <a:lumMod val="95000"/>
                    </a:schemeClr>
                  </a:solidFill>
                  <a:latin typeface="Tele-GroteskNor" pitchFamily="2" charset="0"/>
                </a:rPr>
                <a:t>Sitzung X</a:t>
              </a:r>
              <a:endParaRPr lang="de-DE" dirty="0">
                <a:solidFill>
                  <a:schemeClr val="bg1">
                    <a:lumMod val="95000"/>
                  </a:schemeClr>
                </a:solidFill>
                <a:latin typeface="Tele-GroteskNor" pitchFamily="2" charset="0"/>
              </a:endParaRPr>
            </a:p>
          </p:txBody>
        </p:sp>
        <p:sp>
          <p:nvSpPr>
            <p:cNvPr id="38" name="Abgerundetes Rechteck 37"/>
            <p:cNvSpPr/>
            <p:nvPr/>
          </p:nvSpPr>
          <p:spPr>
            <a:xfrm>
              <a:off x="837402" y="1236942"/>
              <a:ext cx="1136416" cy="463866"/>
            </a:xfrm>
            <a:prstGeom prst="roundRect">
              <a:avLst/>
            </a:prstGeom>
            <a:gradFill flip="none" rotWithShape="1">
              <a:gsLst>
                <a:gs pos="0">
                  <a:schemeClr val="accent2">
                    <a:lumMod val="40000"/>
                    <a:lumOff val="60000"/>
                  </a:schemeClr>
                </a:gs>
                <a:gs pos="30000">
                  <a:schemeClr val="accent2">
                    <a:lumMod val="60000"/>
                    <a:lumOff val="40000"/>
                  </a:schemeClr>
                </a:gs>
                <a:gs pos="70000">
                  <a:schemeClr val="accent2"/>
                </a:gs>
                <a:gs pos="100000">
                  <a:schemeClr val="accent2">
                    <a:lumMod val="50000"/>
                  </a:schemeClr>
                </a:gs>
              </a:gsLst>
              <a:lin ang="18900000" scaled="1"/>
              <a:tileRect/>
            </a:gradFill>
            <a:ln w="12700">
              <a:solidFill>
                <a:schemeClr val="tx1"/>
              </a:solidFill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600" dirty="0" smtClean="0">
                  <a:latin typeface="Tele-GroteskNor" pitchFamily="2" charset="0"/>
                </a:rPr>
                <a:t>BBB-Nutzer </a:t>
              </a:r>
              <a:r>
                <a:rPr lang="de-DE" sz="1600" dirty="0">
                  <a:latin typeface="Tele-GroteskNor" pitchFamily="2" charset="0"/>
                </a:rPr>
                <a:t>1</a:t>
              </a:r>
            </a:p>
          </p:txBody>
        </p:sp>
        <p:sp>
          <p:nvSpPr>
            <p:cNvPr id="41" name="Abgerundetes Rechteck 40"/>
            <p:cNvSpPr/>
            <p:nvPr/>
          </p:nvSpPr>
          <p:spPr>
            <a:xfrm>
              <a:off x="1477690" y="1772291"/>
              <a:ext cx="1136417" cy="463866"/>
            </a:xfrm>
            <a:prstGeom prst="roundRect">
              <a:avLst/>
            </a:prstGeom>
            <a:gradFill flip="none" rotWithShape="1">
              <a:gsLst>
                <a:gs pos="0">
                  <a:schemeClr val="accent2">
                    <a:lumMod val="40000"/>
                    <a:lumOff val="60000"/>
                  </a:schemeClr>
                </a:gs>
                <a:gs pos="30000">
                  <a:schemeClr val="accent2">
                    <a:lumMod val="60000"/>
                    <a:lumOff val="40000"/>
                  </a:schemeClr>
                </a:gs>
                <a:gs pos="70000">
                  <a:schemeClr val="accent2"/>
                </a:gs>
                <a:gs pos="100000">
                  <a:schemeClr val="accent2">
                    <a:lumMod val="50000"/>
                  </a:schemeClr>
                </a:gs>
              </a:gsLst>
              <a:lin ang="18900000" scaled="1"/>
              <a:tileRect/>
            </a:gradFill>
            <a:ln w="12700">
              <a:solidFill>
                <a:schemeClr val="tx1"/>
              </a:solidFill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600" dirty="0" smtClean="0">
                  <a:latin typeface="Tele-GroteskNor" pitchFamily="2" charset="0"/>
                </a:rPr>
                <a:t>BBB-Nutzer </a:t>
              </a:r>
              <a:r>
                <a:rPr lang="de-DE" sz="1600" dirty="0">
                  <a:latin typeface="Tele-GroteskNor" pitchFamily="2" charset="0"/>
                </a:rPr>
                <a:t>2</a:t>
              </a:r>
            </a:p>
          </p:txBody>
        </p:sp>
        <p:sp>
          <p:nvSpPr>
            <p:cNvPr id="43" name="Abgerundetes Rechteck 42"/>
            <p:cNvSpPr/>
            <p:nvPr/>
          </p:nvSpPr>
          <p:spPr>
            <a:xfrm>
              <a:off x="2785548" y="1541408"/>
              <a:ext cx="1136416" cy="463866"/>
            </a:xfrm>
            <a:prstGeom prst="roundRect">
              <a:avLst/>
            </a:prstGeom>
            <a:gradFill flip="none" rotWithShape="1">
              <a:gsLst>
                <a:gs pos="0">
                  <a:schemeClr val="accent2">
                    <a:lumMod val="40000"/>
                    <a:lumOff val="60000"/>
                  </a:schemeClr>
                </a:gs>
                <a:gs pos="30000">
                  <a:schemeClr val="accent2">
                    <a:lumMod val="60000"/>
                    <a:lumOff val="40000"/>
                  </a:schemeClr>
                </a:gs>
                <a:gs pos="70000">
                  <a:schemeClr val="accent2"/>
                </a:gs>
                <a:gs pos="100000">
                  <a:schemeClr val="accent2">
                    <a:lumMod val="50000"/>
                  </a:schemeClr>
                </a:gs>
              </a:gsLst>
              <a:lin ang="18900000" scaled="1"/>
              <a:tileRect/>
            </a:gradFill>
            <a:ln w="12700">
              <a:solidFill>
                <a:schemeClr val="tx1"/>
              </a:solidFill>
            </a:ln>
          </p:spPr>
          <p:style>
            <a:lnRef idx="1">
              <a:schemeClr val="accent2"/>
            </a:lnRef>
            <a:fillRef idx="2">
              <a:schemeClr val="accent2"/>
            </a:fillRef>
            <a:effectRef idx="1">
              <a:schemeClr val="accent2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de-DE" sz="1600" dirty="0" smtClean="0">
                  <a:latin typeface="Tele-GroteskNor" pitchFamily="2" charset="0"/>
                </a:rPr>
                <a:t>BBB-Nutzer </a:t>
              </a:r>
              <a:r>
                <a:rPr lang="de-DE" sz="1600" dirty="0">
                  <a:latin typeface="Tele-GroteskNor" pitchFamily="2" charset="0"/>
                </a:rPr>
                <a:t>3</a:t>
              </a:r>
            </a:p>
          </p:txBody>
        </p:sp>
      </p:grpSp>
      <p:cxnSp>
        <p:nvCxnSpPr>
          <p:cNvPr id="40" name="Gekrümmte Verbindung 21"/>
          <p:cNvCxnSpPr>
            <a:stCxn id="11" idx="1"/>
            <a:endCxn id="38" idx="1"/>
          </p:cNvCxnSpPr>
          <p:nvPr/>
        </p:nvCxnSpPr>
        <p:spPr>
          <a:xfrm rot="5400000" flipH="1" flipV="1">
            <a:off x="3823397" y="2073462"/>
            <a:ext cx="2073270" cy="576064"/>
          </a:xfrm>
          <a:prstGeom prst="curvedConnector2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Gekrümmte Verbindung 21"/>
          <p:cNvCxnSpPr>
            <a:stCxn id="11" idx="1"/>
            <a:endCxn id="43" idx="2"/>
          </p:cNvCxnSpPr>
          <p:nvPr/>
        </p:nvCxnSpPr>
        <p:spPr>
          <a:xfrm rot="5400000" flipH="1" flipV="1">
            <a:off x="5207721" y="1225538"/>
            <a:ext cx="1536871" cy="2808313"/>
          </a:xfrm>
          <a:prstGeom prst="curvedConnector3">
            <a:avLst>
              <a:gd name="adj1" fmla="val 50000"/>
            </a:avLst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Gekrümmte Verbindung 21"/>
          <p:cNvCxnSpPr>
            <a:stCxn id="11" idx="1"/>
            <a:endCxn id="41" idx="1"/>
          </p:cNvCxnSpPr>
          <p:nvPr/>
        </p:nvCxnSpPr>
        <p:spPr>
          <a:xfrm rot="5400000" flipH="1" flipV="1">
            <a:off x="4375070" y="2057139"/>
            <a:ext cx="1537921" cy="1144061"/>
          </a:xfrm>
          <a:prstGeom prst="curvedConnector2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Pfeil nach oben und unten 44"/>
          <p:cNvSpPr/>
          <p:nvPr/>
        </p:nvSpPr>
        <p:spPr>
          <a:xfrm>
            <a:off x="4391980" y="4797152"/>
            <a:ext cx="360040" cy="864096"/>
          </a:xfrm>
          <a:prstGeom prst="upDownArrow">
            <a:avLst/>
          </a:prstGeom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latin typeface="Tele-GroteskNor" pitchFamily="2" charset="0"/>
            </a:endParaRPr>
          </a:p>
        </p:txBody>
      </p:sp>
      <p:sp>
        <p:nvSpPr>
          <p:cNvPr id="46" name="Textfeld 45"/>
          <p:cNvSpPr txBox="1"/>
          <p:nvPr/>
        </p:nvSpPr>
        <p:spPr>
          <a:xfrm>
            <a:off x="4752026" y="5044534"/>
            <a:ext cx="2016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smtClean="0">
                <a:solidFill>
                  <a:schemeClr val="accent6"/>
                </a:solidFill>
                <a:latin typeface="Tele-GroteskNor" pitchFamily="2" charset="0"/>
              </a:rPr>
              <a:t>Redis PubSub</a:t>
            </a:r>
            <a:endParaRPr lang="de-DE" dirty="0">
              <a:solidFill>
                <a:schemeClr val="accent6"/>
              </a:solidFill>
              <a:latin typeface="Tele-GroteskNor" pitchFamily="2" charset="0"/>
            </a:endParaRPr>
          </a:p>
        </p:txBody>
      </p:sp>
      <p:sp>
        <p:nvSpPr>
          <p:cNvPr id="80" name="Geschweifte Klammer links 79"/>
          <p:cNvSpPr/>
          <p:nvPr/>
        </p:nvSpPr>
        <p:spPr>
          <a:xfrm>
            <a:off x="3203848" y="2780928"/>
            <a:ext cx="288032" cy="1169551"/>
          </a:xfrm>
          <a:prstGeom prst="leftBrace">
            <a:avLst>
              <a:gd name="adj1" fmla="val 8333"/>
              <a:gd name="adj2" fmla="val 16864"/>
            </a:avLst>
          </a:prstGeom>
          <a:noFill/>
          <a:ln w="19050">
            <a:solidFill>
              <a:srgbClr val="00B050"/>
            </a:solidFill>
          </a:ln>
          <a:scene3d>
            <a:camera prst="orthographicFront">
              <a:rot lat="0" lon="10799999" rev="0"/>
            </a:camera>
            <a:lightRig rig="threePt" dir="t"/>
          </a:scene3d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>
              <a:solidFill>
                <a:srgbClr val="00B050"/>
              </a:solidFill>
              <a:latin typeface="Tele-GroteskNor" pitchFamily="2" charset="0"/>
            </a:endParaRPr>
          </a:p>
        </p:txBody>
      </p:sp>
      <p:sp>
        <p:nvSpPr>
          <p:cNvPr id="81" name="Textfeld 80"/>
          <p:cNvSpPr txBox="1"/>
          <p:nvPr/>
        </p:nvSpPr>
        <p:spPr>
          <a:xfrm>
            <a:off x="1763688" y="2780928"/>
            <a:ext cx="1728192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u="sng" dirty="0" smtClean="0">
                <a:latin typeface="Tele-GroteskNor" pitchFamily="2" charset="0"/>
              </a:rPr>
              <a:t>Informationen:</a:t>
            </a:r>
            <a:r>
              <a:rPr lang="de-DE" sz="1400" dirty="0" smtClean="0">
                <a:latin typeface="Tele-GroteskNor" pitchFamily="2" charset="0"/>
              </a:rPr>
              <a:t/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Sitzungen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Benutzer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Chatnachrichten</a:t>
            </a:r>
            <a:br>
              <a:rPr lang="de-DE" sz="1400" dirty="0" smtClean="0">
                <a:latin typeface="Tele-GroteskNor" pitchFamily="2" charset="0"/>
              </a:rPr>
            </a:br>
            <a:r>
              <a:rPr lang="de-DE" sz="1400" dirty="0" smtClean="0">
                <a:latin typeface="Tele-GroteskNor" pitchFamily="2" charset="0"/>
              </a:rPr>
              <a:t>- Umfragen</a:t>
            </a:r>
            <a:endParaRPr lang="de-DE" sz="1400" dirty="0">
              <a:latin typeface="Tele-GroteskNor" pitchFamily="2" charset="0"/>
            </a:endParaRPr>
          </a:p>
        </p:txBody>
      </p:sp>
      <p:sp>
        <p:nvSpPr>
          <p:cNvPr id="31" name="Abgerundetes Rechteck 30"/>
          <p:cNvSpPr/>
          <p:nvPr/>
        </p:nvSpPr>
        <p:spPr>
          <a:xfrm>
            <a:off x="1137959" y="1397393"/>
            <a:ext cx="985769" cy="463866"/>
          </a:xfrm>
          <a:prstGeom prst="roundRect">
            <a:avLst/>
          </a:prstGeom>
          <a:gradFill flip="none" rotWithShape="1">
            <a:gsLst>
              <a:gs pos="0">
                <a:schemeClr val="accent2">
                  <a:lumMod val="40000"/>
                  <a:lumOff val="60000"/>
                </a:schemeClr>
              </a:gs>
              <a:gs pos="30000">
                <a:schemeClr val="accent2">
                  <a:lumMod val="60000"/>
                  <a:lumOff val="40000"/>
                </a:schemeClr>
              </a:gs>
              <a:gs pos="70000">
                <a:schemeClr val="accent2"/>
              </a:gs>
              <a:gs pos="100000">
                <a:schemeClr val="accent2">
                  <a:lumMod val="50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 smtClean="0">
                <a:latin typeface="Tele-GroteskNor" pitchFamily="2" charset="0"/>
              </a:rPr>
              <a:t>BBB-Nutzer 4</a:t>
            </a:r>
            <a:endParaRPr lang="de-DE" sz="1600" dirty="0">
              <a:latin typeface="Tele-GroteskNor" pitchFamily="2" charset="0"/>
            </a:endParaRPr>
          </a:p>
        </p:txBody>
      </p:sp>
      <p:sp>
        <p:nvSpPr>
          <p:cNvPr id="34" name="Abgerundetes Rechteck 33"/>
          <p:cNvSpPr/>
          <p:nvPr/>
        </p:nvSpPr>
        <p:spPr>
          <a:xfrm>
            <a:off x="2267744" y="1629326"/>
            <a:ext cx="985769" cy="463866"/>
          </a:xfrm>
          <a:prstGeom prst="roundRect">
            <a:avLst/>
          </a:prstGeom>
          <a:gradFill flip="none" rotWithShape="1">
            <a:gsLst>
              <a:gs pos="0">
                <a:schemeClr val="accent2">
                  <a:lumMod val="40000"/>
                  <a:lumOff val="60000"/>
                </a:schemeClr>
              </a:gs>
              <a:gs pos="30000">
                <a:schemeClr val="accent2">
                  <a:lumMod val="60000"/>
                  <a:lumOff val="40000"/>
                </a:schemeClr>
              </a:gs>
              <a:gs pos="70000">
                <a:schemeClr val="accent2"/>
              </a:gs>
              <a:gs pos="100000">
                <a:schemeClr val="accent2">
                  <a:lumMod val="50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 smtClean="0">
                <a:latin typeface="Tele-GroteskNor" pitchFamily="2" charset="0"/>
              </a:rPr>
              <a:t>BBB-Nutzer 5</a:t>
            </a:r>
            <a:endParaRPr lang="de-DE" sz="1600" dirty="0">
              <a:latin typeface="Tele-GroteskNor" pitchFamily="2" charset="0"/>
            </a:endParaRPr>
          </a:p>
        </p:txBody>
      </p:sp>
      <p:sp>
        <p:nvSpPr>
          <p:cNvPr id="35" name="Abgerundetes Rechteck 34"/>
          <p:cNvSpPr/>
          <p:nvPr/>
        </p:nvSpPr>
        <p:spPr>
          <a:xfrm>
            <a:off x="2938159" y="1092926"/>
            <a:ext cx="985769" cy="463866"/>
          </a:xfrm>
          <a:prstGeom prst="roundRect">
            <a:avLst/>
          </a:prstGeom>
          <a:gradFill flip="none" rotWithShape="1">
            <a:gsLst>
              <a:gs pos="0">
                <a:schemeClr val="accent2">
                  <a:lumMod val="40000"/>
                  <a:lumOff val="60000"/>
                </a:schemeClr>
              </a:gs>
              <a:gs pos="30000">
                <a:schemeClr val="accent2">
                  <a:lumMod val="60000"/>
                  <a:lumOff val="40000"/>
                </a:schemeClr>
              </a:gs>
              <a:gs pos="70000">
                <a:schemeClr val="accent2"/>
              </a:gs>
              <a:gs pos="100000">
                <a:schemeClr val="accent2">
                  <a:lumMod val="50000"/>
                </a:schemeClr>
              </a:gs>
            </a:gsLst>
            <a:lin ang="18900000" scaled="1"/>
            <a:tileRect/>
          </a:gradFill>
          <a:ln w="12700">
            <a:solidFill>
              <a:schemeClr val="tx1"/>
            </a:solidFill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 smtClean="0">
                <a:latin typeface="Tele-GroteskNor" pitchFamily="2" charset="0"/>
              </a:rPr>
              <a:t>BBB-Nutzer 6</a:t>
            </a:r>
            <a:endParaRPr lang="de-DE" sz="1600" dirty="0">
              <a:latin typeface="Tele-GroteskNor" pitchFamily="2" charset="0"/>
            </a:endParaRPr>
          </a:p>
        </p:txBody>
      </p:sp>
      <p:cxnSp>
        <p:nvCxnSpPr>
          <p:cNvPr id="93" name="Gekrümmte Verbindung 21"/>
          <p:cNvCxnSpPr>
            <a:stCxn id="11" idx="1"/>
            <a:endCxn id="35" idx="3"/>
          </p:cNvCxnSpPr>
          <p:nvPr/>
        </p:nvCxnSpPr>
        <p:spPr>
          <a:xfrm rot="16200000" flipV="1">
            <a:off x="3211329" y="2037458"/>
            <a:ext cx="2073270" cy="648072"/>
          </a:xfrm>
          <a:prstGeom prst="curvedConnector2">
            <a:avLst/>
          </a:prstGeom>
          <a:ln w="25400"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Gekrümmte Verbindung 21"/>
          <p:cNvCxnSpPr>
            <a:endCxn id="34" idx="3"/>
          </p:cNvCxnSpPr>
          <p:nvPr/>
        </p:nvCxnSpPr>
        <p:spPr>
          <a:xfrm rot="16200000" flipV="1">
            <a:off x="3160536" y="1954236"/>
            <a:ext cx="1504444" cy="1318489"/>
          </a:xfrm>
          <a:prstGeom prst="curvedConnector2">
            <a:avLst/>
          </a:prstGeom>
          <a:ln w="25400"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Gekrümmte Verbindung 21"/>
          <p:cNvCxnSpPr>
            <a:stCxn id="11" idx="1"/>
            <a:endCxn id="31" idx="2"/>
          </p:cNvCxnSpPr>
          <p:nvPr/>
        </p:nvCxnSpPr>
        <p:spPr>
          <a:xfrm rot="16200000" flipV="1">
            <a:off x="2332987" y="1159116"/>
            <a:ext cx="1536870" cy="2941156"/>
          </a:xfrm>
          <a:prstGeom prst="curvedConnector3">
            <a:avLst>
              <a:gd name="adj1" fmla="val 50000"/>
            </a:avLst>
          </a:prstGeom>
          <a:ln w="25400"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hteck 29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>
              <a:latin typeface="Tele-GroteskNor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290138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uppieren 7"/>
          <p:cNvGrpSpPr/>
          <p:nvPr/>
        </p:nvGrpSpPr>
        <p:grpSpPr>
          <a:xfrm>
            <a:off x="4067944" y="2492896"/>
            <a:ext cx="1440160" cy="1537267"/>
            <a:chOff x="6660232" y="2174999"/>
            <a:chExt cx="1440160" cy="1537267"/>
          </a:xfrm>
        </p:grpSpPr>
        <p:pic>
          <p:nvPicPr>
            <p:cNvPr id="7" name="Grafik 6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60232" y="2492896"/>
              <a:ext cx="1219370" cy="1219370"/>
            </a:xfrm>
            <a:prstGeom prst="rect">
              <a:avLst/>
            </a:prstGeom>
            <a:ln w="12700">
              <a:solidFill>
                <a:schemeClr val="tx1"/>
              </a:solidFill>
            </a:ln>
          </p:spPr>
        </p:pic>
        <p:pic>
          <p:nvPicPr>
            <p:cNvPr id="1030" name="Picture 6" descr="Datei:Bbb logo.png"/>
            <p:cNvPicPr>
              <a:picLocks noChangeAspect="1" noChangeArrowheads="1"/>
            </p:cNvPicPr>
            <p:nvPr/>
          </p:nvPicPr>
          <p:blipFill rotWithShape="1">
            <a:blip r:embed="rId3">
              <a:clrChange>
                <a:clrFrom>
                  <a:srgbClr val="000000">
                    <a:alpha val="0"/>
                  </a:srgbClr>
                </a:clrFrom>
                <a:clrTo>
                  <a:srgbClr val="000000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75077"/>
            <a:stretch/>
          </p:blipFill>
          <p:spPr bwMode="auto">
            <a:xfrm>
              <a:off x="7452320" y="2174999"/>
              <a:ext cx="648072" cy="63579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5" name="Gruppieren 14"/>
          <p:cNvGrpSpPr/>
          <p:nvPr/>
        </p:nvGrpSpPr>
        <p:grpSpPr>
          <a:xfrm>
            <a:off x="827584" y="951008"/>
            <a:ext cx="7481701" cy="1368152"/>
            <a:chOff x="827584" y="951008"/>
            <a:chExt cx="7481701" cy="1368152"/>
          </a:xfrm>
        </p:grpSpPr>
        <p:grpSp>
          <p:nvGrpSpPr>
            <p:cNvPr id="14" name="Gruppieren 13"/>
            <p:cNvGrpSpPr/>
            <p:nvPr/>
          </p:nvGrpSpPr>
          <p:grpSpPr>
            <a:xfrm>
              <a:off x="5580112" y="951008"/>
              <a:ext cx="2729173" cy="1368152"/>
              <a:chOff x="899592" y="944724"/>
              <a:chExt cx="2729173" cy="1368152"/>
            </a:xfrm>
          </p:grpSpPr>
          <p:sp>
            <p:nvSpPr>
              <p:cNvPr id="9" name="Rechteck 8"/>
              <p:cNvSpPr/>
              <p:nvPr/>
            </p:nvSpPr>
            <p:spPr>
              <a:xfrm>
                <a:off x="899592" y="944724"/>
                <a:ext cx="2729173" cy="1368152"/>
              </a:xfrm>
              <a:prstGeom prst="rect">
                <a:avLst/>
              </a:prstGeom>
              <a:solidFill>
                <a:srgbClr val="66CCFF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pic>
            <p:nvPicPr>
              <p:cNvPr id="5" name="Grafik 4"/>
              <p:cNvPicPr>
                <a:picLocks noChangeAspect="1"/>
              </p:cNvPicPr>
              <p:nvPr/>
            </p:nvPicPr>
            <p:blipFill>
              <a:blip r:embed="rId4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71600" y="1024597"/>
                <a:ext cx="1219200" cy="1219200"/>
              </a:xfrm>
              <a:prstGeom prst="rect">
                <a:avLst/>
              </a:prstGeom>
            </p:spPr>
          </p:pic>
          <p:sp>
            <p:nvSpPr>
              <p:cNvPr id="10" name="Plus 9"/>
              <p:cNvSpPr/>
              <p:nvPr/>
            </p:nvSpPr>
            <p:spPr>
              <a:xfrm>
                <a:off x="2195736" y="1340768"/>
                <a:ext cx="509628" cy="505457"/>
              </a:xfrm>
              <a:prstGeom prst="mathPlus">
                <a:avLst/>
              </a:prstGeom>
              <a:noFill/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pic>
            <p:nvPicPr>
              <p:cNvPr id="4" name="Grafik 3"/>
              <p:cNvPicPr>
                <a:picLocks noChangeAspect="1"/>
              </p:cNvPicPr>
              <p:nvPr/>
            </p:nvPicPr>
            <p:blipFill>
              <a:blip r:embed="rId5" cstate="print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661132" y="1144983"/>
                <a:ext cx="967633" cy="967633"/>
              </a:xfrm>
              <a:prstGeom prst="rect">
                <a:avLst/>
              </a:prstGeom>
            </p:spPr>
          </p:pic>
        </p:grpSp>
        <p:grpSp>
          <p:nvGrpSpPr>
            <p:cNvPr id="11" name="Gruppieren 10"/>
            <p:cNvGrpSpPr/>
            <p:nvPr/>
          </p:nvGrpSpPr>
          <p:grpSpPr>
            <a:xfrm>
              <a:off x="3995936" y="951008"/>
              <a:ext cx="1368152" cy="1368152"/>
              <a:chOff x="899592" y="2780928"/>
              <a:chExt cx="1368152" cy="1368152"/>
            </a:xfrm>
          </p:grpSpPr>
          <p:sp>
            <p:nvSpPr>
              <p:cNvPr id="16" name="Rechteck 15"/>
              <p:cNvSpPr/>
              <p:nvPr/>
            </p:nvSpPr>
            <p:spPr>
              <a:xfrm>
                <a:off x="899592" y="2780928"/>
                <a:ext cx="1368152" cy="1368152"/>
              </a:xfrm>
              <a:prstGeom prst="rect">
                <a:avLst/>
              </a:prstGeom>
              <a:solidFill>
                <a:srgbClr val="99FF99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pic>
            <p:nvPicPr>
              <p:cNvPr id="13" name="Grafik 12"/>
              <p:cNvPicPr>
                <a:picLocks noChangeAspect="1"/>
              </p:cNvPicPr>
              <p:nvPr/>
            </p:nvPicPr>
            <p:blipFill>
              <a:blip r:embed="rId4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71600" y="2855404"/>
                <a:ext cx="1219200" cy="1219200"/>
              </a:xfrm>
              <a:prstGeom prst="rect">
                <a:avLst/>
              </a:prstGeom>
            </p:spPr>
          </p:pic>
        </p:grpSp>
        <p:grpSp>
          <p:nvGrpSpPr>
            <p:cNvPr id="19" name="Gruppieren 18"/>
            <p:cNvGrpSpPr/>
            <p:nvPr/>
          </p:nvGrpSpPr>
          <p:grpSpPr>
            <a:xfrm>
              <a:off x="2411760" y="951008"/>
              <a:ext cx="1368152" cy="1368152"/>
              <a:chOff x="899592" y="2780928"/>
              <a:chExt cx="1368152" cy="1368152"/>
            </a:xfrm>
          </p:grpSpPr>
          <p:sp>
            <p:nvSpPr>
              <p:cNvPr id="21" name="Rechteck 20"/>
              <p:cNvSpPr/>
              <p:nvPr/>
            </p:nvSpPr>
            <p:spPr>
              <a:xfrm>
                <a:off x="899592" y="2780928"/>
                <a:ext cx="1368152" cy="1368152"/>
              </a:xfrm>
              <a:prstGeom prst="rect">
                <a:avLst/>
              </a:prstGeom>
              <a:solidFill>
                <a:srgbClr val="FF7C80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pic>
            <p:nvPicPr>
              <p:cNvPr id="20" name="Grafik 19"/>
              <p:cNvPicPr>
                <a:picLocks noChangeAspect="1"/>
              </p:cNvPicPr>
              <p:nvPr/>
            </p:nvPicPr>
            <p:blipFill>
              <a:blip r:embed="rId4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71600" y="2855404"/>
                <a:ext cx="1219200" cy="1219200"/>
              </a:xfrm>
              <a:prstGeom prst="rect">
                <a:avLst/>
              </a:prstGeom>
            </p:spPr>
          </p:pic>
        </p:grpSp>
        <p:grpSp>
          <p:nvGrpSpPr>
            <p:cNvPr id="22" name="Gruppieren 21"/>
            <p:cNvGrpSpPr/>
            <p:nvPr/>
          </p:nvGrpSpPr>
          <p:grpSpPr>
            <a:xfrm>
              <a:off x="827584" y="951008"/>
              <a:ext cx="1368152" cy="1368152"/>
              <a:chOff x="899592" y="2780928"/>
              <a:chExt cx="1368152" cy="1368152"/>
            </a:xfrm>
          </p:grpSpPr>
          <p:sp>
            <p:nvSpPr>
              <p:cNvPr id="24" name="Rechteck 23"/>
              <p:cNvSpPr/>
              <p:nvPr/>
            </p:nvSpPr>
            <p:spPr>
              <a:xfrm>
                <a:off x="899592" y="2780928"/>
                <a:ext cx="1368152" cy="1368152"/>
              </a:xfrm>
              <a:prstGeom prst="rect">
                <a:avLst/>
              </a:prstGeom>
              <a:solidFill>
                <a:srgbClr val="FFFF99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  <p:pic>
            <p:nvPicPr>
              <p:cNvPr id="23" name="Grafik 22"/>
              <p:cNvPicPr>
                <a:picLocks noChangeAspect="1"/>
              </p:cNvPicPr>
              <p:nvPr/>
            </p:nvPicPr>
            <p:blipFill>
              <a:blip r:embed="rId4">
                <a:clrChange>
                  <a:clrFrom>
                    <a:srgbClr val="FFFFFF"/>
                  </a:clrFrom>
                  <a:clrTo>
                    <a:srgbClr val="FFFFFF">
                      <a:alpha val="0"/>
                    </a:srgbClr>
                  </a:clrTo>
                </a:clrChange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71600" y="2855404"/>
                <a:ext cx="1219200" cy="1219200"/>
              </a:xfrm>
              <a:prstGeom prst="rect">
                <a:avLst/>
              </a:prstGeom>
            </p:spPr>
          </p:pic>
        </p:grpSp>
      </p:grpSp>
      <p:cxnSp>
        <p:nvCxnSpPr>
          <p:cNvPr id="18" name="Gerade Verbindung mit Pfeil 17"/>
          <p:cNvCxnSpPr>
            <a:stCxn id="5" idx="2"/>
            <a:endCxn id="7" idx="3"/>
          </p:cNvCxnSpPr>
          <p:nvPr/>
        </p:nvCxnSpPr>
        <p:spPr>
          <a:xfrm flipH="1">
            <a:off x="5287314" y="2250081"/>
            <a:ext cx="974406" cy="1170397"/>
          </a:xfrm>
          <a:prstGeom prst="straightConnector1">
            <a:avLst/>
          </a:prstGeom>
          <a:ln w="12700">
            <a:solidFill>
              <a:srgbClr val="E20074"/>
            </a:solidFill>
            <a:headEnd type="stealth" w="lg" len="lg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Gerade Verbindung mit Pfeil 30"/>
          <p:cNvCxnSpPr>
            <a:stCxn id="4" idx="2"/>
            <a:endCxn id="7" idx="3"/>
          </p:cNvCxnSpPr>
          <p:nvPr/>
        </p:nvCxnSpPr>
        <p:spPr>
          <a:xfrm flipH="1">
            <a:off x="5287314" y="2118900"/>
            <a:ext cx="2538155" cy="1301578"/>
          </a:xfrm>
          <a:prstGeom prst="straightConnector1">
            <a:avLst/>
          </a:prstGeom>
          <a:ln w="12700">
            <a:solidFill>
              <a:srgbClr val="E20074"/>
            </a:solidFill>
            <a:headEnd type="stealth" w="lg" len="lg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Gerade Verbindung mit Pfeil 36"/>
          <p:cNvCxnSpPr>
            <a:stCxn id="16" idx="2"/>
            <a:endCxn id="7" idx="0"/>
          </p:cNvCxnSpPr>
          <p:nvPr/>
        </p:nvCxnSpPr>
        <p:spPr>
          <a:xfrm flipH="1">
            <a:off x="4677629" y="2319160"/>
            <a:ext cx="2383" cy="491633"/>
          </a:xfrm>
          <a:prstGeom prst="straightConnector1">
            <a:avLst/>
          </a:prstGeom>
          <a:ln w="12700">
            <a:solidFill>
              <a:srgbClr val="E20074"/>
            </a:solidFill>
            <a:headEnd type="stealth" w="lg" len="lg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Gerade Verbindung mit Pfeil 40"/>
          <p:cNvCxnSpPr>
            <a:stCxn id="21" idx="2"/>
            <a:endCxn id="7" idx="1"/>
          </p:cNvCxnSpPr>
          <p:nvPr/>
        </p:nvCxnSpPr>
        <p:spPr>
          <a:xfrm>
            <a:off x="3095836" y="2319160"/>
            <a:ext cx="972108" cy="1101318"/>
          </a:xfrm>
          <a:prstGeom prst="straightConnector1">
            <a:avLst/>
          </a:prstGeom>
          <a:ln w="12700">
            <a:solidFill>
              <a:srgbClr val="E20074"/>
            </a:solidFill>
            <a:headEnd type="stealth" w="lg" len="lg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Gerade Verbindung mit Pfeil 43"/>
          <p:cNvCxnSpPr>
            <a:stCxn id="24" idx="2"/>
            <a:endCxn id="7" idx="1"/>
          </p:cNvCxnSpPr>
          <p:nvPr/>
        </p:nvCxnSpPr>
        <p:spPr>
          <a:xfrm>
            <a:off x="1511660" y="2319160"/>
            <a:ext cx="2556284" cy="1101318"/>
          </a:xfrm>
          <a:prstGeom prst="straightConnector1">
            <a:avLst/>
          </a:prstGeom>
          <a:ln w="12700">
            <a:solidFill>
              <a:srgbClr val="E20074"/>
            </a:solidFill>
            <a:headEnd type="stealth" w="lg" len="lg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8" name="Gruppieren 47"/>
          <p:cNvGrpSpPr/>
          <p:nvPr/>
        </p:nvGrpSpPr>
        <p:grpSpPr>
          <a:xfrm>
            <a:off x="1277634" y="2924944"/>
            <a:ext cx="918102" cy="763700"/>
            <a:chOff x="1221878" y="3128690"/>
            <a:chExt cx="918102" cy="763700"/>
          </a:xfrm>
        </p:grpSpPr>
        <p:sp>
          <p:nvSpPr>
            <p:cNvPr id="47" name="Rechteck 46"/>
            <p:cNvSpPr/>
            <p:nvPr/>
          </p:nvSpPr>
          <p:spPr>
            <a:xfrm>
              <a:off x="1221878" y="3128690"/>
              <a:ext cx="918102" cy="161673"/>
            </a:xfrm>
            <a:prstGeom prst="rect">
              <a:avLst/>
            </a:prstGeom>
            <a:solidFill>
              <a:srgbClr val="FFFF99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400" dirty="0" smtClean="0">
                  <a:solidFill>
                    <a:sysClr val="windowText" lastClr="000000"/>
                  </a:solidFill>
                </a:rPr>
                <a:t>Raum 1</a:t>
              </a:r>
              <a:endParaRPr lang="de-DE" sz="1400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1" name="Rechteck 50"/>
            <p:cNvSpPr/>
            <p:nvPr/>
          </p:nvSpPr>
          <p:spPr>
            <a:xfrm>
              <a:off x="1221878" y="3333281"/>
              <a:ext cx="918102" cy="161673"/>
            </a:xfrm>
            <a:prstGeom prst="rect">
              <a:avLst/>
            </a:prstGeom>
            <a:solidFill>
              <a:srgbClr val="FF7C80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400" dirty="0" smtClean="0">
                  <a:solidFill>
                    <a:sysClr val="windowText" lastClr="000000"/>
                  </a:solidFill>
                </a:rPr>
                <a:t>Raum 2</a:t>
              </a:r>
              <a:endParaRPr lang="de-DE" sz="1400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2" name="Rechteck 51"/>
            <p:cNvSpPr/>
            <p:nvPr/>
          </p:nvSpPr>
          <p:spPr>
            <a:xfrm>
              <a:off x="1221878" y="3531999"/>
              <a:ext cx="918102" cy="161673"/>
            </a:xfrm>
            <a:prstGeom prst="rect">
              <a:avLst/>
            </a:prstGeom>
            <a:solidFill>
              <a:srgbClr val="99FF99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400" dirty="0" smtClean="0">
                  <a:solidFill>
                    <a:sysClr val="windowText" lastClr="000000"/>
                  </a:solidFill>
                </a:rPr>
                <a:t>Raum 3</a:t>
              </a:r>
              <a:endParaRPr lang="de-DE" sz="1400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53" name="Rechteck 52"/>
            <p:cNvSpPr/>
            <p:nvPr/>
          </p:nvSpPr>
          <p:spPr>
            <a:xfrm>
              <a:off x="1221878" y="3730717"/>
              <a:ext cx="918102" cy="161673"/>
            </a:xfrm>
            <a:prstGeom prst="rect">
              <a:avLst/>
            </a:prstGeom>
            <a:solidFill>
              <a:srgbClr val="66CCFF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1400" dirty="0" smtClean="0">
                  <a:solidFill>
                    <a:sysClr val="windowText" lastClr="000000"/>
                  </a:solidFill>
                </a:rPr>
                <a:t>Raum 4</a:t>
              </a:r>
              <a:endParaRPr lang="de-DE" sz="1400" dirty="0">
                <a:solidFill>
                  <a:sysClr val="windowText" lastClr="00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85803368"/>
      </p:ext>
    </p:extLst>
  </p:cSld>
  <p:clrMapOvr>
    <a:masterClrMapping/>
  </p:clrMapOvr>
</p:sld>
</file>

<file path=ppt/theme/theme1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135</Words>
  <Application>Microsoft Office PowerPoint</Application>
  <PresentationFormat>Bildschirmpräsentation (4:3)</PresentationFormat>
  <Paragraphs>76</Paragraphs>
  <Slides>6</Slides>
  <Notes>0</Notes>
  <HiddenSlides>1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6</vt:i4>
      </vt:variant>
    </vt:vector>
  </HeadingPairs>
  <TitlesOfParts>
    <vt:vector size="10" baseType="lpstr">
      <vt:lpstr>Arial</vt:lpstr>
      <vt:lpstr>Calibri</vt:lpstr>
      <vt:lpstr>Tele-GroteskNor</vt:lpstr>
      <vt:lpstr>Larissa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Luise Kaufmann</dc:creator>
  <cp:lastModifiedBy>Arbeit</cp:lastModifiedBy>
  <cp:revision>58</cp:revision>
  <dcterms:created xsi:type="dcterms:W3CDTF">2016-07-27T12:07:42Z</dcterms:created>
  <dcterms:modified xsi:type="dcterms:W3CDTF">2017-02-17T10:27:48Z</dcterms:modified>
</cp:coreProperties>
</file>