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2" r:id="rId9"/>
  </p:sldIdLst>
  <p:sldSz cx="9144000" cy="6858000" type="screen4x3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20074"/>
    <a:srgbClr val="66CCFF"/>
    <a:srgbClr val="990099"/>
    <a:srgbClr val="FF7C80"/>
    <a:srgbClr val="FFFF99"/>
    <a:srgbClr val="FFFF00"/>
    <a:srgbClr val="99FF99"/>
    <a:srgbClr val="00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84" d="100"/>
          <a:sy n="84" d="100"/>
        </p:scale>
        <p:origin x="1426" y="77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 smtClean="0"/>
              <a:t>Formatvorlage des Untertitelmasters durch Klicken bearbeiten</a:t>
            </a:r>
            <a:endParaRPr lang="de-DE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7EEA7-7CF7-4A21-92C8-3CFB69AD4175}" type="datetimeFigureOut">
              <a:rPr lang="de-DE" smtClean="0"/>
              <a:t>03.03.2017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AC56A-6D16-4296-AB1F-BFC087679F0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433449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7EEA7-7CF7-4A21-92C8-3CFB69AD4175}" type="datetimeFigureOut">
              <a:rPr lang="de-DE" smtClean="0"/>
              <a:t>03.03.2017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AC56A-6D16-4296-AB1F-BFC087679F0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74557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 smtClean="0"/>
              <a:t>Textmasterformat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7EEA7-7CF7-4A21-92C8-3CFB69AD4175}" type="datetimeFigureOut">
              <a:rPr lang="de-DE" smtClean="0"/>
              <a:t>03.03.2017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AC56A-6D16-4296-AB1F-BFC087679F0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284924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7EEA7-7CF7-4A21-92C8-3CFB69AD4175}" type="datetimeFigureOut">
              <a:rPr lang="de-DE" smtClean="0"/>
              <a:t>03.03.2017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AC56A-6D16-4296-AB1F-BFC087679F0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428658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smtClean="0"/>
              <a:t>Textmasterformat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smtClean="0"/>
              <a:t>Textmasterformat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7EEA7-7CF7-4A21-92C8-3CFB69AD4175}" type="datetimeFigureOut">
              <a:rPr lang="de-DE" smtClean="0"/>
              <a:t>03.03.2017</a:t>
            </a:fld>
            <a:endParaRPr lang="de-DE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AC56A-6D16-4296-AB1F-BFC087679F0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326125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7EEA7-7CF7-4A21-92C8-3CFB69AD4175}" type="datetimeFigureOut">
              <a:rPr lang="de-DE" smtClean="0"/>
              <a:t>03.03.2017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AC56A-6D16-4296-AB1F-BFC087679F0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424059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7EEA7-7CF7-4A21-92C8-3CFB69AD4175}" type="datetimeFigureOut">
              <a:rPr lang="de-DE" smtClean="0"/>
              <a:t>03.03.2017</a:t>
            </a:fld>
            <a:endParaRPr lang="de-DE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AC56A-6D16-4296-AB1F-BFC087679F0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834880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 smtClean="0"/>
              <a:t>Textmasterformat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7EEA7-7CF7-4A21-92C8-3CFB69AD4175}" type="datetimeFigureOut">
              <a:rPr lang="de-DE" smtClean="0"/>
              <a:t>03.03.2017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AC56A-6D16-4296-AB1F-BFC087679F0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874276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 smtClean="0"/>
              <a:t>Textmasterformat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7EEA7-7CF7-4A21-92C8-3CFB69AD4175}" type="datetimeFigureOut">
              <a:rPr lang="de-DE" smtClean="0"/>
              <a:t>03.03.2017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AC56A-6D16-4296-AB1F-BFC087679F0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647942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7EEA7-7CF7-4A21-92C8-3CFB69AD4175}" type="datetimeFigureOut">
              <a:rPr lang="de-DE" smtClean="0"/>
              <a:t>03.03.2017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AC56A-6D16-4296-AB1F-BFC087679F0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155913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7EEA7-7CF7-4A21-92C8-3CFB69AD4175}" type="datetimeFigureOut">
              <a:rPr lang="de-DE" smtClean="0"/>
              <a:t>03.03.2017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AC56A-6D16-4296-AB1F-BFC087679F0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881225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A7EEA7-7CF7-4A21-92C8-3CFB69AD4175}" type="datetimeFigureOut">
              <a:rPr lang="de-DE" smtClean="0"/>
              <a:t>03.03.2017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DAC56A-6D16-4296-AB1F-BFC087679F0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114961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jpeg"/><Relationship Id="rId4" Type="http://schemas.openxmlformats.org/officeDocument/2006/relationships/image" Target="../media/image3.jpeg"/><Relationship Id="rId9" Type="http://schemas.openxmlformats.org/officeDocument/2006/relationships/image" Target="../media/image8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jpg"/><Relationship Id="rId5" Type="http://schemas.openxmlformats.org/officeDocument/2006/relationships/image" Target="../media/image14.jpg"/><Relationship Id="rId4" Type="http://schemas.openxmlformats.org/officeDocument/2006/relationships/image" Target="../media/image13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/>
          <p:cNvSpPr/>
          <p:nvPr/>
        </p:nvSpPr>
        <p:spPr>
          <a:xfrm>
            <a:off x="251520" y="5733256"/>
            <a:ext cx="8640960" cy="864096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tx2"/>
                </a:solidFill>
                <a:latin typeface="Tele-GroteskNor" pitchFamily="2" charset="0"/>
              </a:rPr>
              <a:t>BigBlueButton Kern</a:t>
            </a:r>
            <a:endParaRPr lang="de-DE" dirty="0">
              <a:solidFill>
                <a:schemeClr val="tx2"/>
              </a:solidFill>
              <a:latin typeface="Tele-GroteskNor" pitchFamily="2" charset="0"/>
            </a:endParaRPr>
          </a:p>
        </p:txBody>
      </p:sp>
      <p:sp>
        <p:nvSpPr>
          <p:cNvPr id="5" name="Rechteck 4"/>
          <p:cNvSpPr/>
          <p:nvPr/>
        </p:nvSpPr>
        <p:spPr>
          <a:xfrm>
            <a:off x="251520" y="260648"/>
            <a:ext cx="8640960" cy="446449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HTML5-App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6" name="Rechteck 5"/>
          <p:cNvSpPr/>
          <p:nvPr/>
        </p:nvSpPr>
        <p:spPr>
          <a:xfrm>
            <a:off x="395536" y="620688"/>
            <a:ext cx="8352928" cy="1872208"/>
          </a:xfrm>
          <a:prstGeom prst="rect">
            <a:avLst/>
          </a:prstGeom>
          <a:ln w="25400">
            <a:solidFill>
              <a:schemeClr val="accent2"/>
            </a:solidFill>
            <a:prstDash val="sysDot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Client-Seite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7" name="Rechteck 6"/>
          <p:cNvSpPr/>
          <p:nvPr/>
        </p:nvSpPr>
        <p:spPr>
          <a:xfrm>
            <a:off x="395536" y="2708920"/>
            <a:ext cx="8352928" cy="1872208"/>
          </a:xfrm>
          <a:prstGeom prst="rect">
            <a:avLst/>
          </a:prstGeom>
          <a:ln w="25400">
            <a:solidFill>
              <a:schemeClr val="accent2"/>
            </a:solidFill>
            <a:prstDash val="sysDot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Server-Seite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8" name="Ellipse 7"/>
          <p:cNvSpPr/>
          <p:nvPr/>
        </p:nvSpPr>
        <p:spPr>
          <a:xfrm>
            <a:off x="611560" y="908720"/>
            <a:ext cx="3960440" cy="1296144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tIns="0" rtlCol="0" anchor="t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Sitzung 1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9" name="Ellipse 8"/>
          <p:cNvSpPr/>
          <p:nvPr/>
        </p:nvSpPr>
        <p:spPr>
          <a:xfrm>
            <a:off x="4932040" y="764704"/>
            <a:ext cx="1656184" cy="792088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Sitzung 2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10" name="Pfeil nach oben und unten 9"/>
          <p:cNvSpPr/>
          <p:nvPr/>
        </p:nvSpPr>
        <p:spPr>
          <a:xfrm>
            <a:off x="4391980" y="4797152"/>
            <a:ext cx="360040" cy="864096"/>
          </a:xfrm>
          <a:prstGeom prst="upDownArrow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  <p:sp>
        <p:nvSpPr>
          <p:cNvPr id="11" name="Flussdiagramm: Magnetplattenspeicher 10"/>
          <p:cNvSpPr/>
          <p:nvPr/>
        </p:nvSpPr>
        <p:spPr>
          <a:xfrm>
            <a:off x="5220072" y="3104964"/>
            <a:ext cx="1584176" cy="1080120"/>
          </a:xfrm>
          <a:prstGeom prst="flowChartMagneticDisk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MongoDB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12" name="Ellipse 11"/>
          <p:cNvSpPr/>
          <p:nvPr/>
        </p:nvSpPr>
        <p:spPr>
          <a:xfrm>
            <a:off x="6740624" y="1412776"/>
            <a:ext cx="1656184" cy="792088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Sitzung 3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13" name="Abgerundetes Rechteck 12"/>
          <p:cNvSpPr/>
          <p:nvPr/>
        </p:nvSpPr>
        <p:spPr>
          <a:xfrm>
            <a:off x="971600" y="1297214"/>
            <a:ext cx="936104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smtClean="0">
                <a:latin typeface="Tele-GroteskNor" pitchFamily="2" charset="0"/>
              </a:rPr>
              <a:t>BBB-Nutzer 1</a:t>
            </a:r>
            <a:endParaRPr lang="de-DE" sz="1600" dirty="0">
              <a:latin typeface="Tele-GroteskNor" pitchFamily="2" charset="0"/>
            </a:endParaRPr>
          </a:p>
        </p:txBody>
      </p:sp>
      <p:sp>
        <p:nvSpPr>
          <p:cNvPr id="14" name="Abgerundetes Rechteck 13"/>
          <p:cNvSpPr/>
          <p:nvPr/>
        </p:nvSpPr>
        <p:spPr>
          <a:xfrm>
            <a:off x="2123728" y="1615218"/>
            <a:ext cx="936104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smtClean="0">
                <a:latin typeface="Tele-GroteskNor" pitchFamily="2" charset="0"/>
              </a:rPr>
              <a:t>BBB-Nutzer 2</a:t>
            </a:r>
            <a:endParaRPr lang="de-DE" sz="1600" dirty="0">
              <a:latin typeface="Tele-GroteskNor" pitchFamily="2" charset="0"/>
            </a:endParaRPr>
          </a:p>
        </p:txBody>
      </p:sp>
      <p:sp>
        <p:nvSpPr>
          <p:cNvPr id="15" name="Abgerundetes Rechteck 14"/>
          <p:cNvSpPr/>
          <p:nvPr/>
        </p:nvSpPr>
        <p:spPr>
          <a:xfrm>
            <a:off x="3347864" y="1324859"/>
            <a:ext cx="936104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smtClean="0">
                <a:latin typeface="Tele-GroteskNor" pitchFamily="2" charset="0"/>
              </a:rPr>
              <a:t>BBB-Nutzer 3</a:t>
            </a:r>
            <a:endParaRPr lang="de-DE" sz="1600" dirty="0">
              <a:latin typeface="Tele-GroteskNor" pitchFamily="2" charset="0"/>
            </a:endParaRPr>
          </a:p>
        </p:txBody>
      </p:sp>
      <p:sp>
        <p:nvSpPr>
          <p:cNvPr id="16" name="Textfeld 15"/>
          <p:cNvSpPr txBox="1"/>
          <p:nvPr/>
        </p:nvSpPr>
        <p:spPr>
          <a:xfrm>
            <a:off x="4752026" y="5044534"/>
            <a:ext cx="2016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>
                <a:solidFill>
                  <a:schemeClr val="accent6"/>
                </a:solidFill>
                <a:latin typeface="Tele-GroteskNor" pitchFamily="2" charset="0"/>
              </a:rPr>
              <a:t>Redis PubSub</a:t>
            </a:r>
            <a:endParaRPr lang="de-DE" dirty="0">
              <a:solidFill>
                <a:schemeClr val="accent6"/>
              </a:solidFill>
              <a:latin typeface="Tele-GroteskNor" pitchFamily="2" charset="0"/>
            </a:endParaRPr>
          </a:p>
        </p:txBody>
      </p:sp>
      <p:sp>
        <p:nvSpPr>
          <p:cNvPr id="17" name="Textfeld 16"/>
          <p:cNvSpPr txBox="1"/>
          <p:nvPr/>
        </p:nvSpPr>
        <p:spPr>
          <a:xfrm>
            <a:off x="7020272" y="2780928"/>
            <a:ext cx="172819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u="sng" dirty="0" smtClean="0">
                <a:latin typeface="Tele-GroteskNor" pitchFamily="2" charset="0"/>
              </a:rPr>
              <a:t>Informationen:</a:t>
            </a:r>
            <a:r>
              <a:rPr lang="de-DE" sz="1400" dirty="0" smtClean="0">
                <a:latin typeface="Tele-GroteskNor" pitchFamily="2" charset="0"/>
              </a:rPr>
              <a:t/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Sitzungen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Benutzer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</a:t>
            </a:r>
            <a:r>
              <a:rPr lang="de-DE" sz="1400" b="1" dirty="0" smtClean="0">
                <a:latin typeface="Tele-GroteskNor" pitchFamily="2" charset="0"/>
              </a:rPr>
              <a:t>Chatnachrichten</a:t>
            </a:r>
            <a:r>
              <a:rPr lang="de-DE" sz="1400" dirty="0" smtClean="0">
                <a:latin typeface="Tele-GroteskNor" pitchFamily="2" charset="0"/>
              </a:rPr>
              <a:t/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Präsentationsfolien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Mauszeiger (Cursor)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</a:t>
            </a:r>
            <a:r>
              <a:rPr lang="de-DE" sz="1400" b="1" dirty="0" smtClean="0">
                <a:latin typeface="Tele-GroteskNor" pitchFamily="2" charset="0"/>
              </a:rPr>
              <a:t>Umfragen</a:t>
            </a:r>
            <a:r>
              <a:rPr lang="de-DE" sz="1400" dirty="0" smtClean="0">
                <a:latin typeface="Tele-GroteskNor" pitchFamily="2" charset="0"/>
              </a:rPr>
              <a:t/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…</a:t>
            </a:r>
            <a:endParaRPr lang="de-DE" sz="1400" dirty="0">
              <a:latin typeface="Tele-GroteskNor" pitchFamily="2" charset="0"/>
            </a:endParaRPr>
          </a:p>
        </p:txBody>
      </p:sp>
      <p:sp>
        <p:nvSpPr>
          <p:cNvPr id="18" name="Geschweifte Klammer links 17"/>
          <p:cNvSpPr/>
          <p:nvPr/>
        </p:nvSpPr>
        <p:spPr>
          <a:xfrm>
            <a:off x="6876256" y="2780928"/>
            <a:ext cx="288032" cy="1728192"/>
          </a:xfrm>
          <a:prstGeom prst="leftBrac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  <p:cxnSp>
        <p:nvCxnSpPr>
          <p:cNvPr id="20" name="Gekrümmte Verbindung 19"/>
          <p:cNvCxnSpPr>
            <a:stCxn id="11" idx="2"/>
            <a:endCxn id="13" idx="2"/>
          </p:cNvCxnSpPr>
          <p:nvPr/>
        </p:nvCxnSpPr>
        <p:spPr>
          <a:xfrm rot="10800000">
            <a:off x="1439652" y="1761080"/>
            <a:ext cx="3780420" cy="1883944"/>
          </a:xfrm>
          <a:prstGeom prst="curvedConnector2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Gekrümmte Verbindung 22"/>
          <p:cNvCxnSpPr>
            <a:stCxn id="11" idx="2"/>
            <a:endCxn id="14" idx="2"/>
          </p:cNvCxnSpPr>
          <p:nvPr/>
        </p:nvCxnSpPr>
        <p:spPr>
          <a:xfrm rot="10800000">
            <a:off x="2591780" y="2079084"/>
            <a:ext cx="2628292" cy="1565940"/>
          </a:xfrm>
          <a:prstGeom prst="curvedConnector2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krümmte Verbindung 25"/>
          <p:cNvCxnSpPr>
            <a:stCxn id="11" idx="2"/>
            <a:endCxn id="15" idx="2"/>
          </p:cNvCxnSpPr>
          <p:nvPr/>
        </p:nvCxnSpPr>
        <p:spPr>
          <a:xfrm rot="10800000">
            <a:off x="3815916" y="1788726"/>
            <a:ext cx="1404156" cy="1856299"/>
          </a:xfrm>
          <a:prstGeom prst="curvedConnector2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/>
          <p:cNvCxnSpPr>
            <a:stCxn id="11" idx="1"/>
            <a:endCxn id="9" idx="4"/>
          </p:cNvCxnSpPr>
          <p:nvPr/>
        </p:nvCxnSpPr>
        <p:spPr>
          <a:xfrm flipH="1" flipV="1">
            <a:off x="5760132" y="1556792"/>
            <a:ext cx="252028" cy="1548172"/>
          </a:xfrm>
          <a:prstGeom prst="straightConnector1">
            <a:avLst/>
          </a:prstGeom>
          <a:ln w="19050">
            <a:solidFill>
              <a:srgbClr val="FF0000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Gerade Verbindung mit Pfeil 30"/>
          <p:cNvCxnSpPr>
            <a:stCxn id="11" idx="1"/>
            <a:endCxn id="12" idx="4"/>
          </p:cNvCxnSpPr>
          <p:nvPr/>
        </p:nvCxnSpPr>
        <p:spPr>
          <a:xfrm flipV="1">
            <a:off x="6012160" y="2204864"/>
            <a:ext cx="1556556" cy="900100"/>
          </a:xfrm>
          <a:prstGeom prst="straightConnector1">
            <a:avLst/>
          </a:prstGeom>
          <a:ln w="19050">
            <a:solidFill>
              <a:srgbClr val="FF0000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hteck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506160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/>
          <p:cNvSpPr/>
          <p:nvPr/>
        </p:nvSpPr>
        <p:spPr>
          <a:xfrm>
            <a:off x="251520" y="5733256"/>
            <a:ext cx="8640960" cy="864096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tx2"/>
                </a:solidFill>
                <a:latin typeface="Tele-GroteskNor" pitchFamily="2" charset="0"/>
              </a:rPr>
              <a:t>BigBlueButton Kern</a:t>
            </a:r>
            <a:endParaRPr lang="de-DE" dirty="0">
              <a:solidFill>
                <a:schemeClr val="tx2"/>
              </a:solidFill>
              <a:latin typeface="Tele-GroteskNor" pitchFamily="2" charset="0"/>
            </a:endParaRPr>
          </a:p>
        </p:txBody>
      </p:sp>
      <p:sp>
        <p:nvSpPr>
          <p:cNvPr id="5" name="Rechteck 4"/>
          <p:cNvSpPr/>
          <p:nvPr/>
        </p:nvSpPr>
        <p:spPr>
          <a:xfrm>
            <a:off x="251520" y="260648"/>
            <a:ext cx="8640960" cy="446449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HTML5-App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6" name="Rechteck 5"/>
          <p:cNvSpPr/>
          <p:nvPr/>
        </p:nvSpPr>
        <p:spPr>
          <a:xfrm>
            <a:off x="395536" y="620688"/>
            <a:ext cx="8352928" cy="1872208"/>
          </a:xfrm>
          <a:prstGeom prst="rect">
            <a:avLst/>
          </a:prstGeom>
          <a:ln w="25400">
            <a:solidFill>
              <a:schemeClr val="accent2"/>
            </a:solidFill>
            <a:prstDash val="sysDot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Client-Seite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7" name="Rechteck 6"/>
          <p:cNvSpPr/>
          <p:nvPr/>
        </p:nvSpPr>
        <p:spPr>
          <a:xfrm>
            <a:off x="395536" y="2708920"/>
            <a:ext cx="8352928" cy="1872208"/>
          </a:xfrm>
          <a:prstGeom prst="rect">
            <a:avLst/>
          </a:prstGeom>
          <a:ln w="25400">
            <a:solidFill>
              <a:schemeClr val="accent2"/>
            </a:solidFill>
            <a:prstDash val="sysDot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Server-Seite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8" name="Ellipse 7"/>
          <p:cNvSpPr/>
          <p:nvPr/>
        </p:nvSpPr>
        <p:spPr>
          <a:xfrm>
            <a:off x="611560" y="908720"/>
            <a:ext cx="3960440" cy="1296144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tIns="0" rtlCol="0" anchor="t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Sitzung 1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9" name="Ellipse 8"/>
          <p:cNvSpPr/>
          <p:nvPr/>
        </p:nvSpPr>
        <p:spPr>
          <a:xfrm>
            <a:off x="4932040" y="764704"/>
            <a:ext cx="1656184" cy="792088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Sitzung 2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10" name="Pfeil nach oben und unten 9"/>
          <p:cNvSpPr/>
          <p:nvPr/>
        </p:nvSpPr>
        <p:spPr>
          <a:xfrm rot="2508825">
            <a:off x="4862627" y="4043372"/>
            <a:ext cx="360040" cy="1873398"/>
          </a:xfrm>
          <a:prstGeom prst="upDownArrow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  <p:sp>
        <p:nvSpPr>
          <p:cNvPr id="11" name="Flussdiagramm: Magnetplattenspeicher 10"/>
          <p:cNvSpPr/>
          <p:nvPr/>
        </p:nvSpPr>
        <p:spPr>
          <a:xfrm>
            <a:off x="5220072" y="3104964"/>
            <a:ext cx="1584176" cy="1080120"/>
          </a:xfrm>
          <a:prstGeom prst="flowChartMagneticDisk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MongoDB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12" name="Ellipse 11"/>
          <p:cNvSpPr/>
          <p:nvPr/>
        </p:nvSpPr>
        <p:spPr>
          <a:xfrm>
            <a:off x="6740624" y="1412776"/>
            <a:ext cx="1656184" cy="792088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Sitzung 3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13" name="Abgerundetes Rechteck 12"/>
          <p:cNvSpPr/>
          <p:nvPr/>
        </p:nvSpPr>
        <p:spPr>
          <a:xfrm>
            <a:off x="971600" y="1297214"/>
            <a:ext cx="936104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 smtClean="0">
                <a:latin typeface="Tele-GroteskNor" pitchFamily="2" charset="0"/>
              </a:rPr>
              <a:t>Sicht 1</a:t>
            </a:r>
            <a:endParaRPr lang="de-DE" dirty="0">
              <a:latin typeface="Tele-GroteskNor" pitchFamily="2" charset="0"/>
            </a:endParaRPr>
          </a:p>
        </p:txBody>
      </p:sp>
      <p:sp>
        <p:nvSpPr>
          <p:cNvPr id="14" name="Abgerundetes Rechteck 13"/>
          <p:cNvSpPr/>
          <p:nvPr/>
        </p:nvSpPr>
        <p:spPr>
          <a:xfrm>
            <a:off x="2123728" y="1615218"/>
            <a:ext cx="936104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 smtClean="0">
                <a:latin typeface="Tele-GroteskNor" pitchFamily="2" charset="0"/>
              </a:rPr>
              <a:t>Sicht 2</a:t>
            </a:r>
            <a:endParaRPr lang="de-DE" dirty="0">
              <a:latin typeface="Tele-GroteskNor" pitchFamily="2" charset="0"/>
            </a:endParaRPr>
          </a:p>
        </p:txBody>
      </p:sp>
      <p:sp>
        <p:nvSpPr>
          <p:cNvPr id="15" name="Abgerundetes Rechteck 14"/>
          <p:cNvSpPr/>
          <p:nvPr/>
        </p:nvSpPr>
        <p:spPr>
          <a:xfrm>
            <a:off x="3347864" y="1324859"/>
            <a:ext cx="936104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 smtClean="0">
                <a:latin typeface="Tele-GroteskNor" pitchFamily="2" charset="0"/>
              </a:rPr>
              <a:t>Sicht 3</a:t>
            </a:r>
            <a:endParaRPr lang="de-DE" dirty="0">
              <a:latin typeface="Tele-GroteskNor" pitchFamily="2" charset="0"/>
            </a:endParaRPr>
          </a:p>
        </p:txBody>
      </p:sp>
      <p:sp>
        <p:nvSpPr>
          <p:cNvPr id="16" name="Textfeld 15"/>
          <p:cNvSpPr txBox="1"/>
          <p:nvPr/>
        </p:nvSpPr>
        <p:spPr>
          <a:xfrm>
            <a:off x="5153002" y="4980071"/>
            <a:ext cx="28753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>
                <a:solidFill>
                  <a:schemeClr val="accent6"/>
                </a:solidFill>
                <a:latin typeface="Tele-GroteskNor" pitchFamily="2" charset="0"/>
              </a:rPr>
              <a:t>„get_all_meetings_request“</a:t>
            </a:r>
            <a:endParaRPr lang="de-DE" dirty="0">
              <a:solidFill>
                <a:schemeClr val="accent6"/>
              </a:solidFill>
              <a:latin typeface="Tele-GroteskNor" pitchFamily="2" charset="0"/>
            </a:endParaRPr>
          </a:p>
        </p:txBody>
      </p:sp>
      <p:sp>
        <p:nvSpPr>
          <p:cNvPr id="17" name="Textfeld 16"/>
          <p:cNvSpPr txBox="1"/>
          <p:nvPr/>
        </p:nvSpPr>
        <p:spPr>
          <a:xfrm>
            <a:off x="7020272" y="2780928"/>
            <a:ext cx="172819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u="sng" dirty="0" smtClean="0">
                <a:latin typeface="Tele-GroteskNor" pitchFamily="2" charset="0"/>
              </a:rPr>
              <a:t>Informationen:</a:t>
            </a:r>
            <a:r>
              <a:rPr lang="de-DE" sz="1400" dirty="0" smtClean="0">
                <a:latin typeface="Tele-GroteskNor" pitchFamily="2" charset="0"/>
              </a:rPr>
              <a:t/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</a:t>
            </a:r>
            <a:r>
              <a:rPr lang="de-DE" sz="1400" b="1" dirty="0" smtClean="0">
                <a:latin typeface="Tele-GroteskNor" pitchFamily="2" charset="0"/>
              </a:rPr>
              <a:t>Sitzungen</a:t>
            </a:r>
            <a:r>
              <a:rPr lang="de-DE" sz="1400" dirty="0" smtClean="0">
                <a:latin typeface="Tele-GroteskNor" pitchFamily="2" charset="0"/>
              </a:rPr>
              <a:t/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Benutzer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Chatnachrichten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Präsentationsfolien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Mauszeiger (Cursor)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Umfragen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…</a:t>
            </a:r>
            <a:endParaRPr lang="de-DE" sz="1400" dirty="0">
              <a:latin typeface="Tele-GroteskNor" pitchFamily="2" charset="0"/>
            </a:endParaRPr>
          </a:p>
        </p:txBody>
      </p:sp>
      <p:sp>
        <p:nvSpPr>
          <p:cNvPr id="18" name="Geschweifte Klammer links 17"/>
          <p:cNvSpPr/>
          <p:nvPr/>
        </p:nvSpPr>
        <p:spPr>
          <a:xfrm>
            <a:off x="6876256" y="2780928"/>
            <a:ext cx="288032" cy="1728192"/>
          </a:xfrm>
          <a:prstGeom prst="leftBrac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  <p:cxnSp>
        <p:nvCxnSpPr>
          <p:cNvPr id="20" name="Gekrümmte Verbindung 19"/>
          <p:cNvCxnSpPr>
            <a:stCxn id="11" idx="2"/>
            <a:endCxn id="13" idx="2"/>
          </p:cNvCxnSpPr>
          <p:nvPr/>
        </p:nvCxnSpPr>
        <p:spPr>
          <a:xfrm rot="10800000">
            <a:off x="1439652" y="1761080"/>
            <a:ext cx="3780420" cy="1883944"/>
          </a:xfrm>
          <a:prstGeom prst="curvedConnector2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Gekrümmte Verbindung 22"/>
          <p:cNvCxnSpPr>
            <a:stCxn id="11" idx="2"/>
            <a:endCxn id="14" idx="2"/>
          </p:cNvCxnSpPr>
          <p:nvPr/>
        </p:nvCxnSpPr>
        <p:spPr>
          <a:xfrm rot="10800000">
            <a:off x="2591780" y="2079084"/>
            <a:ext cx="2628292" cy="1565940"/>
          </a:xfrm>
          <a:prstGeom prst="curvedConnector2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krümmte Verbindung 25"/>
          <p:cNvCxnSpPr>
            <a:stCxn id="11" idx="2"/>
            <a:endCxn id="15" idx="2"/>
          </p:cNvCxnSpPr>
          <p:nvPr/>
        </p:nvCxnSpPr>
        <p:spPr>
          <a:xfrm rot="10800000">
            <a:off x="3815916" y="1788726"/>
            <a:ext cx="1404156" cy="1856299"/>
          </a:xfrm>
          <a:prstGeom prst="curvedConnector2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/>
          <p:cNvCxnSpPr>
            <a:stCxn id="11" idx="1"/>
            <a:endCxn id="9" idx="4"/>
          </p:cNvCxnSpPr>
          <p:nvPr/>
        </p:nvCxnSpPr>
        <p:spPr>
          <a:xfrm flipH="1" flipV="1">
            <a:off x="5760132" y="1556792"/>
            <a:ext cx="252028" cy="1548172"/>
          </a:xfrm>
          <a:prstGeom prst="straightConnector1">
            <a:avLst/>
          </a:prstGeom>
          <a:ln w="19050">
            <a:solidFill>
              <a:srgbClr val="FF0000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Gerade Verbindung mit Pfeil 30"/>
          <p:cNvCxnSpPr>
            <a:stCxn id="11" idx="1"/>
            <a:endCxn id="12" idx="4"/>
          </p:cNvCxnSpPr>
          <p:nvPr/>
        </p:nvCxnSpPr>
        <p:spPr>
          <a:xfrm flipV="1">
            <a:off x="6012160" y="2204864"/>
            <a:ext cx="1556556" cy="900100"/>
          </a:xfrm>
          <a:prstGeom prst="straightConnector1">
            <a:avLst/>
          </a:prstGeom>
          <a:ln w="19050">
            <a:solidFill>
              <a:srgbClr val="FF0000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hteck 2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21572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/>
          <p:cNvSpPr/>
          <p:nvPr/>
        </p:nvSpPr>
        <p:spPr>
          <a:xfrm>
            <a:off x="4283968" y="4725144"/>
            <a:ext cx="576064" cy="1008112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  <p:sp>
        <p:nvSpPr>
          <p:cNvPr id="4" name="Rechteck 3"/>
          <p:cNvSpPr/>
          <p:nvPr/>
        </p:nvSpPr>
        <p:spPr>
          <a:xfrm>
            <a:off x="251520" y="5733256"/>
            <a:ext cx="8640960" cy="864096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tx2"/>
                </a:solidFill>
                <a:latin typeface="Tele-GroteskNor" pitchFamily="2" charset="0"/>
              </a:rPr>
              <a:t>BigBlueButton Kern</a:t>
            </a:r>
            <a:endParaRPr lang="de-DE" dirty="0">
              <a:solidFill>
                <a:schemeClr val="tx2"/>
              </a:solidFill>
              <a:latin typeface="Tele-GroteskNor" pitchFamily="2" charset="0"/>
            </a:endParaRPr>
          </a:p>
        </p:txBody>
      </p:sp>
      <p:sp>
        <p:nvSpPr>
          <p:cNvPr id="5" name="Rechteck 4"/>
          <p:cNvSpPr/>
          <p:nvPr/>
        </p:nvSpPr>
        <p:spPr>
          <a:xfrm>
            <a:off x="251520" y="260648"/>
            <a:ext cx="8640960" cy="446449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HTML5-App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6" name="Rechteck 5"/>
          <p:cNvSpPr/>
          <p:nvPr/>
        </p:nvSpPr>
        <p:spPr>
          <a:xfrm>
            <a:off x="395536" y="620688"/>
            <a:ext cx="8352928" cy="1872208"/>
          </a:xfrm>
          <a:prstGeom prst="rect">
            <a:avLst/>
          </a:prstGeom>
          <a:ln w="25400">
            <a:solidFill>
              <a:schemeClr val="accent2"/>
            </a:solidFill>
            <a:prstDash val="sysDot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Client-Seite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7" name="Rechteck 6"/>
          <p:cNvSpPr/>
          <p:nvPr/>
        </p:nvSpPr>
        <p:spPr>
          <a:xfrm>
            <a:off x="395536" y="2708920"/>
            <a:ext cx="8352928" cy="1872208"/>
          </a:xfrm>
          <a:prstGeom prst="rect">
            <a:avLst/>
          </a:prstGeom>
          <a:ln w="25400">
            <a:solidFill>
              <a:schemeClr val="accent2"/>
            </a:solidFill>
            <a:prstDash val="sysDot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Server-</a:t>
            </a:r>
            <a:b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</a:br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Seite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8" name="Ellipse 7"/>
          <p:cNvSpPr/>
          <p:nvPr/>
        </p:nvSpPr>
        <p:spPr>
          <a:xfrm>
            <a:off x="611560" y="908720"/>
            <a:ext cx="3960440" cy="1296144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tIns="0" rtlCol="0" anchor="t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Sitzung 1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9" name="Ellipse 8"/>
          <p:cNvSpPr/>
          <p:nvPr/>
        </p:nvSpPr>
        <p:spPr>
          <a:xfrm>
            <a:off x="4932040" y="764704"/>
            <a:ext cx="1656184" cy="792088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Sitzung 2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11" name="Flussdiagramm: Magnetplattenspeicher 10"/>
          <p:cNvSpPr/>
          <p:nvPr/>
        </p:nvSpPr>
        <p:spPr>
          <a:xfrm>
            <a:off x="5220072" y="3104964"/>
            <a:ext cx="1584176" cy="1080120"/>
          </a:xfrm>
          <a:prstGeom prst="flowChartMagneticDisk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MongoDB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12" name="Ellipse 11"/>
          <p:cNvSpPr/>
          <p:nvPr/>
        </p:nvSpPr>
        <p:spPr>
          <a:xfrm>
            <a:off x="6740624" y="1412776"/>
            <a:ext cx="1656184" cy="792088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Sitzung 3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13" name="Abgerundetes Rechteck 12"/>
          <p:cNvSpPr/>
          <p:nvPr/>
        </p:nvSpPr>
        <p:spPr>
          <a:xfrm>
            <a:off x="971600" y="1297214"/>
            <a:ext cx="936104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smtClean="0">
                <a:latin typeface="Tele-GroteskNor" pitchFamily="2" charset="0"/>
              </a:rPr>
              <a:t>BBB-Nutzer 1</a:t>
            </a:r>
            <a:endParaRPr lang="de-DE" sz="1600" dirty="0">
              <a:latin typeface="Tele-GroteskNor" pitchFamily="2" charset="0"/>
            </a:endParaRPr>
          </a:p>
        </p:txBody>
      </p:sp>
      <p:sp>
        <p:nvSpPr>
          <p:cNvPr id="14" name="Abgerundetes Rechteck 13"/>
          <p:cNvSpPr/>
          <p:nvPr/>
        </p:nvSpPr>
        <p:spPr>
          <a:xfrm>
            <a:off x="2123728" y="1615218"/>
            <a:ext cx="936104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smtClean="0">
                <a:latin typeface="Tele-GroteskNor" pitchFamily="2" charset="0"/>
              </a:rPr>
              <a:t>BBB-Nutzer </a:t>
            </a:r>
            <a:r>
              <a:rPr lang="de-DE" sz="1600" dirty="0">
                <a:latin typeface="Tele-GroteskNor" pitchFamily="2" charset="0"/>
              </a:rPr>
              <a:t>2</a:t>
            </a:r>
          </a:p>
        </p:txBody>
      </p:sp>
      <p:sp>
        <p:nvSpPr>
          <p:cNvPr id="15" name="Abgerundetes Rechteck 14"/>
          <p:cNvSpPr/>
          <p:nvPr/>
        </p:nvSpPr>
        <p:spPr>
          <a:xfrm>
            <a:off x="3347864" y="1324859"/>
            <a:ext cx="936104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smtClean="0">
                <a:latin typeface="Tele-GroteskNor" pitchFamily="2" charset="0"/>
              </a:rPr>
              <a:t>BBB-Nutzer </a:t>
            </a:r>
            <a:r>
              <a:rPr lang="de-DE" sz="1600" dirty="0">
                <a:latin typeface="Tele-GroteskNor" pitchFamily="2" charset="0"/>
              </a:rPr>
              <a:t>3</a:t>
            </a:r>
          </a:p>
        </p:txBody>
      </p:sp>
      <p:sp>
        <p:nvSpPr>
          <p:cNvPr id="16" name="Textfeld 15"/>
          <p:cNvSpPr txBox="1"/>
          <p:nvPr/>
        </p:nvSpPr>
        <p:spPr>
          <a:xfrm>
            <a:off x="4860032" y="5044534"/>
            <a:ext cx="2016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>
                <a:solidFill>
                  <a:schemeClr val="accent6"/>
                </a:solidFill>
                <a:latin typeface="Tele-GroteskNor" pitchFamily="2" charset="0"/>
              </a:rPr>
              <a:t>Redis PubSub</a:t>
            </a:r>
            <a:endParaRPr lang="de-DE" dirty="0">
              <a:solidFill>
                <a:schemeClr val="accent6"/>
              </a:solidFill>
              <a:latin typeface="Tele-GroteskNor" pitchFamily="2" charset="0"/>
            </a:endParaRPr>
          </a:p>
        </p:txBody>
      </p:sp>
      <p:sp>
        <p:nvSpPr>
          <p:cNvPr id="17" name="Textfeld 16"/>
          <p:cNvSpPr txBox="1"/>
          <p:nvPr/>
        </p:nvSpPr>
        <p:spPr>
          <a:xfrm>
            <a:off x="7020272" y="2780928"/>
            <a:ext cx="172819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u="sng" dirty="0" smtClean="0">
                <a:latin typeface="Tele-GroteskNor" pitchFamily="2" charset="0"/>
              </a:rPr>
              <a:t>Informationen:</a:t>
            </a:r>
            <a:r>
              <a:rPr lang="de-DE" sz="1400" dirty="0" smtClean="0">
                <a:latin typeface="Tele-GroteskNor" pitchFamily="2" charset="0"/>
              </a:rPr>
              <a:t/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Sitzungen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Benutzer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Chatnachrichten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Präsentationsfolien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Mauszeiger (Cursor)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Umfragen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…</a:t>
            </a:r>
            <a:endParaRPr lang="de-DE" sz="1400" dirty="0">
              <a:latin typeface="Tele-GroteskNor" pitchFamily="2" charset="0"/>
            </a:endParaRPr>
          </a:p>
        </p:txBody>
      </p:sp>
      <p:sp>
        <p:nvSpPr>
          <p:cNvPr id="18" name="Geschweifte Klammer links 17"/>
          <p:cNvSpPr/>
          <p:nvPr/>
        </p:nvSpPr>
        <p:spPr>
          <a:xfrm>
            <a:off x="6876256" y="2780928"/>
            <a:ext cx="288032" cy="1728192"/>
          </a:xfrm>
          <a:prstGeom prst="leftBrac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  <p:cxnSp>
        <p:nvCxnSpPr>
          <p:cNvPr id="22" name="Gekrümmte Verbindung 21"/>
          <p:cNvCxnSpPr/>
          <p:nvPr/>
        </p:nvCxnSpPr>
        <p:spPr>
          <a:xfrm rot="16200000" flipH="1">
            <a:off x="803714" y="2144990"/>
            <a:ext cx="3972176" cy="3204356"/>
          </a:xfrm>
          <a:prstGeom prst="bentConnector3">
            <a:avLst/>
          </a:prstGeom>
          <a:ln w="2540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Gekrümmte Verbindung 21"/>
          <p:cNvCxnSpPr>
            <a:endCxn id="11" idx="3"/>
          </p:cNvCxnSpPr>
          <p:nvPr/>
        </p:nvCxnSpPr>
        <p:spPr>
          <a:xfrm rot="5400000" flipH="1" flipV="1">
            <a:off x="4590002" y="4311098"/>
            <a:ext cx="1548172" cy="1296144"/>
          </a:xfrm>
          <a:prstGeom prst="bentConnector3">
            <a:avLst>
              <a:gd name="adj1" fmla="val 79818"/>
            </a:avLst>
          </a:prstGeom>
          <a:ln w="2540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Gekrümmte Verbindung 21"/>
          <p:cNvCxnSpPr>
            <a:stCxn id="11" idx="2"/>
            <a:endCxn id="13" idx="2"/>
          </p:cNvCxnSpPr>
          <p:nvPr/>
        </p:nvCxnSpPr>
        <p:spPr>
          <a:xfrm rot="10800000">
            <a:off x="1439652" y="1761080"/>
            <a:ext cx="3780420" cy="1883944"/>
          </a:xfrm>
          <a:prstGeom prst="curvedConnector2">
            <a:avLst/>
          </a:prstGeom>
          <a:ln w="2540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Gekrümmte Verbindung 21"/>
          <p:cNvCxnSpPr>
            <a:stCxn id="11" idx="2"/>
            <a:endCxn id="14" idx="2"/>
          </p:cNvCxnSpPr>
          <p:nvPr/>
        </p:nvCxnSpPr>
        <p:spPr>
          <a:xfrm rot="10800000">
            <a:off x="2591780" y="2079084"/>
            <a:ext cx="2628292" cy="1565940"/>
          </a:xfrm>
          <a:prstGeom prst="curvedConnector2">
            <a:avLst/>
          </a:prstGeom>
          <a:ln w="2540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Gekrümmte Verbindung 21"/>
          <p:cNvCxnSpPr>
            <a:stCxn id="11" idx="2"/>
            <a:endCxn id="15" idx="2"/>
          </p:cNvCxnSpPr>
          <p:nvPr/>
        </p:nvCxnSpPr>
        <p:spPr>
          <a:xfrm rot="10800000">
            <a:off x="3815916" y="1788726"/>
            <a:ext cx="1404156" cy="1856299"/>
          </a:xfrm>
          <a:prstGeom prst="curvedConnector2">
            <a:avLst/>
          </a:prstGeom>
          <a:ln w="2540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feld 56"/>
          <p:cNvSpPr txBox="1"/>
          <p:nvPr/>
        </p:nvSpPr>
        <p:spPr>
          <a:xfrm>
            <a:off x="1871699" y="3419708"/>
            <a:ext cx="14401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>
                <a:solidFill>
                  <a:srgbClr val="00B050"/>
                </a:solidFill>
                <a:latin typeface="Tele-GroteskNor" pitchFamily="2" charset="0"/>
              </a:rPr>
              <a:t>Verarbeitung</a:t>
            </a:r>
            <a:endParaRPr lang="de-DE" dirty="0">
              <a:solidFill>
                <a:srgbClr val="00B050"/>
              </a:solidFill>
              <a:latin typeface="Tele-GroteskNor" pitchFamily="2" charset="0"/>
            </a:endParaRPr>
          </a:p>
        </p:txBody>
      </p:sp>
      <p:sp>
        <p:nvSpPr>
          <p:cNvPr id="23" name="Rechteck 22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522272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/>
          <p:cNvSpPr/>
          <p:nvPr/>
        </p:nvSpPr>
        <p:spPr>
          <a:xfrm>
            <a:off x="4283968" y="4725144"/>
            <a:ext cx="576064" cy="1008112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  <p:sp>
        <p:nvSpPr>
          <p:cNvPr id="4" name="Rechteck 3"/>
          <p:cNvSpPr/>
          <p:nvPr/>
        </p:nvSpPr>
        <p:spPr>
          <a:xfrm>
            <a:off x="251520" y="5733256"/>
            <a:ext cx="8640960" cy="864096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tx2"/>
                </a:solidFill>
                <a:latin typeface="Tele-GroteskNor" pitchFamily="2" charset="0"/>
              </a:rPr>
              <a:t>BigBlueButton Kern</a:t>
            </a:r>
            <a:endParaRPr lang="de-DE" dirty="0">
              <a:solidFill>
                <a:schemeClr val="tx2"/>
              </a:solidFill>
              <a:latin typeface="Tele-GroteskNor" pitchFamily="2" charset="0"/>
            </a:endParaRPr>
          </a:p>
        </p:txBody>
      </p:sp>
      <p:sp>
        <p:nvSpPr>
          <p:cNvPr id="5" name="Rechteck 4"/>
          <p:cNvSpPr/>
          <p:nvPr/>
        </p:nvSpPr>
        <p:spPr>
          <a:xfrm>
            <a:off x="251520" y="260648"/>
            <a:ext cx="8640960" cy="446449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HTML5-App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7" name="Rechteck 6"/>
          <p:cNvSpPr/>
          <p:nvPr/>
        </p:nvSpPr>
        <p:spPr>
          <a:xfrm>
            <a:off x="395536" y="2708920"/>
            <a:ext cx="8352928" cy="1872208"/>
          </a:xfrm>
          <a:prstGeom prst="rect">
            <a:avLst/>
          </a:prstGeom>
          <a:ln w="25400">
            <a:solidFill>
              <a:schemeClr val="accent2"/>
            </a:solidFill>
            <a:prstDash val="sysDot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Server-Seite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11" name="Flussdiagramm: Magnetplattenspeicher 10"/>
          <p:cNvSpPr/>
          <p:nvPr/>
        </p:nvSpPr>
        <p:spPr>
          <a:xfrm>
            <a:off x="5220072" y="3104964"/>
            <a:ext cx="1584176" cy="1080120"/>
          </a:xfrm>
          <a:prstGeom prst="flowChartMagneticDisk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MongoDB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grpSp>
        <p:nvGrpSpPr>
          <p:cNvPr id="19" name="Gruppieren 18"/>
          <p:cNvGrpSpPr/>
          <p:nvPr/>
        </p:nvGrpSpPr>
        <p:grpSpPr>
          <a:xfrm>
            <a:off x="4788025" y="692696"/>
            <a:ext cx="3960439" cy="1872208"/>
            <a:chOff x="395536" y="620688"/>
            <a:chExt cx="4464496" cy="1872208"/>
          </a:xfrm>
        </p:grpSpPr>
        <p:sp>
          <p:nvSpPr>
            <p:cNvPr id="6" name="Rechteck 5"/>
            <p:cNvSpPr/>
            <p:nvPr/>
          </p:nvSpPr>
          <p:spPr>
            <a:xfrm>
              <a:off x="395536" y="620688"/>
              <a:ext cx="4464496" cy="1872208"/>
            </a:xfrm>
            <a:prstGeom prst="rect">
              <a:avLst/>
            </a:prstGeom>
            <a:ln w="25400">
              <a:solidFill>
                <a:schemeClr val="accent2"/>
              </a:solidFill>
              <a:prstDash val="sysDot"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r>
                <a:rPr lang="de-DE" dirty="0" smtClean="0">
                  <a:solidFill>
                    <a:schemeClr val="accent2"/>
                  </a:solidFill>
                  <a:latin typeface="Tele-GroteskNor" pitchFamily="2" charset="0"/>
                </a:rPr>
                <a:t>Client-Seite</a:t>
              </a:r>
              <a:endParaRPr lang="de-DE" dirty="0">
                <a:solidFill>
                  <a:schemeClr val="accent2"/>
                </a:solidFill>
                <a:latin typeface="Tele-GroteskNor" pitchFamily="2" charset="0"/>
              </a:endParaRPr>
            </a:p>
          </p:txBody>
        </p:sp>
        <p:sp>
          <p:nvSpPr>
            <p:cNvPr id="8" name="Ellipse 7"/>
            <p:cNvSpPr/>
            <p:nvPr/>
          </p:nvSpPr>
          <p:spPr>
            <a:xfrm>
              <a:off x="611560" y="908720"/>
              <a:ext cx="3960440" cy="1296144"/>
            </a:xfrm>
            <a:prstGeom prst="ellipse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tIns="0" rtlCol="0" anchor="t"/>
            <a:lstStyle/>
            <a:p>
              <a:pPr algn="ctr"/>
              <a:r>
                <a:rPr lang="de-DE" dirty="0" smtClean="0">
                  <a:solidFill>
                    <a:schemeClr val="bg1">
                      <a:lumMod val="95000"/>
                    </a:schemeClr>
                  </a:solidFill>
                  <a:latin typeface="Tele-GroteskNor" pitchFamily="2" charset="0"/>
                </a:rPr>
                <a:t>Sitzung X</a:t>
              </a:r>
              <a:endParaRPr lang="de-DE" dirty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endParaRPr>
            </a:p>
          </p:txBody>
        </p:sp>
        <p:sp>
          <p:nvSpPr>
            <p:cNvPr id="13" name="Abgerundetes Rechteck 12"/>
            <p:cNvSpPr/>
            <p:nvPr/>
          </p:nvSpPr>
          <p:spPr>
            <a:xfrm>
              <a:off x="882572" y="1297214"/>
              <a:ext cx="1136416" cy="463866"/>
            </a:xfrm>
            <a:prstGeom prst="roundRect">
              <a:avLst/>
            </a:prstGeom>
            <a:gradFill flip="none" rotWithShape="1">
              <a:gsLst>
                <a:gs pos="0">
                  <a:schemeClr val="accent2">
                    <a:lumMod val="40000"/>
                    <a:lumOff val="60000"/>
                  </a:schemeClr>
                </a:gs>
                <a:gs pos="30000">
                  <a:schemeClr val="accent2">
                    <a:lumMod val="60000"/>
                    <a:lumOff val="40000"/>
                  </a:schemeClr>
                </a:gs>
                <a:gs pos="70000">
                  <a:schemeClr val="accent2"/>
                </a:gs>
                <a:gs pos="100000">
                  <a:schemeClr val="accent2">
                    <a:lumMod val="50000"/>
                  </a:schemeClr>
                </a:gs>
              </a:gsLst>
              <a:lin ang="18900000" scaled="1"/>
              <a:tileRect/>
            </a:gradFill>
            <a:ln w="12700">
              <a:solidFill>
                <a:schemeClr val="tx1"/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600" dirty="0" smtClean="0">
                  <a:latin typeface="Tele-GroteskNor" pitchFamily="2" charset="0"/>
                </a:rPr>
                <a:t>BBB-Nutzer </a:t>
              </a:r>
              <a:r>
                <a:rPr lang="de-DE" sz="1600" dirty="0">
                  <a:latin typeface="Tele-GroteskNor" pitchFamily="2" charset="0"/>
                </a:rPr>
                <a:t>1</a:t>
              </a:r>
            </a:p>
          </p:txBody>
        </p:sp>
        <p:sp>
          <p:nvSpPr>
            <p:cNvPr id="14" name="Abgerundetes Rechteck 13"/>
            <p:cNvSpPr/>
            <p:nvPr/>
          </p:nvSpPr>
          <p:spPr>
            <a:xfrm>
              <a:off x="2059575" y="1582080"/>
              <a:ext cx="1136417" cy="463866"/>
            </a:xfrm>
            <a:prstGeom prst="roundRect">
              <a:avLst/>
            </a:prstGeom>
            <a:gradFill flip="none" rotWithShape="1">
              <a:gsLst>
                <a:gs pos="0">
                  <a:schemeClr val="accent2">
                    <a:lumMod val="40000"/>
                    <a:lumOff val="60000"/>
                  </a:schemeClr>
                </a:gs>
                <a:gs pos="30000">
                  <a:schemeClr val="accent2">
                    <a:lumMod val="60000"/>
                    <a:lumOff val="40000"/>
                  </a:schemeClr>
                </a:gs>
                <a:gs pos="70000">
                  <a:schemeClr val="accent2"/>
                </a:gs>
                <a:gs pos="100000">
                  <a:schemeClr val="accent2">
                    <a:lumMod val="50000"/>
                  </a:schemeClr>
                </a:gs>
              </a:gsLst>
              <a:lin ang="18900000" scaled="1"/>
              <a:tileRect/>
            </a:gradFill>
            <a:ln w="12700">
              <a:solidFill>
                <a:schemeClr val="tx1"/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600" dirty="0" smtClean="0">
                  <a:latin typeface="Tele-GroteskNor" pitchFamily="2" charset="0"/>
                </a:rPr>
                <a:t>BBB-Nutzer </a:t>
              </a:r>
              <a:r>
                <a:rPr lang="de-DE" sz="1600" dirty="0">
                  <a:latin typeface="Tele-GroteskNor" pitchFamily="2" charset="0"/>
                </a:rPr>
                <a:t>2</a:t>
              </a:r>
            </a:p>
          </p:txBody>
        </p:sp>
        <p:sp>
          <p:nvSpPr>
            <p:cNvPr id="15" name="Abgerundetes Rechteck 14"/>
            <p:cNvSpPr/>
            <p:nvPr/>
          </p:nvSpPr>
          <p:spPr>
            <a:xfrm>
              <a:off x="3236578" y="1324859"/>
              <a:ext cx="1136416" cy="463866"/>
            </a:xfrm>
            <a:prstGeom prst="roundRect">
              <a:avLst/>
            </a:prstGeom>
            <a:gradFill flip="none" rotWithShape="1">
              <a:gsLst>
                <a:gs pos="0">
                  <a:schemeClr val="accent2">
                    <a:lumMod val="40000"/>
                    <a:lumOff val="60000"/>
                  </a:schemeClr>
                </a:gs>
                <a:gs pos="30000">
                  <a:schemeClr val="accent2">
                    <a:lumMod val="60000"/>
                    <a:lumOff val="40000"/>
                  </a:schemeClr>
                </a:gs>
                <a:gs pos="70000">
                  <a:schemeClr val="accent2"/>
                </a:gs>
                <a:gs pos="100000">
                  <a:schemeClr val="accent2">
                    <a:lumMod val="50000"/>
                  </a:schemeClr>
                </a:gs>
              </a:gsLst>
              <a:lin ang="18900000" scaled="1"/>
              <a:tileRect/>
            </a:gradFill>
            <a:ln w="12700">
              <a:solidFill>
                <a:schemeClr val="tx1"/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600" dirty="0" smtClean="0">
                  <a:latin typeface="Tele-GroteskNor" pitchFamily="2" charset="0"/>
                </a:rPr>
                <a:t>BBB-Nutzer </a:t>
              </a:r>
              <a:r>
                <a:rPr lang="de-DE" sz="1600" dirty="0">
                  <a:latin typeface="Tele-GroteskNor" pitchFamily="2" charset="0"/>
                </a:rPr>
                <a:t>3</a:t>
              </a:r>
            </a:p>
          </p:txBody>
        </p:sp>
      </p:grpSp>
      <p:sp>
        <p:nvSpPr>
          <p:cNvPr id="16" name="Textfeld 15"/>
          <p:cNvSpPr txBox="1"/>
          <p:nvPr/>
        </p:nvSpPr>
        <p:spPr>
          <a:xfrm>
            <a:off x="4860032" y="5044534"/>
            <a:ext cx="2016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>
                <a:solidFill>
                  <a:schemeClr val="accent6"/>
                </a:solidFill>
                <a:latin typeface="Tele-GroteskNor" pitchFamily="2" charset="0"/>
              </a:rPr>
              <a:t>Redis PubSub</a:t>
            </a:r>
            <a:endParaRPr lang="de-DE" dirty="0">
              <a:solidFill>
                <a:schemeClr val="accent6"/>
              </a:solidFill>
              <a:latin typeface="Tele-GroteskNor" pitchFamily="2" charset="0"/>
            </a:endParaRPr>
          </a:p>
        </p:txBody>
      </p:sp>
      <p:sp>
        <p:nvSpPr>
          <p:cNvPr id="17" name="Textfeld 16"/>
          <p:cNvSpPr txBox="1"/>
          <p:nvPr/>
        </p:nvSpPr>
        <p:spPr>
          <a:xfrm>
            <a:off x="7020272" y="2780928"/>
            <a:ext cx="172819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u="sng" dirty="0" smtClean="0">
                <a:latin typeface="Tele-GroteskNor" pitchFamily="2" charset="0"/>
              </a:rPr>
              <a:t>Informationen:</a:t>
            </a:r>
            <a:r>
              <a:rPr lang="de-DE" sz="1400" dirty="0" smtClean="0">
                <a:latin typeface="Tele-GroteskNor" pitchFamily="2" charset="0"/>
              </a:rPr>
              <a:t/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Sitzungen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Benutzer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Chatnachrichten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Präsentationsfolien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Mauszeiger (Cursor)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Umfragen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…</a:t>
            </a:r>
            <a:endParaRPr lang="de-DE" sz="1400" dirty="0">
              <a:latin typeface="Tele-GroteskNor" pitchFamily="2" charset="0"/>
            </a:endParaRPr>
          </a:p>
        </p:txBody>
      </p:sp>
      <p:sp>
        <p:nvSpPr>
          <p:cNvPr id="18" name="Geschweifte Klammer links 17"/>
          <p:cNvSpPr/>
          <p:nvPr/>
        </p:nvSpPr>
        <p:spPr>
          <a:xfrm>
            <a:off x="6876256" y="2780928"/>
            <a:ext cx="288032" cy="1728192"/>
          </a:xfrm>
          <a:prstGeom prst="leftBrac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  <p:cxnSp>
        <p:nvCxnSpPr>
          <p:cNvPr id="37" name="Gekrümmte Verbindung 21"/>
          <p:cNvCxnSpPr>
            <a:endCxn id="11" idx="3"/>
          </p:cNvCxnSpPr>
          <p:nvPr/>
        </p:nvCxnSpPr>
        <p:spPr>
          <a:xfrm rot="5400000" flipH="1" flipV="1">
            <a:off x="4590002" y="4311098"/>
            <a:ext cx="1548172" cy="1296144"/>
          </a:xfrm>
          <a:prstGeom prst="bentConnector3">
            <a:avLst>
              <a:gd name="adj1" fmla="val 79818"/>
            </a:avLst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Gekrümmte Verbindung 21"/>
          <p:cNvCxnSpPr>
            <a:stCxn id="11" idx="1"/>
            <a:endCxn id="13" idx="2"/>
          </p:cNvCxnSpPr>
          <p:nvPr/>
        </p:nvCxnSpPr>
        <p:spPr>
          <a:xfrm flipH="1" flipV="1">
            <a:off x="5724129" y="1833088"/>
            <a:ext cx="288031" cy="1271876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Gekrümmte Verbindung 21"/>
          <p:cNvCxnSpPr>
            <a:stCxn id="11" idx="1"/>
            <a:endCxn id="14" idx="2"/>
          </p:cNvCxnSpPr>
          <p:nvPr/>
        </p:nvCxnSpPr>
        <p:spPr>
          <a:xfrm flipV="1">
            <a:off x="6012160" y="2117954"/>
            <a:ext cx="756084" cy="987010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Gekrümmte Verbindung 21"/>
          <p:cNvCxnSpPr>
            <a:stCxn id="11" idx="1"/>
            <a:endCxn id="15" idx="2"/>
          </p:cNvCxnSpPr>
          <p:nvPr/>
        </p:nvCxnSpPr>
        <p:spPr>
          <a:xfrm flipV="1">
            <a:off x="6012160" y="1860733"/>
            <a:ext cx="1800200" cy="1244231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hteck 28"/>
          <p:cNvSpPr/>
          <p:nvPr/>
        </p:nvSpPr>
        <p:spPr>
          <a:xfrm>
            <a:off x="418218" y="692171"/>
            <a:ext cx="3960439" cy="1872208"/>
          </a:xfrm>
          <a:prstGeom prst="rect">
            <a:avLst/>
          </a:prstGeom>
          <a:ln w="25400">
            <a:solidFill>
              <a:schemeClr val="accent2"/>
            </a:solidFill>
            <a:prstDash val="sysDot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Zu entwickelnde Anwendung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30" name="Ellipse 29"/>
          <p:cNvSpPr/>
          <p:nvPr/>
        </p:nvSpPr>
        <p:spPr>
          <a:xfrm>
            <a:off x="641790" y="1833088"/>
            <a:ext cx="3513293" cy="502209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tIns="0" rtlCol="0" anchor="ctr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Script (PHP)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31" name="Abgerundetes Rechteck 30"/>
          <p:cNvSpPr/>
          <p:nvPr/>
        </p:nvSpPr>
        <p:spPr>
          <a:xfrm>
            <a:off x="641790" y="1123011"/>
            <a:ext cx="985769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smtClean="0">
                <a:latin typeface="Tele-GroteskNor" pitchFamily="2" charset="0"/>
              </a:rPr>
              <a:t>Nutzer A</a:t>
            </a:r>
            <a:endParaRPr lang="de-DE" sz="1600" dirty="0">
              <a:latin typeface="Tele-GroteskNor" pitchFamily="2" charset="0"/>
            </a:endParaRPr>
          </a:p>
        </p:txBody>
      </p:sp>
      <p:sp>
        <p:nvSpPr>
          <p:cNvPr id="34" name="Abgerundetes Rechteck 33"/>
          <p:cNvSpPr/>
          <p:nvPr/>
        </p:nvSpPr>
        <p:spPr>
          <a:xfrm>
            <a:off x="1905552" y="980728"/>
            <a:ext cx="985769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smtClean="0">
                <a:latin typeface="Tele-GroteskNor" pitchFamily="2" charset="0"/>
              </a:rPr>
              <a:t>Nutzer B</a:t>
            </a:r>
            <a:endParaRPr lang="de-DE" sz="1600" dirty="0">
              <a:latin typeface="Tele-GroteskNor" pitchFamily="2" charset="0"/>
            </a:endParaRPr>
          </a:p>
        </p:txBody>
      </p:sp>
      <p:sp>
        <p:nvSpPr>
          <p:cNvPr id="35" name="Abgerundetes Rechteck 34"/>
          <p:cNvSpPr/>
          <p:nvPr/>
        </p:nvSpPr>
        <p:spPr>
          <a:xfrm>
            <a:off x="3169314" y="1100538"/>
            <a:ext cx="985769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smtClean="0">
                <a:latin typeface="Tele-GroteskNor" pitchFamily="2" charset="0"/>
              </a:rPr>
              <a:t>Nutzer C</a:t>
            </a:r>
            <a:endParaRPr lang="de-DE" sz="1600" dirty="0">
              <a:latin typeface="Tele-GroteskNor" pitchFamily="2" charset="0"/>
            </a:endParaRPr>
          </a:p>
        </p:txBody>
      </p:sp>
      <p:cxnSp>
        <p:nvCxnSpPr>
          <p:cNvPr id="39" name="Gekrümmte Verbindung 21"/>
          <p:cNvCxnSpPr/>
          <p:nvPr/>
        </p:nvCxnSpPr>
        <p:spPr>
          <a:xfrm rot="16200000" flipH="1">
            <a:off x="1594882" y="2936152"/>
            <a:ext cx="3397955" cy="2196246"/>
          </a:xfrm>
          <a:prstGeom prst="bentConnector3">
            <a:avLst/>
          </a:prstGeom>
          <a:ln w="2540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Gekrümmte Verbindung 21"/>
          <p:cNvCxnSpPr>
            <a:stCxn id="31" idx="2"/>
            <a:endCxn id="30" idx="1"/>
          </p:cNvCxnSpPr>
          <p:nvPr/>
        </p:nvCxnSpPr>
        <p:spPr>
          <a:xfrm>
            <a:off x="1134675" y="1586877"/>
            <a:ext cx="21625" cy="319758"/>
          </a:xfrm>
          <a:prstGeom prst="straightConnector1">
            <a:avLst/>
          </a:prstGeom>
          <a:ln w="25400">
            <a:solidFill>
              <a:srgbClr val="00B050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Gekrümmte Verbindung 21"/>
          <p:cNvCxnSpPr>
            <a:stCxn id="34" idx="2"/>
            <a:endCxn id="30" idx="0"/>
          </p:cNvCxnSpPr>
          <p:nvPr/>
        </p:nvCxnSpPr>
        <p:spPr>
          <a:xfrm>
            <a:off x="2398437" y="1444594"/>
            <a:ext cx="0" cy="388494"/>
          </a:xfrm>
          <a:prstGeom prst="straightConnector1">
            <a:avLst/>
          </a:prstGeom>
          <a:ln w="25400">
            <a:solidFill>
              <a:srgbClr val="00B050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Gekrümmte Verbindung 21"/>
          <p:cNvCxnSpPr>
            <a:stCxn id="35" idx="2"/>
            <a:endCxn id="30" idx="7"/>
          </p:cNvCxnSpPr>
          <p:nvPr/>
        </p:nvCxnSpPr>
        <p:spPr>
          <a:xfrm flipH="1">
            <a:off x="3640573" y="1564404"/>
            <a:ext cx="21626" cy="342231"/>
          </a:xfrm>
          <a:prstGeom prst="straightConnector1">
            <a:avLst/>
          </a:prstGeom>
          <a:ln w="25400">
            <a:solidFill>
              <a:srgbClr val="00B050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Gekrümmte Verbindung 21"/>
          <p:cNvCxnSpPr>
            <a:stCxn id="11" idx="2"/>
            <a:endCxn id="30" idx="4"/>
          </p:cNvCxnSpPr>
          <p:nvPr/>
        </p:nvCxnSpPr>
        <p:spPr>
          <a:xfrm rot="10800000">
            <a:off x="2398438" y="2335298"/>
            <a:ext cx="2821635" cy="1309727"/>
          </a:xfrm>
          <a:prstGeom prst="curvedConnector2">
            <a:avLst/>
          </a:prstGeom>
          <a:ln w="2540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Rechteck 3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013047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/>
          <p:cNvSpPr/>
          <p:nvPr/>
        </p:nvSpPr>
        <p:spPr>
          <a:xfrm>
            <a:off x="251520" y="5733256"/>
            <a:ext cx="8640960" cy="864096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tx2"/>
                </a:solidFill>
                <a:latin typeface="Tele-GroteskNor" pitchFamily="2" charset="0"/>
              </a:rPr>
              <a:t>BigBlueButton Kern</a:t>
            </a:r>
            <a:endParaRPr lang="de-DE" dirty="0">
              <a:solidFill>
                <a:schemeClr val="tx2"/>
              </a:solidFill>
              <a:latin typeface="Tele-GroteskNor" pitchFamily="2" charset="0"/>
            </a:endParaRPr>
          </a:p>
        </p:txBody>
      </p:sp>
      <p:sp>
        <p:nvSpPr>
          <p:cNvPr id="5" name="Rechteck 4"/>
          <p:cNvSpPr/>
          <p:nvPr/>
        </p:nvSpPr>
        <p:spPr>
          <a:xfrm>
            <a:off x="251520" y="260648"/>
            <a:ext cx="8640960" cy="446449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HTML5-App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7" name="Rechteck 6"/>
          <p:cNvSpPr/>
          <p:nvPr/>
        </p:nvSpPr>
        <p:spPr>
          <a:xfrm>
            <a:off x="395536" y="2708920"/>
            <a:ext cx="8352928" cy="1872208"/>
          </a:xfrm>
          <a:prstGeom prst="rect">
            <a:avLst/>
          </a:prstGeom>
          <a:ln w="25400">
            <a:solidFill>
              <a:schemeClr val="accent2"/>
            </a:solidFill>
            <a:prstDash val="sysDot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Server-Seite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11" name="Flussdiagramm: Magnetplattenspeicher 10"/>
          <p:cNvSpPr/>
          <p:nvPr/>
        </p:nvSpPr>
        <p:spPr>
          <a:xfrm>
            <a:off x="3779912" y="3398129"/>
            <a:ext cx="1584176" cy="1080120"/>
          </a:xfrm>
          <a:prstGeom prst="flowChartMagneticDisk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MongoDB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grpSp>
        <p:nvGrpSpPr>
          <p:cNvPr id="79" name="Gruppieren 78"/>
          <p:cNvGrpSpPr/>
          <p:nvPr/>
        </p:nvGrpSpPr>
        <p:grpSpPr>
          <a:xfrm>
            <a:off x="5652120" y="2780928"/>
            <a:ext cx="1872208" cy="1815882"/>
            <a:chOff x="6876256" y="2780928"/>
            <a:chExt cx="1872208" cy="1815882"/>
          </a:xfrm>
        </p:grpSpPr>
        <p:sp>
          <p:nvSpPr>
            <p:cNvPr id="17" name="Textfeld 16"/>
            <p:cNvSpPr txBox="1"/>
            <p:nvPr/>
          </p:nvSpPr>
          <p:spPr>
            <a:xfrm>
              <a:off x="7020272" y="2780928"/>
              <a:ext cx="1728192" cy="18158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400" u="sng" dirty="0" smtClean="0">
                  <a:latin typeface="Tele-GroteskNor" pitchFamily="2" charset="0"/>
                </a:rPr>
                <a:t>Informationen:</a:t>
              </a:r>
              <a:r>
                <a:rPr lang="de-DE" sz="1400" dirty="0" smtClean="0">
                  <a:latin typeface="Tele-GroteskNor" pitchFamily="2" charset="0"/>
                </a:rPr>
                <a:t/>
              </a:r>
              <a:br>
                <a:rPr lang="de-DE" sz="1400" dirty="0" smtClean="0">
                  <a:latin typeface="Tele-GroteskNor" pitchFamily="2" charset="0"/>
                </a:rPr>
              </a:br>
              <a:r>
                <a:rPr lang="de-DE" sz="1400" dirty="0" smtClean="0">
                  <a:latin typeface="Tele-GroteskNor" pitchFamily="2" charset="0"/>
                </a:rPr>
                <a:t>- Sitzungen</a:t>
              </a:r>
              <a:br>
                <a:rPr lang="de-DE" sz="1400" dirty="0" smtClean="0">
                  <a:latin typeface="Tele-GroteskNor" pitchFamily="2" charset="0"/>
                </a:rPr>
              </a:br>
              <a:r>
                <a:rPr lang="de-DE" sz="1400" dirty="0" smtClean="0">
                  <a:latin typeface="Tele-GroteskNor" pitchFamily="2" charset="0"/>
                </a:rPr>
                <a:t>- Benutzer</a:t>
              </a:r>
              <a:br>
                <a:rPr lang="de-DE" sz="1400" dirty="0" smtClean="0">
                  <a:latin typeface="Tele-GroteskNor" pitchFamily="2" charset="0"/>
                </a:rPr>
              </a:br>
              <a:r>
                <a:rPr lang="de-DE" sz="1400" dirty="0" smtClean="0">
                  <a:latin typeface="Tele-GroteskNor" pitchFamily="2" charset="0"/>
                </a:rPr>
                <a:t>- Chatnachrichten</a:t>
              </a:r>
              <a:br>
                <a:rPr lang="de-DE" sz="1400" dirty="0" smtClean="0">
                  <a:latin typeface="Tele-GroteskNor" pitchFamily="2" charset="0"/>
                </a:rPr>
              </a:br>
              <a:r>
                <a:rPr lang="de-DE" sz="1400" dirty="0" smtClean="0">
                  <a:latin typeface="Tele-GroteskNor" pitchFamily="2" charset="0"/>
                </a:rPr>
                <a:t>- Präsentationsfolien</a:t>
              </a:r>
              <a:br>
                <a:rPr lang="de-DE" sz="1400" dirty="0" smtClean="0">
                  <a:latin typeface="Tele-GroteskNor" pitchFamily="2" charset="0"/>
                </a:rPr>
              </a:br>
              <a:r>
                <a:rPr lang="de-DE" sz="1400" dirty="0" smtClean="0">
                  <a:latin typeface="Tele-GroteskNor" pitchFamily="2" charset="0"/>
                </a:rPr>
                <a:t>- Mauszeiger (Cursor)</a:t>
              </a:r>
              <a:br>
                <a:rPr lang="de-DE" sz="1400" dirty="0" smtClean="0">
                  <a:latin typeface="Tele-GroteskNor" pitchFamily="2" charset="0"/>
                </a:rPr>
              </a:br>
              <a:r>
                <a:rPr lang="de-DE" sz="1400" dirty="0" smtClean="0">
                  <a:latin typeface="Tele-GroteskNor" pitchFamily="2" charset="0"/>
                </a:rPr>
                <a:t>- Umfragen</a:t>
              </a:r>
              <a:br>
                <a:rPr lang="de-DE" sz="1400" dirty="0" smtClean="0">
                  <a:latin typeface="Tele-GroteskNor" pitchFamily="2" charset="0"/>
                </a:rPr>
              </a:br>
              <a:r>
                <a:rPr lang="de-DE" sz="1400" dirty="0" smtClean="0">
                  <a:latin typeface="Tele-GroteskNor" pitchFamily="2" charset="0"/>
                </a:rPr>
                <a:t>- …</a:t>
              </a:r>
              <a:endParaRPr lang="de-DE" sz="1400" dirty="0">
                <a:latin typeface="Tele-GroteskNor" pitchFamily="2" charset="0"/>
              </a:endParaRPr>
            </a:p>
          </p:txBody>
        </p:sp>
        <p:sp>
          <p:nvSpPr>
            <p:cNvPr id="18" name="Geschweifte Klammer links 17"/>
            <p:cNvSpPr/>
            <p:nvPr/>
          </p:nvSpPr>
          <p:spPr>
            <a:xfrm>
              <a:off x="6876256" y="2780928"/>
              <a:ext cx="288032" cy="1728192"/>
            </a:xfrm>
            <a:prstGeom prst="leftBrace">
              <a:avLst>
                <a:gd name="adj1" fmla="val 8333"/>
                <a:gd name="adj2" fmla="val 16864"/>
              </a:avLst>
            </a:prstGeom>
            <a:noFill/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rgbClr val="00B050"/>
                </a:solidFill>
                <a:latin typeface="Tele-GroteskNor" pitchFamily="2" charset="0"/>
              </a:endParaRPr>
            </a:p>
          </p:txBody>
        </p:sp>
      </p:grpSp>
      <p:sp>
        <p:nvSpPr>
          <p:cNvPr id="29" name="Rechteck 28"/>
          <p:cNvSpPr/>
          <p:nvPr/>
        </p:nvSpPr>
        <p:spPr>
          <a:xfrm>
            <a:off x="418218" y="692171"/>
            <a:ext cx="3960439" cy="1872208"/>
          </a:xfrm>
          <a:prstGeom prst="rect">
            <a:avLst/>
          </a:prstGeom>
          <a:ln w="25400">
            <a:solidFill>
              <a:schemeClr val="accent2"/>
            </a:solidFill>
            <a:prstDash val="sysDot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Vereinfachter Client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grpSp>
        <p:nvGrpSpPr>
          <p:cNvPr id="32" name="Gruppieren 31"/>
          <p:cNvGrpSpPr/>
          <p:nvPr/>
        </p:nvGrpSpPr>
        <p:grpSpPr>
          <a:xfrm>
            <a:off x="641790" y="692696"/>
            <a:ext cx="8074735" cy="1872208"/>
            <a:chOff x="-4242399" y="836712"/>
            <a:chExt cx="9102431" cy="1872208"/>
          </a:xfrm>
        </p:grpSpPr>
        <p:sp>
          <p:nvSpPr>
            <p:cNvPr id="33" name="Rechteck 32"/>
            <p:cNvSpPr/>
            <p:nvPr/>
          </p:nvSpPr>
          <p:spPr>
            <a:xfrm>
              <a:off x="395536" y="836712"/>
              <a:ext cx="4464496" cy="1872208"/>
            </a:xfrm>
            <a:prstGeom prst="rect">
              <a:avLst/>
            </a:prstGeom>
            <a:ln w="25400">
              <a:solidFill>
                <a:schemeClr val="accent2"/>
              </a:solidFill>
              <a:prstDash val="sysDot"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r>
                <a:rPr lang="de-DE" dirty="0" smtClean="0">
                  <a:solidFill>
                    <a:schemeClr val="accent2"/>
                  </a:solidFill>
                  <a:latin typeface="Tele-GroteskNor" pitchFamily="2" charset="0"/>
                </a:rPr>
                <a:t>Client-Seite</a:t>
              </a:r>
              <a:endParaRPr lang="de-DE" dirty="0">
                <a:solidFill>
                  <a:schemeClr val="accent2"/>
                </a:solidFill>
                <a:latin typeface="Tele-GroteskNor" pitchFamily="2" charset="0"/>
              </a:endParaRPr>
            </a:p>
          </p:txBody>
        </p:sp>
        <p:sp>
          <p:nvSpPr>
            <p:cNvPr id="36" name="Ellipse 35"/>
            <p:cNvSpPr/>
            <p:nvPr/>
          </p:nvSpPr>
          <p:spPr>
            <a:xfrm>
              <a:off x="-4242399" y="1125269"/>
              <a:ext cx="8814399" cy="1296144"/>
            </a:xfrm>
            <a:prstGeom prst="ellipse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tIns="0" rtlCol="0" anchor="t"/>
            <a:lstStyle/>
            <a:p>
              <a:pPr algn="ctr"/>
              <a:r>
                <a:rPr lang="de-DE" dirty="0" smtClean="0">
                  <a:solidFill>
                    <a:schemeClr val="bg1">
                      <a:lumMod val="95000"/>
                    </a:schemeClr>
                  </a:solidFill>
                  <a:latin typeface="Tele-GroteskNor" pitchFamily="2" charset="0"/>
                </a:rPr>
                <a:t>Sitzung X</a:t>
              </a:r>
              <a:endParaRPr lang="de-DE" dirty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endParaRPr>
            </a:p>
          </p:txBody>
        </p:sp>
        <p:sp>
          <p:nvSpPr>
            <p:cNvPr id="38" name="Abgerundetes Rechteck 37"/>
            <p:cNvSpPr/>
            <p:nvPr/>
          </p:nvSpPr>
          <p:spPr>
            <a:xfrm>
              <a:off x="837402" y="1236942"/>
              <a:ext cx="1136416" cy="463866"/>
            </a:xfrm>
            <a:prstGeom prst="roundRect">
              <a:avLst/>
            </a:prstGeom>
            <a:gradFill flip="none" rotWithShape="1">
              <a:gsLst>
                <a:gs pos="0">
                  <a:schemeClr val="accent2">
                    <a:lumMod val="40000"/>
                    <a:lumOff val="60000"/>
                  </a:schemeClr>
                </a:gs>
                <a:gs pos="30000">
                  <a:schemeClr val="accent2">
                    <a:lumMod val="60000"/>
                    <a:lumOff val="40000"/>
                  </a:schemeClr>
                </a:gs>
                <a:gs pos="70000">
                  <a:schemeClr val="accent2"/>
                </a:gs>
                <a:gs pos="100000">
                  <a:schemeClr val="accent2">
                    <a:lumMod val="50000"/>
                  </a:schemeClr>
                </a:gs>
              </a:gsLst>
              <a:lin ang="18900000" scaled="1"/>
              <a:tileRect/>
            </a:gradFill>
            <a:ln w="12700">
              <a:solidFill>
                <a:schemeClr val="tx1"/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600" dirty="0" smtClean="0">
                  <a:latin typeface="Tele-GroteskNor" pitchFamily="2" charset="0"/>
                </a:rPr>
                <a:t>BBB-Nutzer </a:t>
              </a:r>
              <a:r>
                <a:rPr lang="de-DE" sz="1600" dirty="0">
                  <a:latin typeface="Tele-GroteskNor" pitchFamily="2" charset="0"/>
                </a:rPr>
                <a:t>1</a:t>
              </a:r>
            </a:p>
          </p:txBody>
        </p:sp>
        <p:sp>
          <p:nvSpPr>
            <p:cNvPr id="41" name="Abgerundetes Rechteck 40"/>
            <p:cNvSpPr/>
            <p:nvPr/>
          </p:nvSpPr>
          <p:spPr>
            <a:xfrm>
              <a:off x="1477690" y="1772291"/>
              <a:ext cx="1136417" cy="463866"/>
            </a:xfrm>
            <a:prstGeom prst="roundRect">
              <a:avLst/>
            </a:prstGeom>
            <a:gradFill flip="none" rotWithShape="1">
              <a:gsLst>
                <a:gs pos="0">
                  <a:schemeClr val="accent2">
                    <a:lumMod val="40000"/>
                    <a:lumOff val="60000"/>
                  </a:schemeClr>
                </a:gs>
                <a:gs pos="30000">
                  <a:schemeClr val="accent2">
                    <a:lumMod val="60000"/>
                    <a:lumOff val="40000"/>
                  </a:schemeClr>
                </a:gs>
                <a:gs pos="70000">
                  <a:schemeClr val="accent2"/>
                </a:gs>
                <a:gs pos="100000">
                  <a:schemeClr val="accent2">
                    <a:lumMod val="50000"/>
                  </a:schemeClr>
                </a:gs>
              </a:gsLst>
              <a:lin ang="18900000" scaled="1"/>
              <a:tileRect/>
            </a:gradFill>
            <a:ln w="12700">
              <a:solidFill>
                <a:schemeClr val="tx1"/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600" dirty="0" smtClean="0">
                  <a:latin typeface="Tele-GroteskNor" pitchFamily="2" charset="0"/>
                </a:rPr>
                <a:t>BBB-Nutzer </a:t>
              </a:r>
              <a:r>
                <a:rPr lang="de-DE" sz="1600" dirty="0">
                  <a:latin typeface="Tele-GroteskNor" pitchFamily="2" charset="0"/>
                </a:rPr>
                <a:t>2</a:t>
              </a:r>
            </a:p>
          </p:txBody>
        </p:sp>
        <p:sp>
          <p:nvSpPr>
            <p:cNvPr id="43" name="Abgerundetes Rechteck 42"/>
            <p:cNvSpPr/>
            <p:nvPr/>
          </p:nvSpPr>
          <p:spPr>
            <a:xfrm>
              <a:off x="2785548" y="1541408"/>
              <a:ext cx="1136416" cy="463866"/>
            </a:xfrm>
            <a:prstGeom prst="roundRect">
              <a:avLst/>
            </a:prstGeom>
            <a:gradFill flip="none" rotWithShape="1">
              <a:gsLst>
                <a:gs pos="0">
                  <a:schemeClr val="accent2">
                    <a:lumMod val="40000"/>
                    <a:lumOff val="60000"/>
                  </a:schemeClr>
                </a:gs>
                <a:gs pos="30000">
                  <a:schemeClr val="accent2">
                    <a:lumMod val="60000"/>
                    <a:lumOff val="40000"/>
                  </a:schemeClr>
                </a:gs>
                <a:gs pos="70000">
                  <a:schemeClr val="accent2"/>
                </a:gs>
                <a:gs pos="100000">
                  <a:schemeClr val="accent2">
                    <a:lumMod val="50000"/>
                  </a:schemeClr>
                </a:gs>
              </a:gsLst>
              <a:lin ang="18900000" scaled="1"/>
              <a:tileRect/>
            </a:gradFill>
            <a:ln w="12700">
              <a:solidFill>
                <a:schemeClr val="tx1"/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600" dirty="0" smtClean="0">
                  <a:latin typeface="Tele-GroteskNor" pitchFamily="2" charset="0"/>
                </a:rPr>
                <a:t>BBB-Nutzer </a:t>
              </a:r>
              <a:r>
                <a:rPr lang="de-DE" sz="1600" dirty="0">
                  <a:latin typeface="Tele-GroteskNor" pitchFamily="2" charset="0"/>
                </a:rPr>
                <a:t>3</a:t>
              </a:r>
            </a:p>
          </p:txBody>
        </p:sp>
      </p:grpSp>
      <p:cxnSp>
        <p:nvCxnSpPr>
          <p:cNvPr id="40" name="Gekrümmte Verbindung 21"/>
          <p:cNvCxnSpPr>
            <a:stCxn id="11" idx="1"/>
            <a:endCxn id="38" idx="1"/>
          </p:cNvCxnSpPr>
          <p:nvPr/>
        </p:nvCxnSpPr>
        <p:spPr>
          <a:xfrm rot="5400000" flipH="1" flipV="1">
            <a:off x="3823397" y="2073462"/>
            <a:ext cx="2073270" cy="576064"/>
          </a:xfrm>
          <a:prstGeom prst="curvedConnector2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Gekrümmte Verbindung 21"/>
          <p:cNvCxnSpPr>
            <a:stCxn id="11" idx="1"/>
            <a:endCxn id="43" idx="2"/>
          </p:cNvCxnSpPr>
          <p:nvPr/>
        </p:nvCxnSpPr>
        <p:spPr>
          <a:xfrm rot="5400000" flipH="1" flipV="1">
            <a:off x="5207721" y="1225538"/>
            <a:ext cx="1536871" cy="2808313"/>
          </a:xfrm>
          <a:prstGeom prst="curvedConnector3">
            <a:avLst>
              <a:gd name="adj1" fmla="val 50000"/>
            </a:avLst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Gekrümmte Verbindung 21"/>
          <p:cNvCxnSpPr>
            <a:stCxn id="11" idx="1"/>
            <a:endCxn id="41" idx="1"/>
          </p:cNvCxnSpPr>
          <p:nvPr/>
        </p:nvCxnSpPr>
        <p:spPr>
          <a:xfrm rot="5400000" flipH="1" flipV="1">
            <a:off x="4375070" y="2057139"/>
            <a:ext cx="1537921" cy="1144061"/>
          </a:xfrm>
          <a:prstGeom prst="curvedConnector2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Pfeil nach oben und unten 44"/>
          <p:cNvSpPr/>
          <p:nvPr/>
        </p:nvSpPr>
        <p:spPr>
          <a:xfrm>
            <a:off x="4391980" y="4797152"/>
            <a:ext cx="360040" cy="864096"/>
          </a:xfrm>
          <a:prstGeom prst="upDownArrow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  <p:sp>
        <p:nvSpPr>
          <p:cNvPr id="46" name="Textfeld 45"/>
          <p:cNvSpPr txBox="1"/>
          <p:nvPr/>
        </p:nvSpPr>
        <p:spPr>
          <a:xfrm>
            <a:off x="4752026" y="5044534"/>
            <a:ext cx="2016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>
                <a:solidFill>
                  <a:schemeClr val="accent6"/>
                </a:solidFill>
                <a:latin typeface="Tele-GroteskNor" pitchFamily="2" charset="0"/>
              </a:rPr>
              <a:t>Redis PubSub</a:t>
            </a:r>
            <a:endParaRPr lang="de-DE" dirty="0">
              <a:solidFill>
                <a:schemeClr val="accent6"/>
              </a:solidFill>
              <a:latin typeface="Tele-GroteskNor" pitchFamily="2" charset="0"/>
            </a:endParaRPr>
          </a:p>
        </p:txBody>
      </p:sp>
      <p:sp>
        <p:nvSpPr>
          <p:cNvPr id="80" name="Geschweifte Klammer links 79"/>
          <p:cNvSpPr/>
          <p:nvPr/>
        </p:nvSpPr>
        <p:spPr>
          <a:xfrm>
            <a:off x="3203848" y="2780928"/>
            <a:ext cx="288032" cy="1169551"/>
          </a:xfrm>
          <a:prstGeom prst="leftBrace">
            <a:avLst>
              <a:gd name="adj1" fmla="val 8333"/>
              <a:gd name="adj2" fmla="val 16864"/>
            </a:avLst>
          </a:prstGeom>
          <a:noFill/>
          <a:ln w="19050">
            <a:solidFill>
              <a:srgbClr val="00B050"/>
            </a:solidFill>
          </a:ln>
          <a:scene3d>
            <a:camera prst="orthographicFront">
              <a:rot lat="0" lon="10799999" rev="0"/>
            </a:camera>
            <a:lightRig rig="threePt" dir="t"/>
          </a:scene3d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>
              <a:solidFill>
                <a:srgbClr val="00B050"/>
              </a:solidFill>
              <a:latin typeface="Tele-GroteskNor" pitchFamily="2" charset="0"/>
            </a:endParaRPr>
          </a:p>
        </p:txBody>
      </p:sp>
      <p:sp>
        <p:nvSpPr>
          <p:cNvPr id="81" name="Textfeld 80"/>
          <p:cNvSpPr txBox="1"/>
          <p:nvPr/>
        </p:nvSpPr>
        <p:spPr>
          <a:xfrm>
            <a:off x="1763688" y="2780928"/>
            <a:ext cx="1728192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u="sng" dirty="0" smtClean="0">
                <a:latin typeface="Tele-GroteskNor" pitchFamily="2" charset="0"/>
              </a:rPr>
              <a:t>Informationen:</a:t>
            </a:r>
            <a:r>
              <a:rPr lang="de-DE" sz="1400" dirty="0" smtClean="0">
                <a:latin typeface="Tele-GroteskNor" pitchFamily="2" charset="0"/>
              </a:rPr>
              <a:t/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Sitzungen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Benutzer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Chatnachrichten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Umfragen</a:t>
            </a:r>
            <a:endParaRPr lang="de-DE" sz="1400" dirty="0">
              <a:latin typeface="Tele-GroteskNor" pitchFamily="2" charset="0"/>
            </a:endParaRPr>
          </a:p>
        </p:txBody>
      </p:sp>
      <p:sp>
        <p:nvSpPr>
          <p:cNvPr id="31" name="Abgerundetes Rechteck 30"/>
          <p:cNvSpPr/>
          <p:nvPr/>
        </p:nvSpPr>
        <p:spPr>
          <a:xfrm>
            <a:off x="1137959" y="1397393"/>
            <a:ext cx="985769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smtClean="0">
                <a:latin typeface="Tele-GroteskNor" pitchFamily="2" charset="0"/>
              </a:rPr>
              <a:t>BBB-Nutzer 4</a:t>
            </a:r>
            <a:endParaRPr lang="de-DE" sz="1600" dirty="0">
              <a:latin typeface="Tele-GroteskNor" pitchFamily="2" charset="0"/>
            </a:endParaRPr>
          </a:p>
        </p:txBody>
      </p:sp>
      <p:sp>
        <p:nvSpPr>
          <p:cNvPr id="34" name="Abgerundetes Rechteck 33"/>
          <p:cNvSpPr/>
          <p:nvPr/>
        </p:nvSpPr>
        <p:spPr>
          <a:xfrm>
            <a:off x="2267744" y="1629326"/>
            <a:ext cx="985769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smtClean="0">
                <a:latin typeface="Tele-GroteskNor" pitchFamily="2" charset="0"/>
              </a:rPr>
              <a:t>BBB-Nutzer 5</a:t>
            </a:r>
            <a:endParaRPr lang="de-DE" sz="1600" dirty="0">
              <a:latin typeface="Tele-GroteskNor" pitchFamily="2" charset="0"/>
            </a:endParaRPr>
          </a:p>
        </p:txBody>
      </p:sp>
      <p:sp>
        <p:nvSpPr>
          <p:cNvPr id="35" name="Abgerundetes Rechteck 34"/>
          <p:cNvSpPr/>
          <p:nvPr/>
        </p:nvSpPr>
        <p:spPr>
          <a:xfrm>
            <a:off x="2938159" y="1092926"/>
            <a:ext cx="985769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smtClean="0">
                <a:latin typeface="Tele-GroteskNor" pitchFamily="2" charset="0"/>
              </a:rPr>
              <a:t>BBB-Nutzer 6</a:t>
            </a:r>
            <a:endParaRPr lang="de-DE" sz="1600" dirty="0">
              <a:latin typeface="Tele-GroteskNor" pitchFamily="2" charset="0"/>
            </a:endParaRPr>
          </a:p>
        </p:txBody>
      </p:sp>
      <p:cxnSp>
        <p:nvCxnSpPr>
          <p:cNvPr id="93" name="Gekrümmte Verbindung 21"/>
          <p:cNvCxnSpPr>
            <a:stCxn id="11" idx="1"/>
            <a:endCxn id="35" idx="3"/>
          </p:cNvCxnSpPr>
          <p:nvPr/>
        </p:nvCxnSpPr>
        <p:spPr>
          <a:xfrm rot="16200000" flipV="1">
            <a:off x="3211329" y="2037458"/>
            <a:ext cx="2073270" cy="648072"/>
          </a:xfrm>
          <a:prstGeom prst="curvedConnector2">
            <a:avLst/>
          </a:prstGeom>
          <a:ln w="2540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Gekrümmte Verbindung 21"/>
          <p:cNvCxnSpPr>
            <a:endCxn id="34" idx="3"/>
          </p:cNvCxnSpPr>
          <p:nvPr/>
        </p:nvCxnSpPr>
        <p:spPr>
          <a:xfrm rot="16200000" flipV="1">
            <a:off x="3160536" y="1954236"/>
            <a:ext cx="1504444" cy="1318489"/>
          </a:xfrm>
          <a:prstGeom prst="curvedConnector2">
            <a:avLst/>
          </a:prstGeom>
          <a:ln w="2540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Gekrümmte Verbindung 21"/>
          <p:cNvCxnSpPr>
            <a:stCxn id="11" idx="1"/>
            <a:endCxn id="31" idx="2"/>
          </p:cNvCxnSpPr>
          <p:nvPr/>
        </p:nvCxnSpPr>
        <p:spPr>
          <a:xfrm rot="16200000" flipV="1">
            <a:off x="2332987" y="1159116"/>
            <a:ext cx="1536870" cy="2941156"/>
          </a:xfrm>
          <a:prstGeom prst="curvedConnector3">
            <a:avLst>
              <a:gd name="adj1" fmla="val 50000"/>
            </a:avLst>
          </a:prstGeom>
          <a:ln w="2540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hteck 29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290138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uppieren 7"/>
          <p:cNvGrpSpPr/>
          <p:nvPr/>
        </p:nvGrpSpPr>
        <p:grpSpPr>
          <a:xfrm>
            <a:off x="3673139" y="1971050"/>
            <a:ext cx="1330909" cy="1385942"/>
            <a:chOff x="6660232" y="2326324"/>
            <a:chExt cx="1330909" cy="1385942"/>
          </a:xfrm>
        </p:grpSpPr>
        <p:pic>
          <p:nvPicPr>
            <p:cNvPr id="7" name="Grafik 6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60232" y="2492896"/>
              <a:ext cx="1219370" cy="1219370"/>
            </a:xfrm>
            <a:prstGeom prst="rect">
              <a:avLst/>
            </a:prstGeom>
            <a:ln w="12700">
              <a:solidFill>
                <a:schemeClr val="tx1"/>
              </a:solidFill>
            </a:ln>
          </p:spPr>
        </p:pic>
        <p:pic>
          <p:nvPicPr>
            <p:cNvPr id="1030" name="Picture 6" descr="Datei:Bbb logo.png"/>
            <p:cNvPicPr>
              <a:picLocks noChangeAspect="1" noChangeArrowheads="1"/>
            </p:cNvPicPr>
            <p:nvPr/>
          </p:nvPicPr>
          <p:blipFill rotWithShape="1">
            <a:blip r:embed="rId3">
              <a:clrChange>
                <a:clrFrom>
                  <a:srgbClr val="000000">
                    <a:alpha val="0"/>
                  </a:srgbClr>
                </a:clrFrom>
                <a:clrTo>
                  <a:srgbClr val="000000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75077"/>
            <a:stretch/>
          </p:blipFill>
          <p:spPr bwMode="auto">
            <a:xfrm>
              <a:off x="7497317" y="2326324"/>
              <a:ext cx="493824" cy="48446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8" name="Gruppieren 47"/>
          <p:cNvGrpSpPr/>
          <p:nvPr/>
        </p:nvGrpSpPr>
        <p:grpSpPr>
          <a:xfrm>
            <a:off x="5284404" y="3023466"/>
            <a:ext cx="2952328" cy="172755"/>
            <a:chOff x="1221878" y="3117608"/>
            <a:chExt cx="2952328" cy="172755"/>
          </a:xfrm>
        </p:grpSpPr>
        <p:sp>
          <p:nvSpPr>
            <p:cNvPr id="47" name="Rechteck 46"/>
            <p:cNvSpPr/>
            <p:nvPr/>
          </p:nvSpPr>
          <p:spPr>
            <a:xfrm>
              <a:off x="1221878" y="3128690"/>
              <a:ext cx="918102" cy="161673"/>
            </a:xfrm>
            <a:prstGeom prst="rect">
              <a:avLst/>
            </a:prstGeom>
            <a:solidFill>
              <a:srgbClr val="FFFF99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00" dirty="0" smtClean="0">
                  <a:solidFill>
                    <a:sysClr val="windowText" lastClr="000000"/>
                  </a:solidFill>
                </a:rPr>
                <a:t>Raum 1</a:t>
              </a:r>
              <a:endParaRPr lang="de-DE" sz="14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1" name="Rechteck 50"/>
            <p:cNvSpPr/>
            <p:nvPr/>
          </p:nvSpPr>
          <p:spPr>
            <a:xfrm>
              <a:off x="2247992" y="3117608"/>
              <a:ext cx="918102" cy="161673"/>
            </a:xfrm>
            <a:prstGeom prst="rect">
              <a:avLst/>
            </a:prstGeom>
            <a:solidFill>
              <a:srgbClr val="FF7C80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00" dirty="0" smtClean="0">
                  <a:solidFill>
                    <a:sysClr val="windowText" lastClr="000000"/>
                  </a:solidFill>
                </a:rPr>
                <a:t>Raum 2</a:t>
              </a:r>
              <a:endParaRPr lang="de-DE" sz="14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2" name="Rechteck 51"/>
            <p:cNvSpPr/>
            <p:nvPr/>
          </p:nvSpPr>
          <p:spPr>
            <a:xfrm>
              <a:off x="3256104" y="3117608"/>
              <a:ext cx="918102" cy="161673"/>
            </a:xfrm>
            <a:prstGeom prst="rect">
              <a:avLst/>
            </a:prstGeom>
            <a:solidFill>
              <a:srgbClr val="66CCFF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00" dirty="0" smtClean="0">
                  <a:solidFill>
                    <a:sysClr val="windowText" lastClr="000000"/>
                  </a:solidFill>
                </a:rPr>
                <a:t>Raum 3</a:t>
              </a:r>
              <a:endParaRPr lang="de-DE" sz="1400" dirty="0">
                <a:solidFill>
                  <a:sysClr val="windowText" lastClr="000000"/>
                </a:solidFill>
              </a:endParaRPr>
            </a:p>
          </p:txBody>
        </p:sp>
      </p:grpSp>
      <p:grpSp>
        <p:nvGrpSpPr>
          <p:cNvPr id="1026" name="Gruppieren 1025"/>
          <p:cNvGrpSpPr/>
          <p:nvPr/>
        </p:nvGrpSpPr>
        <p:grpSpPr>
          <a:xfrm>
            <a:off x="177813" y="148190"/>
            <a:ext cx="2346810" cy="1408602"/>
            <a:chOff x="177813" y="220198"/>
            <a:chExt cx="2346810" cy="1408602"/>
          </a:xfrm>
        </p:grpSpPr>
        <p:sp>
          <p:nvSpPr>
            <p:cNvPr id="38" name="Rechteck 37"/>
            <p:cNvSpPr/>
            <p:nvPr/>
          </p:nvSpPr>
          <p:spPr>
            <a:xfrm>
              <a:off x="177813" y="220198"/>
              <a:ext cx="2346810" cy="1408602"/>
            </a:xfrm>
            <a:prstGeom prst="rect">
              <a:avLst/>
            </a:prstGeom>
            <a:solidFill>
              <a:srgbClr val="FFFF99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1025" name="Gruppieren 1024"/>
            <p:cNvGrpSpPr/>
            <p:nvPr/>
          </p:nvGrpSpPr>
          <p:grpSpPr>
            <a:xfrm>
              <a:off x="1660624" y="244749"/>
              <a:ext cx="751136" cy="952003"/>
              <a:chOff x="1660624" y="244749"/>
              <a:chExt cx="751136" cy="952003"/>
            </a:xfrm>
          </p:grpSpPr>
          <p:pic>
            <p:nvPicPr>
              <p:cNvPr id="34" name="Grafik 33"/>
              <p:cNvPicPr>
                <a:picLocks noChangeAspect="1"/>
              </p:cNvPicPr>
              <p:nvPr/>
            </p:nvPicPr>
            <p:blipFill rotWithShape="1"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5026" r="13579"/>
              <a:stretch/>
            </p:blipFill>
            <p:spPr>
              <a:xfrm>
                <a:off x="1907704" y="764704"/>
                <a:ext cx="257050" cy="360040"/>
              </a:xfrm>
              <a:prstGeom prst="rect">
                <a:avLst/>
              </a:prstGeom>
            </p:spPr>
          </p:pic>
          <p:pic>
            <p:nvPicPr>
              <p:cNvPr id="35" name="Grafik 34"/>
              <p:cNvPicPr>
                <a:picLocks noChangeAspect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15236" r="2750" b="19797"/>
              <a:stretch/>
            </p:blipFill>
            <p:spPr>
              <a:xfrm>
                <a:off x="1691680" y="279156"/>
                <a:ext cx="672916" cy="449544"/>
              </a:xfrm>
              <a:prstGeom prst="rect">
                <a:avLst/>
              </a:prstGeom>
            </p:spPr>
          </p:pic>
          <p:sp>
            <p:nvSpPr>
              <p:cNvPr id="39" name="Rechteck 38"/>
              <p:cNvSpPr/>
              <p:nvPr/>
            </p:nvSpPr>
            <p:spPr>
              <a:xfrm>
                <a:off x="1660624" y="244749"/>
                <a:ext cx="751136" cy="952003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3" name="Gruppieren 2"/>
            <p:cNvGrpSpPr/>
            <p:nvPr/>
          </p:nvGrpSpPr>
          <p:grpSpPr>
            <a:xfrm>
              <a:off x="1958155" y="1216341"/>
              <a:ext cx="453605" cy="320862"/>
              <a:chOff x="1814139" y="1221303"/>
              <a:chExt cx="3731830" cy="2639745"/>
            </a:xfrm>
          </p:grpSpPr>
          <p:pic>
            <p:nvPicPr>
              <p:cNvPr id="30" name="Grafik 29"/>
              <p:cNvPicPr>
                <a:picLocks noChangeAspect="1"/>
              </p:cNvPicPr>
              <p:nvPr/>
            </p:nvPicPr>
            <p:blipFill rotWithShape="1"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13342" b="15506"/>
              <a:stretch/>
            </p:blipFill>
            <p:spPr>
              <a:xfrm>
                <a:off x="1814139" y="1221303"/>
                <a:ext cx="3731830" cy="2639745"/>
              </a:xfrm>
              <a:prstGeom prst="rect">
                <a:avLst/>
              </a:prstGeom>
            </p:spPr>
          </p:pic>
          <p:pic>
            <p:nvPicPr>
              <p:cNvPr id="49" name="Picture 6" descr="Datei:Bbb logo.png"/>
              <p:cNvPicPr>
                <a:picLocks noChangeAspect="1" noChangeArrowheads="1"/>
              </p:cNvPicPr>
              <p:nvPr/>
            </p:nvPicPr>
            <p:blipFill rotWithShape="1">
              <a:blip r:embed="rId7" cstate="print">
                <a:clrChange>
                  <a:clrFrom>
                    <a:srgbClr val="000000">
                      <a:alpha val="0"/>
                    </a:srgbClr>
                  </a:clrFrom>
                  <a:clrTo>
                    <a:srgbClr val="000000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75077"/>
              <a:stretch/>
            </p:blipFill>
            <p:spPr bwMode="auto">
              <a:xfrm>
                <a:off x="3048198" y="1862319"/>
                <a:ext cx="1266190" cy="12422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cxnSp>
          <p:nvCxnSpPr>
            <p:cNvPr id="12" name="Gerade Verbindung mit Pfeil 11"/>
            <p:cNvCxnSpPr>
              <a:stCxn id="30" idx="1"/>
            </p:cNvCxnSpPr>
            <p:nvPr/>
          </p:nvCxnSpPr>
          <p:spPr>
            <a:xfrm rot="10800000">
              <a:off x="1834397" y="1216346"/>
              <a:ext cx="123758" cy="160426"/>
            </a:xfrm>
            <a:prstGeom prst="bent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Gerade Verbindung mit Pfeil 58"/>
            <p:cNvCxnSpPr>
              <a:stCxn id="39" idx="1"/>
            </p:cNvCxnSpPr>
            <p:nvPr/>
          </p:nvCxnSpPr>
          <p:spPr>
            <a:xfrm flipH="1" flipV="1">
              <a:off x="1504085" y="720750"/>
              <a:ext cx="156539" cy="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3" name="Gruppieren 62"/>
            <p:cNvGrpSpPr/>
            <p:nvPr/>
          </p:nvGrpSpPr>
          <p:grpSpPr>
            <a:xfrm>
              <a:off x="236029" y="264338"/>
              <a:ext cx="1251794" cy="1292454"/>
              <a:chOff x="236029" y="244749"/>
              <a:chExt cx="1251794" cy="1292454"/>
            </a:xfrm>
          </p:grpSpPr>
          <p:grpSp>
            <p:nvGrpSpPr>
              <p:cNvPr id="61" name="Gruppieren 60"/>
              <p:cNvGrpSpPr/>
              <p:nvPr/>
            </p:nvGrpSpPr>
            <p:grpSpPr>
              <a:xfrm>
                <a:off x="253829" y="279156"/>
                <a:ext cx="1219200" cy="1219200"/>
                <a:chOff x="251520" y="263116"/>
                <a:chExt cx="1219200" cy="1219200"/>
              </a:xfrm>
            </p:grpSpPr>
            <p:pic>
              <p:nvPicPr>
                <p:cNvPr id="23" name="Grafik 22"/>
                <p:cNvPicPr>
                  <a:picLocks noChangeAspect="1"/>
                </p:cNvPicPr>
                <p:nvPr/>
              </p:nvPicPr>
              <p:blipFill>
                <a:blip r:embed="rId8">
                  <a:clrChange>
                    <a:clrFrom>
                      <a:srgbClr val="FFFFFF"/>
                    </a:clrFrom>
                    <a:clrTo>
                      <a:srgbClr val="FFFFFF">
                        <a:alpha val="0"/>
                      </a:srgbClr>
                    </a:clrTo>
                  </a:clrChange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51520" y="263116"/>
                  <a:ext cx="1219200" cy="1219200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</p:pic>
            <p:pic>
              <p:nvPicPr>
                <p:cNvPr id="40" name="Grafik 39"/>
                <p:cNvPicPr>
                  <a:picLocks noChangeAspect="1"/>
                </p:cNvPicPr>
                <p:nvPr/>
              </p:nvPicPr>
              <p:blipFill rotWithShape="1">
                <a:blip r:embed="rId9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3443" r="21856"/>
                <a:stretch/>
              </p:blipFill>
              <p:spPr>
                <a:xfrm>
                  <a:off x="441080" y="404664"/>
                  <a:ext cx="98472" cy="180020"/>
                </a:xfrm>
                <a:prstGeom prst="rect">
                  <a:avLst/>
                </a:prstGeom>
              </p:spPr>
            </p:pic>
            <p:pic>
              <p:nvPicPr>
                <p:cNvPr id="42" name="Grafik 41"/>
                <p:cNvPicPr>
                  <a:picLocks noChangeAspect="1"/>
                </p:cNvPicPr>
                <p:nvPr/>
              </p:nvPicPr>
              <p:blipFill rotWithShape="1">
                <a:blip r:embed="rId9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3443" r="21856"/>
                <a:stretch/>
              </p:blipFill>
              <p:spPr>
                <a:xfrm>
                  <a:off x="873128" y="404664"/>
                  <a:ext cx="98472" cy="180020"/>
                </a:xfrm>
                <a:prstGeom prst="rect">
                  <a:avLst/>
                </a:prstGeom>
              </p:spPr>
            </p:pic>
            <p:pic>
              <p:nvPicPr>
                <p:cNvPr id="43" name="Grafik 42"/>
                <p:cNvPicPr>
                  <a:picLocks noChangeAspect="1"/>
                </p:cNvPicPr>
                <p:nvPr/>
              </p:nvPicPr>
              <p:blipFill rotWithShape="1">
                <a:blip r:embed="rId9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3443" r="21856"/>
                <a:stretch/>
              </p:blipFill>
              <p:spPr>
                <a:xfrm>
                  <a:off x="320162" y="871227"/>
                  <a:ext cx="98472" cy="180020"/>
                </a:xfrm>
                <a:prstGeom prst="rect">
                  <a:avLst/>
                </a:prstGeom>
              </p:spPr>
            </p:pic>
            <p:pic>
              <p:nvPicPr>
                <p:cNvPr id="45" name="Grafik 44"/>
                <p:cNvPicPr>
                  <a:picLocks noChangeAspect="1"/>
                </p:cNvPicPr>
                <p:nvPr/>
              </p:nvPicPr>
              <p:blipFill rotWithShape="1">
                <a:blip r:embed="rId9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3443" r="21856"/>
                <a:stretch/>
              </p:blipFill>
              <p:spPr>
                <a:xfrm>
                  <a:off x="729112" y="871227"/>
                  <a:ext cx="98472" cy="180020"/>
                </a:xfrm>
                <a:prstGeom prst="rect">
                  <a:avLst/>
                </a:prstGeom>
              </p:spPr>
            </p:pic>
            <p:pic>
              <p:nvPicPr>
                <p:cNvPr id="46" name="Grafik 45"/>
                <p:cNvPicPr>
                  <a:picLocks noChangeAspect="1"/>
                </p:cNvPicPr>
                <p:nvPr/>
              </p:nvPicPr>
              <p:blipFill rotWithShape="1">
                <a:blip r:embed="rId9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3443" r="21856"/>
                <a:stretch/>
              </p:blipFill>
              <p:spPr>
                <a:xfrm>
                  <a:off x="1138062" y="871227"/>
                  <a:ext cx="98472" cy="180020"/>
                </a:xfrm>
                <a:prstGeom prst="rect">
                  <a:avLst/>
                </a:prstGeom>
              </p:spPr>
            </p:pic>
          </p:grpSp>
          <p:sp>
            <p:nvSpPr>
              <p:cNvPr id="62" name="Rechteck 61"/>
              <p:cNvSpPr/>
              <p:nvPr/>
            </p:nvSpPr>
            <p:spPr>
              <a:xfrm>
                <a:off x="236029" y="244749"/>
                <a:ext cx="1251794" cy="1292454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</p:grpSp>
      <p:grpSp>
        <p:nvGrpSpPr>
          <p:cNvPr id="68" name="Gruppieren 67"/>
          <p:cNvGrpSpPr/>
          <p:nvPr/>
        </p:nvGrpSpPr>
        <p:grpSpPr>
          <a:xfrm>
            <a:off x="2736635" y="145542"/>
            <a:ext cx="2346810" cy="1408602"/>
            <a:chOff x="177813" y="220198"/>
            <a:chExt cx="2346810" cy="1408602"/>
          </a:xfrm>
        </p:grpSpPr>
        <p:sp>
          <p:nvSpPr>
            <p:cNvPr id="69" name="Rechteck 68"/>
            <p:cNvSpPr/>
            <p:nvPr/>
          </p:nvSpPr>
          <p:spPr>
            <a:xfrm>
              <a:off x="177813" y="220198"/>
              <a:ext cx="2346810" cy="1408602"/>
            </a:xfrm>
            <a:prstGeom prst="rect">
              <a:avLst/>
            </a:prstGeom>
            <a:solidFill>
              <a:srgbClr val="FF7C80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70" name="Gruppieren 69"/>
            <p:cNvGrpSpPr/>
            <p:nvPr/>
          </p:nvGrpSpPr>
          <p:grpSpPr>
            <a:xfrm>
              <a:off x="1660624" y="244749"/>
              <a:ext cx="751136" cy="952003"/>
              <a:chOff x="1660624" y="244749"/>
              <a:chExt cx="751136" cy="952003"/>
            </a:xfrm>
          </p:grpSpPr>
          <p:pic>
            <p:nvPicPr>
              <p:cNvPr id="85" name="Grafik 84"/>
              <p:cNvPicPr>
                <a:picLocks noChangeAspect="1"/>
              </p:cNvPicPr>
              <p:nvPr/>
            </p:nvPicPr>
            <p:blipFill rotWithShape="1"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5026" r="13579"/>
              <a:stretch/>
            </p:blipFill>
            <p:spPr>
              <a:xfrm>
                <a:off x="1907704" y="764704"/>
                <a:ext cx="257050" cy="360040"/>
              </a:xfrm>
              <a:prstGeom prst="rect">
                <a:avLst/>
              </a:prstGeom>
            </p:spPr>
          </p:pic>
          <p:pic>
            <p:nvPicPr>
              <p:cNvPr id="86" name="Grafik 85"/>
              <p:cNvPicPr>
                <a:picLocks noChangeAspect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15236" r="2750" b="19797"/>
              <a:stretch/>
            </p:blipFill>
            <p:spPr>
              <a:xfrm>
                <a:off x="1691680" y="279156"/>
                <a:ext cx="672916" cy="449544"/>
              </a:xfrm>
              <a:prstGeom prst="rect">
                <a:avLst/>
              </a:prstGeom>
            </p:spPr>
          </p:pic>
          <p:sp>
            <p:nvSpPr>
              <p:cNvPr id="87" name="Rechteck 86"/>
              <p:cNvSpPr/>
              <p:nvPr/>
            </p:nvSpPr>
            <p:spPr>
              <a:xfrm>
                <a:off x="1660624" y="244749"/>
                <a:ext cx="751136" cy="952003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71" name="Gruppieren 70"/>
            <p:cNvGrpSpPr/>
            <p:nvPr/>
          </p:nvGrpSpPr>
          <p:grpSpPr>
            <a:xfrm>
              <a:off x="1958155" y="1216341"/>
              <a:ext cx="453605" cy="320862"/>
              <a:chOff x="1814139" y="1221303"/>
              <a:chExt cx="3731830" cy="2639745"/>
            </a:xfrm>
          </p:grpSpPr>
          <p:pic>
            <p:nvPicPr>
              <p:cNvPr id="83" name="Grafik 82"/>
              <p:cNvPicPr>
                <a:picLocks noChangeAspect="1"/>
              </p:cNvPicPr>
              <p:nvPr/>
            </p:nvPicPr>
            <p:blipFill rotWithShape="1"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13342" b="15506"/>
              <a:stretch/>
            </p:blipFill>
            <p:spPr>
              <a:xfrm>
                <a:off x="1814139" y="1221303"/>
                <a:ext cx="3731830" cy="2639745"/>
              </a:xfrm>
              <a:prstGeom prst="rect">
                <a:avLst/>
              </a:prstGeom>
            </p:spPr>
          </p:pic>
          <p:pic>
            <p:nvPicPr>
              <p:cNvPr id="84" name="Picture 6" descr="Datei:Bbb logo.png"/>
              <p:cNvPicPr>
                <a:picLocks noChangeAspect="1" noChangeArrowheads="1"/>
              </p:cNvPicPr>
              <p:nvPr/>
            </p:nvPicPr>
            <p:blipFill rotWithShape="1">
              <a:blip r:embed="rId7" cstate="print">
                <a:clrChange>
                  <a:clrFrom>
                    <a:srgbClr val="000000">
                      <a:alpha val="0"/>
                    </a:srgbClr>
                  </a:clrFrom>
                  <a:clrTo>
                    <a:srgbClr val="000000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75077"/>
              <a:stretch/>
            </p:blipFill>
            <p:spPr bwMode="auto">
              <a:xfrm>
                <a:off x="3048198" y="1862319"/>
                <a:ext cx="1266190" cy="12422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cxnSp>
          <p:nvCxnSpPr>
            <p:cNvPr id="72" name="Gerade Verbindung mit Pfeil 11"/>
            <p:cNvCxnSpPr>
              <a:stCxn id="83" idx="1"/>
            </p:cNvCxnSpPr>
            <p:nvPr/>
          </p:nvCxnSpPr>
          <p:spPr>
            <a:xfrm rot="10800000">
              <a:off x="1834397" y="1216346"/>
              <a:ext cx="123758" cy="160426"/>
            </a:xfrm>
            <a:prstGeom prst="bent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Gerade Verbindung mit Pfeil 72"/>
            <p:cNvCxnSpPr>
              <a:stCxn id="87" idx="1"/>
            </p:cNvCxnSpPr>
            <p:nvPr/>
          </p:nvCxnSpPr>
          <p:spPr>
            <a:xfrm flipH="1" flipV="1">
              <a:off x="1504085" y="720750"/>
              <a:ext cx="156539" cy="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4" name="Gruppieren 73"/>
            <p:cNvGrpSpPr/>
            <p:nvPr/>
          </p:nvGrpSpPr>
          <p:grpSpPr>
            <a:xfrm>
              <a:off x="236029" y="264338"/>
              <a:ext cx="1251794" cy="1292454"/>
              <a:chOff x="236029" y="244749"/>
              <a:chExt cx="1251794" cy="1292454"/>
            </a:xfrm>
          </p:grpSpPr>
          <p:grpSp>
            <p:nvGrpSpPr>
              <p:cNvPr id="75" name="Gruppieren 74"/>
              <p:cNvGrpSpPr/>
              <p:nvPr/>
            </p:nvGrpSpPr>
            <p:grpSpPr>
              <a:xfrm>
                <a:off x="253829" y="279156"/>
                <a:ext cx="1219200" cy="1219200"/>
                <a:chOff x="251520" y="263116"/>
                <a:chExt cx="1219200" cy="1219200"/>
              </a:xfrm>
            </p:grpSpPr>
            <p:pic>
              <p:nvPicPr>
                <p:cNvPr id="77" name="Grafik 76"/>
                <p:cNvPicPr>
                  <a:picLocks noChangeAspect="1"/>
                </p:cNvPicPr>
                <p:nvPr/>
              </p:nvPicPr>
              <p:blipFill>
                <a:blip r:embed="rId8">
                  <a:clrChange>
                    <a:clrFrom>
                      <a:srgbClr val="FFFFFF"/>
                    </a:clrFrom>
                    <a:clrTo>
                      <a:srgbClr val="FFFFFF">
                        <a:alpha val="0"/>
                      </a:srgbClr>
                    </a:clrTo>
                  </a:clrChange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51520" y="263116"/>
                  <a:ext cx="1219200" cy="1219200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</p:pic>
            <p:pic>
              <p:nvPicPr>
                <p:cNvPr id="78" name="Grafik 77"/>
                <p:cNvPicPr>
                  <a:picLocks noChangeAspect="1"/>
                </p:cNvPicPr>
                <p:nvPr/>
              </p:nvPicPr>
              <p:blipFill rotWithShape="1">
                <a:blip r:embed="rId9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3443" r="21856"/>
                <a:stretch/>
              </p:blipFill>
              <p:spPr>
                <a:xfrm>
                  <a:off x="441080" y="404664"/>
                  <a:ext cx="98472" cy="180020"/>
                </a:xfrm>
                <a:prstGeom prst="rect">
                  <a:avLst/>
                </a:prstGeom>
              </p:spPr>
            </p:pic>
            <p:pic>
              <p:nvPicPr>
                <p:cNvPr id="79" name="Grafik 78"/>
                <p:cNvPicPr>
                  <a:picLocks noChangeAspect="1"/>
                </p:cNvPicPr>
                <p:nvPr/>
              </p:nvPicPr>
              <p:blipFill rotWithShape="1">
                <a:blip r:embed="rId9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3443" r="21856"/>
                <a:stretch/>
              </p:blipFill>
              <p:spPr>
                <a:xfrm>
                  <a:off x="873128" y="404664"/>
                  <a:ext cx="98472" cy="180020"/>
                </a:xfrm>
                <a:prstGeom prst="rect">
                  <a:avLst/>
                </a:prstGeom>
              </p:spPr>
            </p:pic>
            <p:pic>
              <p:nvPicPr>
                <p:cNvPr id="80" name="Grafik 79"/>
                <p:cNvPicPr>
                  <a:picLocks noChangeAspect="1"/>
                </p:cNvPicPr>
                <p:nvPr/>
              </p:nvPicPr>
              <p:blipFill rotWithShape="1">
                <a:blip r:embed="rId9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3443" r="21856"/>
                <a:stretch/>
              </p:blipFill>
              <p:spPr>
                <a:xfrm>
                  <a:off x="320162" y="871227"/>
                  <a:ext cx="98472" cy="180020"/>
                </a:xfrm>
                <a:prstGeom prst="rect">
                  <a:avLst/>
                </a:prstGeom>
              </p:spPr>
            </p:pic>
            <p:pic>
              <p:nvPicPr>
                <p:cNvPr id="81" name="Grafik 80"/>
                <p:cNvPicPr>
                  <a:picLocks noChangeAspect="1"/>
                </p:cNvPicPr>
                <p:nvPr/>
              </p:nvPicPr>
              <p:blipFill rotWithShape="1">
                <a:blip r:embed="rId9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3443" r="21856"/>
                <a:stretch/>
              </p:blipFill>
              <p:spPr>
                <a:xfrm>
                  <a:off x="729112" y="871227"/>
                  <a:ext cx="98472" cy="180020"/>
                </a:xfrm>
                <a:prstGeom prst="rect">
                  <a:avLst/>
                </a:prstGeom>
              </p:spPr>
            </p:pic>
            <p:pic>
              <p:nvPicPr>
                <p:cNvPr id="82" name="Grafik 81"/>
                <p:cNvPicPr>
                  <a:picLocks noChangeAspect="1"/>
                </p:cNvPicPr>
                <p:nvPr/>
              </p:nvPicPr>
              <p:blipFill rotWithShape="1">
                <a:blip r:embed="rId9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3443" r="21856"/>
                <a:stretch/>
              </p:blipFill>
              <p:spPr>
                <a:xfrm>
                  <a:off x="1138062" y="871227"/>
                  <a:ext cx="98472" cy="180020"/>
                </a:xfrm>
                <a:prstGeom prst="rect">
                  <a:avLst/>
                </a:prstGeom>
              </p:spPr>
            </p:pic>
          </p:grpSp>
          <p:sp>
            <p:nvSpPr>
              <p:cNvPr id="76" name="Rechteck 75"/>
              <p:cNvSpPr/>
              <p:nvPr/>
            </p:nvSpPr>
            <p:spPr>
              <a:xfrm>
                <a:off x="236029" y="244749"/>
                <a:ext cx="1251794" cy="1292454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</p:grpSp>
      <p:grpSp>
        <p:nvGrpSpPr>
          <p:cNvPr id="1029" name="Gruppieren 1028"/>
          <p:cNvGrpSpPr/>
          <p:nvPr/>
        </p:nvGrpSpPr>
        <p:grpSpPr>
          <a:xfrm>
            <a:off x="5256246" y="145542"/>
            <a:ext cx="3060170" cy="1408602"/>
            <a:chOff x="5256246" y="145542"/>
            <a:chExt cx="3060170" cy="1408602"/>
          </a:xfrm>
        </p:grpSpPr>
        <p:grpSp>
          <p:nvGrpSpPr>
            <p:cNvPr id="88" name="Gruppieren 87"/>
            <p:cNvGrpSpPr/>
            <p:nvPr/>
          </p:nvGrpSpPr>
          <p:grpSpPr>
            <a:xfrm>
              <a:off x="5256246" y="145542"/>
              <a:ext cx="3060170" cy="1408602"/>
              <a:chOff x="177813" y="220198"/>
              <a:chExt cx="3060170" cy="1408602"/>
            </a:xfrm>
          </p:grpSpPr>
          <p:sp>
            <p:nvSpPr>
              <p:cNvPr id="89" name="Rechteck 88"/>
              <p:cNvSpPr/>
              <p:nvPr/>
            </p:nvSpPr>
            <p:spPr>
              <a:xfrm>
                <a:off x="177813" y="220198"/>
                <a:ext cx="3060170" cy="1408602"/>
              </a:xfrm>
              <a:prstGeom prst="rect">
                <a:avLst/>
              </a:prstGeom>
              <a:solidFill>
                <a:srgbClr val="66CCFF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90" name="Gruppieren 89"/>
              <p:cNvGrpSpPr/>
              <p:nvPr/>
            </p:nvGrpSpPr>
            <p:grpSpPr>
              <a:xfrm>
                <a:off x="1660624" y="244749"/>
                <a:ext cx="751136" cy="952003"/>
                <a:chOff x="1660624" y="244749"/>
                <a:chExt cx="751136" cy="952003"/>
              </a:xfrm>
            </p:grpSpPr>
            <p:pic>
              <p:nvPicPr>
                <p:cNvPr id="105" name="Grafik 104"/>
                <p:cNvPicPr>
                  <a:picLocks noChangeAspect="1"/>
                </p:cNvPicPr>
                <p:nvPr/>
              </p:nvPicPr>
              <p:blipFill rotWithShape="1">
                <a:blip r:embed="rId4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5026" r="13579"/>
                <a:stretch/>
              </p:blipFill>
              <p:spPr>
                <a:xfrm>
                  <a:off x="1907704" y="764704"/>
                  <a:ext cx="257050" cy="360040"/>
                </a:xfrm>
                <a:prstGeom prst="rect">
                  <a:avLst/>
                </a:prstGeom>
              </p:spPr>
            </p:pic>
            <p:pic>
              <p:nvPicPr>
                <p:cNvPr id="106" name="Grafik 105"/>
                <p:cNvPicPr>
                  <a:picLocks noChangeAspect="1"/>
                </p:cNvPicPr>
                <p:nvPr/>
              </p:nvPicPr>
              <p:blipFill rotWithShape="1"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t="15236" r="2750" b="19797"/>
                <a:stretch/>
              </p:blipFill>
              <p:spPr>
                <a:xfrm>
                  <a:off x="1691680" y="279156"/>
                  <a:ext cx="672916" cy="449544"/>
                </a:xfrm>
                <a:prstGeom prst="rect">
                  <a:avLst/>
                </a:prstGeom>
              </p:spPr>
            </p:pic>
            <p:sp>
              <p:nvSpPr>
                <p:cNvPr id="107" name="Rechteck 106"/>
                <p:cNvSpPr/>
                <p:nvPr/>
              </p:nvSpPr>
              <p:spPr>
                <a:xfrm>
                  <a:off x="1660624" y="244749"/>
                  <a:ext cx="751136" cy="952003"/>
                </a:xfrm>
                <a:prstGeom prst="rect">
                  <a:avLst/>
                </a:pr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grpSp>
            <p:nvGrpSpPr>
              <p:cNvPr id="91" name="Gruppieren 90"/>
              <p:cNvGrpSpPr/>
              <p:nvPr/>
            </p:nvGrpSpPr>
            <p:grpSpPr>
              <a:xfrm>
                <a:off x="1958155" y="1216341"/>
                <a:ext cx="453605" cy="320862"/>
                <a:chOff x="1814139" y="1221303"/>
                <a:chExt cx="3731830" cy="2639745"/>
              </a:xfrm>
            </p:grpSpPr>
            <p:pic>
              <p:nvPicPr>
                <p:cNvPr id="103" name="Grafik 102"/>
                <p:cNvPicPr>
                  <a:picLocks noChangeAspect="1"/>
                </p:cNvPicPr>
                <p:nvPr/>
              </p:nvPicPr>
              <p:blipFill rotWithShape="1">
                <a:blip r:embed="rId6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t="13342" b="15506"/>
                <a:stretch/>
              </p:blipFill>
              <p:spPr>
                <a:xfrm>
                  <a:off x="1814139" y="1221303"/>
                  <a:ext cx="3731830" cy="2639745"/>
                </a:xfrm>
                <a:prstGeom prst="rect">
                  <a:avLst/>
                </a:prstGeom>
              </p:spPr>
            </p:pic>
            <p:pic>
              <p:nvPicPr>
                <p:cNvPr id="104" name="Picture 6" descr="Datei:Bbb logo.png"/>
                <p:cNvPicPr>
                  <a:picLocks noChangeAspect="1" noChangeArrowheads="1"/>
                </p:cNvPicPr>
                <p:nvPr/>
              </p:nvPicPr>
              <p:blipFill rotWithShape="1">
                <a:blip r:embed="rId7" cstate="print">
                  <a:clrChange>
                    <a:clrFrom>
                      <a:srgbClr val="000000">
                        <a:alpha val="0"/>
                      </a:srgbClr>
                    </a:clrFrom>
                    <a:clrTo>
                      <a:srgbClr val="000000">
                        <a:alpha val="0"/>
                      </a:srgbClr>
                    </a:clrTo>
                  </a:clrChange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r="75077"/>
                <a:stretch/>
              </p:blipFill>
              <p:spPr bwMode="auto">
                <a:xfrm>
                  <a:off x="3048198" y="1862319"/>
                  <a:ext cx="1266190" cy="1242203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cxnSp>
            <p:nvCxnSpPr>
              <p:cNvPr id="92" name="Gerade Verbindung mit Pfeil 11"/>
              <p:cNvCxnSpPr>
                <a:stCxn id="103" idx="1"/>
              </p:cNvCxnSpPr>
              <p:nvPr/>
            </p:nvCxnSpPr>
            <p:spPr>
              <a:xfrm rot="10800000">
                <a:off x="1834397" y="1216346"/>
                <a:ext cx="123758" cy="160426"/>
              </a:xfrm>
              <a:prstGeom prst="bentConnector2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3" name="Gerade Verbindung mit Pfeil 92"/>
              <p:cNvCxnSpPr>
                <a:stCxn id="107" idx="1"/>
              </p:cNvCxnSpPr>
              <p:nvPr/>
            </p:nvCxnSpPr>
            <p:spPr>
              <a:xfrm flipH="1" flipV="1">
                <a:off x="1504085" y="720750"/>
                <a:ext cx="156539" cy="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94" name="Gruppieren 93"/>
              <p:cNvGrpSpPr/>
              <p:nvPr/>
            </p:nvGrpSpPr>
            <p:grpSpPr>
              <a:xfrm>
                <a:off x="236029" y="264338"/>
                <a:ext cx="1251794" cy="1292454"/>
                <a:chOff x="236029" y="244749"/>
                <a:chExt cx="1251794" cy="1292454"/>
              </a:xfrm>
            </p:grpSpPr>
            <p:grpSp>
              <p:nvGrpSpPr>
                <p:cNvPr id="95" name="Gruppieren 94"/>
                <p:cNvGrpSpPr/>
                <p:nvPr/>
              </p:nvGrpSpPr>
              <p:grpSpPr>
                <a:xfrm>
                  <a:off x="253829" y="279156"/>
                  <a:ext cx="1219200" cy="1219200"/>
                  <a:chOff x="251520" y="263116"/>
                  <a:chExt cx="1219200" cy="1219200"/>
                </a:xfrm>
              </p:grpSpPr>
              <p:pic>
                <p:nvPicPr>
                  <p:cNvPr id="97" name="Grafik 96"/>
                  <p:cNvPicPr>
                    <a:picLocks noChangeAspect="1"/>
                  </p:cNvPicPr>
                  <p:nvPr/>
                </p:nvPicPr>
                <p:blipFill>
                  <a:blip r:embed="rId8">
                    <a:clrChange>
                      <a:clrFrom>
                        <a:srgbClr val="FFFFFF"/>
                      </a:clrFrom>
                      <a:clrTo>
                        <a:srgbClr val="FFFFFF">
                          <a:alpha val="0"/>
                        </a:srgbClr>
                      </a:clrTo>
                    </a:clrChange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251520" y="263116"/>
                    <a:ext cx="1219200" cy="1219200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</p:pic>
              <p:pic>
                <p:nvPicPr>
                  <p:cNvPr id="98" name="Grafik 97"/>
                  <p:cNvPicPr>
                    <a:picLocks noChangeAspect="1"/>
                  </p:cNvPicPr>
                  <p:nvPr/>
                </p:nvPicPr>
                <p:blipFill rotWithShape="1">
                  <a:blip r:embed="rId9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23443" r="21856"/>
                  <a:stretch/>
                </p:blipFill>
                <p:spPr>
                  <a:xfrm>
                    <a:off x="441080" y="404664"/>
                    <a:ext cx="98472" cy="180020"/>
                  </a:xfrm>
                  <a:prstGeom prst="rect">
                    <a:avLst/>
                  </a:prstGeom>
                </p:spPr>
              </p:pic>
              <p:pic>
                <p:nvPicPr>
                  <p:cNvPr id="99" name="Grafik 98"/>
                  <p:cNvPicPr>
                    <a:picLocks noChangeAspect="1"/>
                  </p:cNvPicPr>
                  <p:nvPr/>
                </p:nvPicPr>
                <p:blipFill rotWithShape="1">
                  <a:blip r:embed="rId9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23443" r="21856"/>
                  <a:stretch/>
                </p:blipFill>
                <p:spPr>
                  <a:xfrm>
                    <a:off x="873128" y="404664"/>
                    <a:ext cx="98472" cy="180020"/>
                  </a:xfrm>
                  <a:prstGeom prst="rect">
                    <a:avLst/>
                  </a:prstGeom>
                </p:spPr>
              </p:pic>
              <p:pic>
                <p:nvPicPr>
                  <p:cNvPr id="100" name="Grafik 99"/>
                  <p:cNvPicPr>
                    <a:picLocks noChangeAspect="1"/>
                  </p:cNvPicPr>
                  <p:nvPr/>
                </p:nvPicPr>
                <p:blipFill rotWithShape="1">
                  <a:blip r:embed="rId9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23443" r="21856"/>
                  <a:stretch/>
                </p:blipFill>
                <p:spPr>
                  <a:xfrm>
                    <a:off x="320162" y="871227"/>
                    <a:ext cx="98472" cy="180020"/>
                  </a:xfrm>
                  <a:prstGeom prst="rect">
                    <a:avLst/>
                  </a:prstGeom>
                </p:spPr>
              </p:pic>
              <p:pic>
                <p:nvPicPr>
                  <p:cNvPr id="101" name="Grafik 100"/>
                  <p:cNvPicPr>
                    <a:picLocks noChangeAspect="1"/>
                  </p:cNvPicPr>
                  <p:nvPr/>
                </p:nvPicPr>
                <p:blipFill rotWithShape="1">
                  <a:blip r:embed="rId9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23443" r="21856"/>
                  <a:stretch/>
                </p:blipFill>
                <p:spPr>
                  <a:xfrm>
                    <a:off x="729112" y="871227"/>
                    <a:ext cx="98472" cy="180020"/>
                  </a:xfrm>
                  <a:prstGeom prst="rect">
                    <a:avLst/>
                  </a:prstGeom>
                </p:spPr>
              </p:pic>
              <p:pic>
                <p:nvPicPr>
                  <p:cNvPr id="102" name="Grafik 101"/>
                  <p:cNvPicPr>
                    <a:picLocks noChangeAspect="1"/>
                  </p:cNvPicPr>
                  <p:nvPr/>
                </p:nvPicPr>
                <p:blipFill rotWithShape="1">
                  <a:blip r:embed="rId9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23443" r="21856"/>
                  <a:stretch/>
                </p:blipFill>
                <p:spPr>
                  <a:xfrm>
                    <a:off x="1138062" y="871227"/>
                    <a:ext cx="98472" cy="180020"/>
                  </a:xfrm>
                  <a:prstGeom prst="rect">
                    <a:avLst/>
                  </a:prstGeom>
                </p:spPr>
              </p:pic>
            </p:grpSp>
            <p:sp>
              <p:nvSpPr>
                <p:cNvPr id="96" name="Rechteck 95"/>
                <p:cNvSpPr/>
                <p:nvPr/>
              </p:nvSpPr>
              <p:spPr>
                <a:xfrm>
                  <a:off x="236029" y="244749"/>
                  <a:ext cx="1251794" cy="1292454"/>
                </a:xfrm>
                <a:prstGeom prst="rect">
                  <a:avLst/>
                </a:pr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</p:grpSp>
        <p:pic>
          <p:nvPicPr>
            <p:cNvPr id="4" name="Grafik 3"/>
            <p:cNvPicPr>
              <a:picLocks noChangeAspect="1"/>
            </p:cNvPicPr>
            <p:nvPr/>
          </p:nvPicPr>
          <p:blipFill>
            <a:blip r:embed="rId10" cstate="print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96336" y="300381"/>
              <a:ext cx="691426" cy="691426"/>
            </a:xfrm>
            <a:prstGeom prst="rect">
              <a:avLst/>
            </a:prstGeom>
          </p:spPr>
        </p:pic>
      </p:grpSp>
      <p:cxnSp>
        <p:nvCxnSpPr>
          <p:cNvPr id="113" name="Gerade Verbindung mit Pfeil 11"/>
          <p:cNvCxnSpPr/>
          <p:nvPr/>
        </p:nvCxnSpPr>
        <p:spPr>
          <a:xfrm rot="10800000" flipV="1">
            <a:off x="6582519" y="991806"/>
            <a:ext cx="1359535" cy="490329"/>
          </a:xfrm>
          <a:prstGeom prst="bentConnector3">
            <a:avLst>
              <a:gd name="adj1" fmla="val -78"/>
            </a:avLst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Gerade Verbindung mit Pfeil 1039"/>
          <p:cNvCxnSpPr>
            <a:stCxn id="62" idx="2"/>
            <a:endCxn id="7" idx="1"/>
          </p:cNvCxnSpPr>
          <p:nvPr/>
        </p:nvCxnSpPr>
        <p:spPr>
          <a:xfrm rot="16200000" flipH="1">
            <a:off x="1636271" y="710438"/>
            <a:ext cx="1262523" cy="2811213"/>
          </a:xfrm>
          <a:prstGeom prst="bentConnector2">
            <a:avLst/>
          </a:prstGeom>
          <a:ln>
            <a:solidFill>
              <a:srgbClr val="00B0F0"/>
            </a:solidFill>
            <a:prstDash val="lg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Gerade Verbindung mit Pfeil 1039"/>
          <p:cNvCxnSpPr>
            <a:stCxn id="7" idx="0"/>
            <a:endCxn id="30" idx="2"/>
          </p:cNvCxnSpPr>
          <p:nvPr/>
        </p:nvCxnSpPr>
        <p:spPr>
          <a:xfrm rot="16200000" flipV="1">
            <a:off x="2897678" y="752476"/>
            <a:ext cx="672427" cy="2097866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Gerade Verbindung mit Pfeil 1039"/>
          <p:cNvCxnSpPr>
            <a:stCxn id="7" idx="0"/>
            <a:endCxn id="83" idx="2"/>
          </p:cNvCxnSpPr>
          <p:nvPr/>
        </p:nvCxnSpPr>
        <p:spPr>
          <a:xfrm rot="5400000" flipH="1" flipV="1">
            <a:off x="4175765" y="1569607"/>
            <a:ext cx="675075" cy="460956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Gerade Verbindung mit Pfeil 1039"/>
          <p:cNvCxnSpPr>
            <a:stCxn id="76" idx="2"/>
            <a:endCxn id="7" idx="1"/>
          </p:cNvCxnSpPr>
          <p:nvPr/>
        </p:nvCxnSpPr>
        <p:spPr>
          <a:xfrm rot="16200000" flipH="1">
            <a:off x="2914358" y="1988525"/>
            <a:ext cx="1265171" cy="252391"/>
          </a:xfrm>
          <a:prstGeom prst="bentConnector2">
            <a:avLst/>
          </a:prstGeom>
          <a:ln>
            <a:solidFill>
              <a:srgbClr val="00B0F0"/>
            </a:solidFill>
            <a:prstDash val="lg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Gerade Verbindung mit Pfeil 1039"/>
          <p:cNvCxnSpPr>
            <a:endCxn id="7" idx="3"/>
          </p:cNvCxnSpPr>
          <p:nvPr/>
        </p:nvCxnSpPr>
        <p:spPr>
          <a:xfrm rot="5400000">
            <a:off x="4790604" y="1584040"/>
            <a:ext cx="1265173" cy="1061361"/>
          </a:xfrm>
          <a:prstGeom prst="bentConnector2">
            <a:avLst/>
          </a:prstGeom>
          <a:ln>
            <a:solidFill>
              <a:srgbClr val="00B0F0"/>
            </a:solidFill>
            <a:prstDash val="lg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Gerade Verbindung mit Pfeil 1039"/>
          <p:cNvCxnSpPr>
            <a:stCxn id="7" idx="0"/>
            <a:endCxn id="103" idx="2"/>
          </p:cNvCxnSpPr>
          <p:nvPr/>
        </p:nvCxnSpPr>
        <p:spPr>
          <a:xfrm rot="5400000" flipH="1" flipV="1">
            <a:off x="5435570" y="309802"/>
            <a:ext cx="675075" cy="2980567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6" name="Gruppieren 115"/>
          <p:cNvGrpSpPr/>
          <p:nvPr/>
        </p:nvGrpSpPr>
        <p:grpSpPr>
          <a:xfrm>
            <a:off x="6156176" y="1988840"/>
            <a:ext cx="2808312" cy="790713"/>
            <a:chOff x="683568" y="3470418"/>
            <a:chExt cx="2808312" cy="790713"/>
          </a:xfrm>
        </p:grpSpPr>
        <p:cxnSp>
          <p:nvCxnSpPr>
            <p:cNvPr id="111" name="Gerader Verbinder 110"/>
            <p:cNvCxnSpPr/>
            <p:nvPr/>
          </p:nvCxnSpPr>
          <p:spPr>
            <a:xfrm>
              <a:off x="683568" y="4005064"/>
              <a:ext cx="475672" cy="0"/>
            </a:xfrm>
            <a:prstGeom prst="line">
              <a:avLst/>
            </a:prstGeom>
            <a:ln>
              <a:solidFill>
                <a:srgbClr val="66CCFF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Gerader Verbinder 197"/>
            <p:cNvCxnSpPr/>
            <p:nvPr/>
          </p:nvCxnSpPr>
          <p:spPr>
            <a:xfrm>
              <a:off x="683568" y="3789040"/>
              <a:ext cx="475672" cy="0"/>
            </a:xfrm>
            <a:prstGeom prst="line">
              <a:avLst/>
            </a:prstGeom>
            <a:ln>
              <a:solidFill>
                <a:schemeClr val="tx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Gerader Verbinder 198"/>
            <p:cNvCxnSpPr/>
            <p:nvPr/>
          </p:nvCxnSpPr>
          <p:spPr>
            <a:xfrm>
              <a:off x="683568" y="3573016"/>
              <a:ext cx="475672" cy="0"/>
            </a:xfrm>
            <a:prstGeom prst="line">
              <a:avLst/>
            </a:prstGeom>
            <a:ln>
              <a:solidFill>
                <a:srgbClr val="00B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1" name="Rechteck 200"/>
            <p:cNvSpPr/>
            <p:nvPr/>
          </p:nvSpPr>
          <p:spPr>
            <a:xfrm>
              <a:off x="1128522" y="3470418"/>
              <a:ext cx="995206" cy="174606"/>
            </a:xfrm>
            <a:prstGeom prst="rect">
              <a:avLst/>
            </a:prstGeom>
            <a:noFill/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de-DE" sz="1400" dirty="0" smtClean="0">
                  <a:solidFill>
                    <a:sysClr val="windowText" lastClr="000000"/>
                  </a:solidFill>
                </a:rPr>
                <a:t>BBB Client</a:t>
              </a:r>
              <a:endParaRPr lang="de-DE" sz="14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02" name="Rechteck 201"/>
            <p:cNvSpPr/>
            <p:nvPr/>
          </p:nvSpPr>
          <p:spPr>
            <a:xfrm>
              <a:off x="1115616" y="3902466"/>
              <a:ext cx="2376264" cy="358665"/>
            </a:xfrm>
            <a:prstGeom prst="rect">
              <a:avLst/>
            </a:prstGeom>
            <a:noFill/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de-DE" sz="1400" dirty="0" smtClean="0">
                  <a:solidFill>
                    <a:sysClr val="windowText" lastClr="000000"/>
                  </a:solidFill>
                </a:rPr>
                <a:t>Kommunikationserweiterung durch DIAL</a:t>
              </a:r>
              <a:endParaRPr lang="de-DE" sz="14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03" name="Rechteck 202"/>
            <p:cNvSpPr/>
            <p:nvPr/>
          </p:nvSpPr>
          <p:spPr>
            <a:xfrm>
              <a:off x="1115616" y="3679718"/>
              <a:ext cx="1395735" cy="181330"/>
            </a:xfrm>
            <a:prstGeom prst="rect">
              <a:avLst/>
            </a:prstGeom>
            <a:noFill/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de-DE" sz="1400" dirty="0" smtClean="0">
                  <a:solidFill>
                    <a:sysClr val="windowText" lastClr="000000"/>
                  </a:solidFill>
                </a:rPr>
                <a:t>Audio &amp; Video</a:t>
              </a:r>
              <a:endParaRPr lang="de-DE" sz="1400" dirty="0">
                <a:solidFill>
                  <a:sysClr val="windowText" lastClr="000000"/>
                </a:solidFill>
              </a:endParaRPr>
            </a:p>
          </p:txBody>
        </p:sp>
      </p:grpSp>
      <p:cxnSp>
        <p:nvCxnSpPr>
          <p:cNvPr id="109" name="Gerade Verbindung mit Pfeil 11"/>
          <p:cNvCxnSpPr>
            <a:stCxn id="4" idx="2"/>
            <a:endCxn id="103" idx="3"/>
          </p:cNvCxnSpPr>
          <p:nvPr/>
        </p:nvCxnSpPr>
        <p:spPr>
          <a:xfrm rot="5400000">
            <a:off x="7560967" y="921033"/>
            <a:ext cx="310309" cy="451856"/>
          </a:xfrm>
          <a:prstGeom prst="bentConnector2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858033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/>
          <p:cNvGrpSpPr/>
          <p:nvPr/>
        </p:nvGrpSpPr>
        <p:grpSpPr>
          <a:xfrm>
            <a:off x="4644009" y="53415"/>
            <a:ext cx="1894046" cy="1339772"/>
            <a:chOff x="755576" y="1067389"/>
            <a:chExt cx="2110070" cy="1492579"/>
          </a:xfrm>
        </p:grpSpPr>
        <p:pic>
          <p:nvPicPr>
            <p:cNvPr id="4" name="Grafik 3"/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3342" b="15506"/>
            <a:stretch/>
          </p:blipFill>
          <p:spPr>
            <a:xfrm>
              <a:off x="755576" y="1067389"/>
              <a:ext cx="2110070" cy="1492579"/>
            </a:xfrm>
            <a:prstGeom prst="rect">
              <a:avLst/>
            </a:prstGeom>
          </p:spPr>
        </p:pic>
        <p:pic>
          <p:nvPicPr>
            <p:cNvPr id="8" name="Grafik 7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74926"/>
            <a:stretch/>
          </p:blipFill>
          <p:spPr>
            <a:xfrm>
              <a:off x="1499913" y="1448459"/>
              <a:ext cx="621395" cy="605941"/>
            </a:xfrm>
            <a:prstGeom prst="rect">
              <a:avLst/>
            </a:prstGeom>
          </p:spPr>
        </p:pic>
      </p:grpSp>
      <p:grpSp>
        <p:nvGrpSpPr>
          <p:cNvPr id="12" name="Gruppieren 11"/>
          <p:cNvGrpSpPr/>
          <p:nvPr/>
        </p:nvGrpSpPr>
        <p:grpSpPr>
          <a:xfrm>
            <a:off x="2313076" y="135665"/>
            <a:ext cx="818765" cy="1219200"/>
            <a:chOff x="4126613" y="1340768"/>
            <a:chExt cx="818765" cy="1219200"/>
          </a:xfrm>
        </p:grpSpPr>
        <p:pic>
          <p:nvPicPr>
            <p:cNvPr id="7" name="Grafik 6"/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624" r="23219"/>
            <a:stretch/>
          </p:blipFill>
          <p:spPr>
            <a:xfrm>
              <a:off x="4211960" y="1340768"/>
              <a:ext cx="648072" cy="1219200"/>
            </a:xfrm>
            <a:prstGeom prst="rect">
              <a:avLst/>
            </a:prstGeom>
          </p:spPr>
        </p:pic>
        <p:sp>
          <p:nvSpPr>
            <p:cNvPr id="9" name="Textfeld 8"/>
            <p:cNvSpPr txBox="1"/>
            <p:nvPr/>
          </p:nvSpPr>
          <p:spPr>
            <a:xfrm>
              <a:off x="4126613" y="1461930"/>
              <a:ext cx="818765" cy="5924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1300"/>
                </a:lnSpc>
              </a:pPr>
              <a:r>
                <a:rPr lang="de-DE" b="1" dirty="0" smtClean="0">
                  <a:solidFill>
                    <a:srgbClr val="E20074"/>
                  </a:solidFill>
                </a:rPr>
                <a:t>DIAL</a:t>
              </a:r>
              <a:r>
                <a:rPr lang="de-DE" dirty="0" smtClean="0"/>
                <a:t/>
              </a:r>
              <a:br>
                <a:rPr lang="de-DE" dirty="0" smtClean="0"/>
              </a:br>
              <a:r>
                <a:rPr lang="de-DE" sz="1050" dirty="0" err="1" smtClean="0"/>
                <a:t>powered</a:t>
              </a:r>
              <a:r>
                <a:rPr lang="de-DE" sz="1050" dirty="0" smtClean="0"/>
                <a:t> </a:t>
              </a:r>
              <a:r>
                <a:rPr lang="de-DE" sz="1050" dirty="0" err="1" smtClean="0"/>
                <a:t>by</a:t>
              </a:r>
              <a:endParaRPr lang="de-DE" sz="1050" dirty="0"/>
            </a:p>
          </p:txBody>
        </p:sp>
        <p:pic>
          <p:nvPicPr>
            <p:cNvPr id="10" name="Grafik 9"/>
            <p:cNvPicPr>
              <a:picLocks noChangeAspect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74926"/>
            <a:stretch/>
          </p:blipFill>
          <p:spPr>
            <a:xfrm>
              <a:off x="4362644" y="2054400"/>
              <a:ext cx="346702" cy="338080"/>
            </a:xfrm>
            <a:prstGeom prst="rect">
              <a:avLst/>
            </a:prstGeom>
          </p:spPr>
        </p:pic>
      </p:grpSp>
      <p:cxnSp>
        <p:nvCxnSpPr>
          <p:cNvPr id="19" name="Gerade Verbindung mit Pfeil 18"/>
          <p:cNvCxnSpPr>
            <a:endCxn id="7" idx="1"/>
          </p:cNvCxnSpPr>
          <p:nvPr/>
        </p:nvCxnSpPr>
        <p:spPr>
          <a:xfrm flipV="1">
            <a:off x="1215185" y="745265"/>
            <a:ext cx="1183238" cy="873819"/>
          </a:xfrm>
          <a:prstGeom prst="bentConnector3">
            <a:avLst>
              <a:gd name="adj1" fmla="val 1314"/>
            </a:avLst>
          </a:prstGeom>
          <a:ln w="38100">
            <a:solidFill>
              <a:srgbClr val="E20074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Gerade Verbindung mit Pfeil 18"/>
          <p:cNvCxnSpPr>
            <a:stCxn id="7" idx="3"/>
          </p:cNvCxnSpPr>
          <p:nvPr/>
        </p:nvCxnSpPr>
        <p:spPr>
          <a:xfrm>
            <a:off x="3046495" y="745265"/>
            <a:ext cx="1057862" cy="883534"/>
          </a:xfrm>
          <a:prstGeom prst="bentConnector3">
            <a:avLst>
              <a:gd name="adj1" fmla="val 100134"/>
            </a:avLst>
          </a:prstGeom>
          <a:ln w="38100">
            <a:solidFill>
              <a:srgbClr val="E20074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18"/>
          <p:cNvCxnSpPr>
            <a:stCxn id="8" idx="3"/>
            <a:endCxn id="16" idx="0"/>
          </p:cNvCxnSpPr>
          <p:nvPr/>
        </p:nvCxnSpPr>
        <p:spPr>
          <a:xfrm>
            <a:off x="5869921" y="667425"/>
            <a:ext cx="934328" cy="1825471"/>
          </a:xfrm>
          <a:prstGeom prst="bentConnector2">
            <a:avLst/>
          </a:prstGeom>
          <a:ln w="38100">
            <a:solidFill>
              <a:srgbClr val="66CCFF"/>
            </a:solidFill>
            <a:prstDash val="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" name="Gruppieren 2"/>
          <p:cNvGrpSpPr/>
          <p:nvPr/>
        </p:nvGrpSpPr>
        <p:grpSpPr>
          <a:xfrm>
            <a:off x="107504" y="2492896"/>
            <a:ext cx="7848873" cy="1619492"/>
            <a:chOff x="107504" y="1556792"/>
            <a:chExt cx="7848873" cy="1619492"/>
          </a:xfrm>
        </p:grpSpPr>
        <p:grpSp>
          <p:nvGrpSpPr>
            <p:cNvPr id="17" name="Gruppieren 16"/>
            <p:cNvGrpSpPr/>
            <p:nvPr/>
          </p:nvGrpSpPr>
          <p:grpSpPr>
            <a:xfrm>
              <a:off x="107504" y="1556792"/>
              <a:ext cx="7848873" cy="1368152"/>
              <a:chOff x="611559" y="3645024"/>
              <a:chExt cx="7848873" cy="1368152"/>
            </a:xfrm>
          </p:grpSpPr>
          <p:sp>
            <p:nvSpPr>
              <p:cNvPr id="13" name="Rechteck 12"/>
              <p:cNvSpPr/>
              <p:nvPr/>
            </p:nvSpPr>
            <p:spPr>
              <a:xfrm>
                <a:off x="611559" y="4293096"/>
                <a:ext cx="7848873" cy="720080"/>
              </a:xfrm>
              <a:prstGeom prst="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b"/>
              <a:lstStyle/>
              <a:p>
                <a:pPr algn="ctr"/>
                <a:r>
                  <a:rPr lang="de-DE" dirty="0" err="1" smtClean="0"/>
                  <a:t>BigBlueButton</a:t>
                </a:r>
                <a:r>
                  <a:rPr lang="de-DE" dirty="0" smtClean="0"/>
                  <a:t> Kern</a:t>
                </a:r>
                <a:endParaRPr lang="de-DE" dirty="0"/>
              </a:p>
            </p:txBody>
          </p:sp>
          <p:sp>
            <p:nvSpPr>
              <p:cNvPr id="14" name="Rechteck 13"/>
              <p:cNvSpPr/>
              <p:nvPr/>
            </p:nvSpPr>
            <p:spPr>
              <a:xfrm>
                <a:off x="1187624" y="3645024"/>
                <a:ext cx="1152128" cy="1008112"/>
              </a:xfrm>
              <a:prstGeom prst="rect">
                <a:avLst/>
              </a:prstGeom>
              <a:gradFill flip="none" rotWithShape="1">
                <a:gsLst>
                  <a:gs pos="0">
                    <a:srgbClr val="0070C0">
                      <a:shade val="30000"/>
                      <a:satMod val="115000"/>
                    </a:srgbClr>
                  </a:gs>
                  <a:gs pos="50000">
                    <a:srgbClr val="0070C0">
                      <a:shade val="67500"/>
                      <a:satMod val="115000"/>
                    </a:srgbClr>
                  </a:gs>
                  <a:gs pos="100000">
                    <a:srgbClr val="0070C0">
                      <a:shade val="100000"/>
                      <a:satMod val="115000"/>
                    </a:srgbClr>
                  </a:gs>
                </a:gsLst>
                <a:lin ang="162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dirty="0" err="1" smtClean="0"/>
                  <a:t>MongoDB</a:t>
                </a:r>
                <a:endParaRPr lang="de-DE" dirty="0"/>
              </a:p>
            </p:txBody>
          </p:sp>
          <p:sp>
            <p:nvSpPr>
              <p:cNvPr id="15" name="Rechteck 14"/>
              <p:cNvSpPr/>
              <p:nvPr/>
            </p:nvSpPr>
            <p:spPr>
              <a:xfrm>
                <a:off x="3995936" y="3645024"/>
                <a:ext cx="1152128" cy="1008112"/>
              </a:xfrm>
              <a:prstGeom prst="rect">
                <a:avLst/>
              </a:prstGeom>
              <a:gradFill flip="none" rotWithShape="1">
                <a:gsLst>
                  <a:gs pos="0">
                    <a:srgbClr val="0070C0">
                      <a:shade val="30000"/>
                      <a:satMod val="115000"/>
                    </a:srgbClr>
                  </a:gs>
                  <a:gs pos="50000">
                    <a:srgbClr val="0070C0">
                      <a:shade val="67500"/>
                      <a:satMod val="115000"/>
                    </a:srgbClr>
                  </a:gs>
                  <a:gs pos="100000">
                    <a:srgbClr val="0070C0">
                      <a:shade val="100000"/>
                      <a:satMod val="115000"/>
                    </a:srgbClr>
                  </a:gs>
                </a:gsLst>
                <a:lin ang="162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dirty="0" err="1" smtClean="0"/>
                  <a:t>Redis</a:t>
                </a:r>
                <a:r>
                  <a:rPr lang="de-DE" dirty="0" smtClean="0"/>
                  <a:t> </a:t>
                </a:r>
                <a:r>
                  <a:rPr lang="de-DE" dirty="0" err="1" smtClean="0"/>
                  <a:t>PubSub</a:t>
                </a:r>
                <a:endParaRPr lang="de-DE" dirty="0"/>
              </a:p>
            </p:txBody>
          </p:sp>
          <p:sp>
            <p:nvSpPr>
              <p:cNvPr id="16" name="Rechteck 15"/>
              <p:cNvSpPr/>
              <p:nvPr/>
            </p:nvSpPr>
            <p:spPr>
              <a:xfrm>
                <a:off x="6732240" y="3645024"/>
                <a:ext cx="1152128" cy="1008112"/>
              </a:xfrm>
              <a:prstGeom prst="rect">
                <a:avLst/>
              </a:prstGeom>
              <a:gradFill flip="none" rotWithShape="1">
                <a:gsLst>
                  <a:gs pos="0">
                    <a:srgbClr val="0070C0">
                      <a:shade val="30000"/>
                      <a:satMod val="115000"/>
                    </a:srgbClr>
                  </a:gs>
                  <a:gs pos="50000">
                    <a:srgbClr val="0070C0">
                      <a:shade val="67500"/>
                      <a:satMod val="115000"/>
                    </a:srgbClr>
                  </a:gs>
                  <a:gs pos="100000">
                    <a:srgbClr val="0070C0">
                      <a:shade val="100000"/>
                      <a:satMod val="115000"/>
                    </a:srgbClr>
                  </a:gs>
                </a:gsLst>
                <a:lin ang="162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dirty="0" smtClean="0"/>
                  <a:t>BBB Client</a:t>
                </a:r>
                <a:endParaRPr lang="de-DE" dirty="0"/>
              </a:p>
            </p:txBody>
          </p:sp>
        </p:grpSp>
        <p:grpSp>
          <p:nvGrpSpPr>
            <p:cNvPr id="2" name="Gruppieren 1"/>
            <p:cNvGrpSpPr/>
            <p:nvPr/>
          </p:nvGrpSpPr>
          <p:grpSpPr>
            <a:xfrm>
              <a:off x="179512" y="2996952"/>
              <a:ext cx="7200800" cy="179332"/>
              <a:chOff x="179512" y="2996952"/>
              <a:chExt cx="7200800" cy="179332"/>
            </a:xfrm>
          </p:grpSpPr>
          <p:cxnSp>
            <p:nvCxnSpPr>
              <p:cNvPr id="30" name="Gerade Verbindung mit Pfeil 18"/>
              <p:cNvCxnSpPr/>
              <p:nvPr/>
            </p:nvCxnSpPr>
            <p:spPr>
              <a:xfrm flipV="1">
                <a:off x="179512" y="3068960"/>
                <a:ext cx="1439922" cy="5345"/>
              </a:xfrm>
              <a:prstGeom prst="straightConnector1">
                <a:avLst/>
              </a:prstGeom>
              <a:ln w="38100">
                <a:solidFill>
                  <a:srgbClr val="E20074"/>
                </a:solidFill>
                <a:prstDash val="dash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Gerade Verbindung mit Pfeil 18"/>
              <p:cNvCxnSpPr/>
              <p:nvPr/>
            </p:nvCxnSpPr>
            <p:spPr>
              <a:xfrm flipV="1">
                <a:off x="4932278" y="3068960"/>
                <a:ext cx="1439922" cy="5345"/>
              </a:xfrm>
              <a:prstGeom prst="straightConnector1">
                <a:avLst/>
              </a:prstGeom>
              <a:ln w="38100">
                <a:solidFill>
                  <a:srgbClr val="66CCFF"/>
                </a:solidFill>
                <a:prstDash val="dash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4" name="Rechteck 33"/>
              <p:cNvSpPr/>
              <p:nvPr/>
            </p:nvSpPr>
            <p:spPr>
              <a:xfrm>
                <a:off x="1619672" y="2996952"/>
                <a:ext cx="3385193" cy="179332"/>
              </a:xfrm>
              <a:prstGeom prst="rect">
                <a:avLst/>
              </a:prstGeom>
              <a:noFill/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de-DE" sz="1400" dirty="0" smtClean="0">
                    <a:solidFill>
                      <a:sysClr val="windowText" lastClr="000000"/>
                    </a:solidFill>
                  </a:rPr>
                  <a:t>Kommunikationserweiterung durch DIAL</a:t>
                </a:r>
                <a:endParaRPr lang="de-DE" sz="1400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35" name="Rechteck 34"/>
              <p:cNvSpPr/>
              <p:nvPr/>
            </p:nvSpPr>
            <p:spPr>
              <a:xfrm>
                <a:off x="6385106" y="2996952"/>
                <a:ext cx="995206" cy="174606"/>
              </a:xfrm>
              <a:prstGeom prst="rect">
                <a:avLst/>
              </a:prstGeom>
              <a:noFill/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de-DE" sz="1400" dirty="0" smtClean="0">
                    <a:solidFill>
                      <a:sysClr val="windowText" lastClr="000000"/>
                    </a:solidFill>
                  </a:rPr>
                  <a:t>BBB Client</a:t>
                </a:r>
                <a:endParaRPr lang="de-DE" sz="1400" dirty="0">
                  <a:solidFill>
                    <a:sysClr val="windowText" lastClr="000000"/>
                  </a:solidFill>
                </a:endParaRPr>
              </a:p>
            </p:txBody>
          </p:sp>
        </p:grpSp>
      </p:grpSp>
      <p:sp>
        <p:nvSpPr>
          <p:cNvPr id="36" name="Rechteck 35"/>
          <p:cNvSpPr/>
          <p:nvPr/>
        </p:nvSpPr>
        <p:spPr>
          <a:xfrm>
            <a:off x="1095213" y="260648"/>
            <a:ext cx="1332557" cy="595654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de-DE" sz="1400" dirty="0" smtClean="0">
                <a:solidFill>
                  <a:srgbClr val="E20074"/>
                </a:solidFill>
              </a:rPr>
              <a:t>Chat lesen</a:t>
            </a:r>
            <a:endParaRPr lang="de-DE" sz="1400" dirty="0">
              <a:solidFill>
                <a:srgbClr val="E20074"/>
              </a:solidFill>
            </a:endParaRPr>
          </a:p>
        </p:txBody>
      </p:sp>
      <p:sp>
        <p:nvSpPr>
          <p:cNvPr id="37" name="Rechteck 36"/>
          <p:cNvSpPr/>
          <p:nvPr/>
        </p:nvSpPr>
        <p:spPr>
          <a:xfrm>
            <a:off x="1070733" y="730447"/>
            <a:ext cx="1332557" cy="595654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de-DE" sz="1400" dirty="0" smtClean="0">
                <a:solidFill>
                  <a:srgbClr val="E20074"/>
                </a:solidFill>
              </a:rPr>
              <a:t>Abfrage von</a:t>
            </a:r>
            <a:r>
              <a:rPr lang="de-DE" sz="1400" dirty="0">
                <a:solidFill>
                  <a:srgbClr val="E20074"/>
                </a:solidFill>
              </a:rPr>
              <a:t/>
            </a:r>
            <a:br>
              <a:rPr lang="de-DE" sz="1400" dirty="0">
                <a:solidFill>
                  <a:srgbClr val="E20074"/>
                </a:solidFill>
              </a:rPr>
            </a:br>
            <a:r>
              <a:rPr lang="de-DE" sz="1400" dirty="0" smtClean="0">
                <a:solidFill>
                  <a:srgbClr val="E20074"/>
                </a:solidFill>
              </a:rPr>
              <a:t>Umfragen</a:t>
            </a:r>
            <a:endParaRPr lang="de-DE" sz="1400" dirty="0">
              <a:solidFill>
                <a:srgbClr val="E20074"/>
              </a:solidFill>
            </a:endParaRPr>
          </a:p>
        </p:txBody>
      </p:sp>
      <p:sp>
        <p:nvSpPr>
          <p:cNvPr id="38" name="Rechteck 37"/>
          <p:cNvSpPr/>
          <p:nvPr/>
        </p:nvSpPr>
        <p:spPr>
          <a:xfrm>
            <a:off x="2771800" y="730446"/>
            <a:ext cx="1332557" cy="595654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de-DE" sz="1400" dirty="0" smtClean="0">
                <a:solidFill>
                  <a:srgbClr val="E20074"/>
                </a:solidFill>
              </a:rPr>
              <a:t>Teilnahme</a:t>
            </a:r>
            <a:br>
              <a:rPr lang="de-DE" sz="1400" dirty="0" smtClean="0">
                <a:solidFill>
                  <a:srgbClr val="E20074"/>
                </a:solidFill>
              </a:rPr>
            </a:br>
            <a:r>
              <a:rPr lang="de-DE" sz="1400" dirty="0" smtClean="0">
                <a:solidFill>
                  <a:srgbClr val="E20074"/>
                </a:solidFill>
              </a:rPr>
              <a:t>an Umfragen</a:t>
            </a:r>
            <a:endParaRPr lang="de-DE" sz="1400" dirty="0">
              <a:solidFill>
                <a:srgbClr val="E20074"/>
              </a:solidFill>
            </a:endParaRPr>
          </a:p>
        </p:txBody>
      </p:sp>
      <p:sp>
        <p:nvSpPr>
          <p:cNvPr id="39" name="Rechteck 38"/>
          <p:cNvSpPr/>
          <p:nvPr/>
        </p:nvSpPr>
        <p:spPr>
          <a:xfrm>
            <a:off x="3023419" y="251091"/>
            <a:ext cx="1332557" cy="595654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400" dirty="0" smtClean="0">
                <a:solidFill>
                  <a:srgbClr val="E20074"/>
                </a:solidFill>
              </a:rPr>
              <a:t>Chat schreiben</a:t>
            </a:r>
            <a:endParaRPr lang="de-DE" sz="1400" dirty="0">
              <a:solidFill>
                <a:srgbClr val="E20074"/>
              </a:solidFill>
            </a:endParaRPr>
          </a:p>
        </p:txBody>
      </p:sp>
      <p:sp>
        <p:nvSpPr>
          <p:cNvPr id="27" name="Rechteck 26"/>
          <p:cNvSpPr/>
          <p:nvPr/>
        </p:nvSpPr>
        <p:spPr>
          <a:xfrm>
            <a:off x="467544" y="1628800"/>
            <a:ext cx="4392489" cy="386329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/>
              <a:t>DIAL Serverschnittstelle</a:t>
            </a:r>
            <a:endParaRPr lang="de-DE" dirty="0"/>
          </a:p>
        </p:txBody>
      </p:sp>
      <p:cxnSp>
        <p:nvCxnSpPr>
          <p:cNvPr id="32" name="Gerade Verbindung mit Pfeil 18"/>
          <p:cNvCxnSpPr>
            <a:stCxn id="14" idx="0"/>
          </p:cNvCxnSpPr>
          <p:nvPr/>
        </p:nvCxnSpPr>
        <p:spPr>
          <a:xfrm flipH="1" flipV="1">
            <a:off x="1257855" y="2024845"/>
            <a:ext cx="1778" cy="468051"/>
          </a:xfrm>
          <a:prstGeom prst="straightConnector1">
            <a:avLst/>
          </a:prstGeom>
          <a:ln w="38100">
            <a:solidFill>
              <a:srgbClr val="E20074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Gerade Verbindung mit Pfeil 18"/>
          <p:cNvCxnSpPr>
            <a:endCxn id="15" idx="0"/>
          </p:cNvCxnSpPr>
          <p:nvPr/>
        </p:nvCxnSpPr>
        <p:spPr>
          <a:xfrm>
            <a:off x="4067945" y="2015129"/>
            <a:ext cx="0" cy="477767"/>
          </a:xfrm>
          <a:prstGeom prst="straightConnector1">
            <a:avLst/>
          </a:prstGeom>
          <a:ln w="38100">
            <a:solidFill>
              <a:srgbClr val="E20074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32226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/>
          <p:cNvSpPr/>
          <p:nvPr/>
        </p:nvSpPr>
        <p:spPr>
          <a:xfrm>
            <a:off x="2245171" y="1412777"/>
            <a:ext cx="2037946" cy="576064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 err="1" smtClean="0"/>
              <a:t>Redis</a:t>
            </a:r>
            <a:r>
              <a:rPr lang="de-DE" dirty="0" smtClean="0"/>
              <a:t> </a:t>
            </a:r>
            <a:r>
              <a:rPr lang="de-DE" dirty="0" err="1" smtClean="0"/>
              <a:t>PubSub</a:t>
            </a:r>
            <a:endParaRPr lang="de-DE" dirty="0"/>
          </a:p>
        </p:txBody>
      </p:sp>
      <p:sp>
        <p:nvSpPr>
          <p:cNvPr id="5" name="Rechteck 4"/>
          <p:cNvSpPr/>
          <p:nvPr/>
        </p:nvSpPr>
        <p:spPr>
          <a:xfrm>
            <a:off x="2243072" y="2355261"/>
            <a:ext cx="5499072" cy="504056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 smtClean="0"/>
              <a:t>BBB Kern</a:t>
            </a:r>
            <a:endParaRPr lang="de-DE" dirty="0"/>
          </a:p>
        </p:txBody>
      </p:sp>
      <p:grpSp>
        <p:nvGrpSpPr>
          <p:cNvPr id="15" name="Gruppieren 14"/>
          <p:cNvGrpSpPr/>
          <p:nvPr/>
        </p:nvGrpSpPr>
        <p:grpSpPr>
          <a:xfrm>
            <a:off x="370864" y="332657"/>
            <a:ext cx="1394616" cy="504056"/>
            <a:chOff x="369072" y="548680"/>
            <a:chExt cx="1394616" cy="504056"/>
          </a:xfrm>
        </p:grpSpPr>
        <p:sp>
          <p:nvSpPr>
            <p:cNvPr id="8" name="Rechteck 7"/>
            <p:cNvSpPr/>
            <p:nvPr/>
          </p:nvSpPr>
          <p:spPr>
            <a:xfrm>
              <a:off x="467544" y="548680"/>
              <a:ext cx="1296144" cy="2880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dirty="0" smtClean="0"/>
                <a:t>Teilnehmer</a:t>
              </a:r>
              <a:endParaRPr lang="de-DE" dirty="0"/>
            </a:p>
          </p:txBody>
        </p:sp>
        <p:pic>
          <p:nvPicPr>
            <p:cNvPr id="14" name="Grafik 13"/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443" r="21856"/>
            <a:stretch/>
          </p:blipFill>
          <p:spPr>
            <a:xfrm>
              <a:off x="369072" y="692696"/>
              <a:ext cx="196944" cy="360040"/>
            </a:xfrm>
            <a:prstGeom prst="rect">
              <a:avLst/>
            </a:prstGeom>
          </p:spPr>
        </p:pic>
      </p:grpSp>
      <p:grpSp>
        <p:nvGrpSpPr>
          <p:cNvPr id="17" name="Gruppieren 16"/>
          <p:cNvGrpSpPr/>
          <p:nvPr/>
        </p:nvGrpSpPr>
        <p:grpSpPr>
          <a:xfrm>
            <a:off x="1837488" y="332657"/>
            <a:ext cx="1394616" cy="504056"/>
            <a:chOff x="369072" y="548680"/>
            <a:chExt cx="1394616" cy="504056"/>
          </a:xfrm>
        </p:grpSpPr>
        <p:sp>
          <p:nvSpPr>
            <p:cNvPr id="18" name="Rechteck 17"/>
            <p:cNvSpPr/>
            <p:nvPr/>
          </p:nvSpPr>
          <p:spPr>
            <a:xfrm>
              <a:off x="467544" y="548680"/>
              <a:ext cx="1296144" cy="2880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dirty="0" smtClean="0"/>
                <a:t>Teilnehmer</a:t>
              </a:r>
              <a:endParaRPr lang="de-DE" dirty="0"/>
            </a:p>
          </p:txBody>
        </p:sp>
        <p:pic>
          <p:nvPicPr>
            <p:cNvPr id="19" name="Grafik 18"/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443" r="21856"/>
            <a:stretch/>
          </p:blipFill>
          <p:spPr>
            <a:xfrm>
              <a:off x="369072" y="692696"/>
              <a:ext cx="196944" cy="360040"/>
            </a:xfrm>
            <a:prstGeom prst="rect">
              <a:avLst/>
            </a:prstGeom>
          </p:spPr>
        </p:pic>
      </p:grpSp>
      <p:grpSp>
        <p:nvGrpSpPr>
          <p:cNvPr id="20" name="Gruppieren 19"/>
          <p:cNvGrpSpPr/>
          <p:nvPr/>
        </p:nvGrpSpPr>
        <p:grpSpPr>
          <a:xfrm>
            <a:off x="3323192" y="332657"/>
            <a:ext cx="1394616" cy="504056"/>
            <a:chOff x="369072" y="548680"/>
            <a:chExt cx="1394616" cy="504056"/>
          </a:xfrm>
        </p:grpSpPr>
        <p:sp>
          <p:nvSpPr>
            <p:cNvPr id="21" name="Rechteck 20"/>
            <p:cNvSpPr/>
            <p:nvPr/>
          </p:nvSpPr>
          <p:spPr>
            <a:xfrm>
              <a:off x="467544" y="548680"/>
              <a:ext cx="1296144" cy="2880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dirty="0" smtClean="0"/>
                <a:t>Teilnehmer</a:t>
              </a:r>
              <a:endParaRPr lang="de-DE" dirty="0"/>
            </a:p>
          </p:txBody>
        </p:sp>
        <p:pic>
          <p:nvPicPr>
            <p:cNvPr id="22" name="Grafik 21"/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443" r="21856"/>
            <a:stretch/>
          </p:blipFill>
          <p:spPr>
            <a:xfrm>
              <a:off x="369072" y="692696"/>
              <a:ext cx="196944" cy="360040"/>
            </a:xfrm>
            <a:prstGeom prst="rect">
              <a:avLst/>
            </a:prstGeom>
          </p:spPr>
        </p:pic>
      </p:grpSp>
      <p:grpSp>
        <p:nvGrpSpPr>
          <p:cNvPr id="23" name="Gruppieren 22"/>
          <p:cNvGrpSpPr/>
          <p:nvPr/>
        </p:nvGrpSpPr>
        <p:grpSpPr>
          <a:xfrm>
            <a:off x="4835360" y="332657"/>
            <a:ext cx="1394616" cy="504056"/>
            <a:chOff x="369072" y="548680"/>
            <a:chExt cx="1394616" cy="504056"/>
          </a:xfrm>
        </p:grpSpPr>
        <p:sp>
          <p:nvSpPr>
            <p:cNvPr id="24" name="Rechteck 23"/>
            <p:cNvSpPr/>
            <p:nvPr/>
          </p:nvSpPr>
          <p:spPr>
            <a:xfrm>
              <a:off x="467544" y="548680"/>
              <a:ext cx="1296144" cy="2880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dirty="0" smtClean="0"/>
                <a:t>Teilnehmer</a:t>
              </a:r>
              <a:endParaRPr lang="de-DE" dirty="0"/>
            </a:p>
          </p:txBody>
        </p:sp>
        <p:pic>
          <p:nvPicPr>
            <p:cNvPr id="25" name="Grafik 24"/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443" r="21856"/>
            <a:stretch/>
          </p:blipFill>
          <p:spPr>
            <a:xfrm>
              <a:off x="369072" y="692696"/>
              <a:ext cx="196944" cy="360040"/>
            </a:xfrm>
            <a:prstGeom prst="rect">
              <a:avLst/>
            </a:prstGeom>
          </p:spPr>
        </p:pic>
      </p:grpSp>
      <p:grpSp>
        <p:nvGrpSpPr>
          <p:cNvPr id="26" name="Gruppieren 25"/>
          <p:cNvGrpSpPr/>
          <p:nvPr/>
        </p:nvGrpSpPr>
        <p:grpSpPr>
          <a:xfrm>
            <a:off x="6347528" y="332657"/>
            <a:ext cx="1394616" cy="504056"/>
            <a:chOff x="369072" y="548680"/>
            <a:chExt cx="1394616" cy="504056"/>
          </a:xfrm>
        </p:grpSpPr>
        <p:sp>
          <p:nvSpPr>
            <p:cNvPr id="27" name="Rechteck 26"/>
            <p:cNvSpPr/>
            <p:nvPr/>
          </p:nvSpPr>
          <p:spPr>
            <a:xfrm>
              <a:off x="467544" y="548680"/>
              <a:ext cx="1296144" cy="2880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dirty="0" smtClean="0"/>
                <a:t>Teilnehmer</a:t>
              </a:r>
              <a:endParaRPr lang="de-DE" dirty="0"/>
            </a:p>
          </p:txBody>
        </p:sp>
        <p:pic>
          <p:nvPicPr>
            <p:cNvPr id="28" name="Grafik 27"/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443" r="21856"/>
            <a:stretch/>
          </p:blipFill>
          <p:spPr>
            <a:xfrm>
              <a:off x="369072" y="692696"/>
              <a:ext cx="196944" cy="360040"/>
            </a:xfrm>
            <a:prstGeom prst="rect">
              <a:avLst/>
            </a:prstGeom>
          </p:spPr>
        </p:pic>
      </p:grpSp>
      <p:grpSp>
        <p:nvGrpSpPr>
          <p:cNvPr id="32" name="Gruppieren 31"/>
          <p:cNvGrpSpPr/>
          <p:nvPr/>
        </p:nvGrpSpPr>
        <p:grpSpPr>
          <a:xfrm>
            <a:off x="6651170" y="1052737"/>
            <a:ext cx="1280534" cy="613568"/>
            <a:chOff x="6702312" y="2167556"/>
            <a:chExt cx="1280534" cy="613568"/>
          </a:xfrm>
        </p:grpSpPr>
        <p:sp>
          <p:nvSpPr>
            <p:cNvPr id="6" name="Rechteck 5"/>
            <p:cNvSpPr/>
            <p:nvPr/>
          </p:nvSpPr>
          <p:spPr>
            <a:xfrm>
              <a:off x="6702312" y="2167556"/>
              <a:ext cx="894024" cy="397348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dirty="0" smtClean="0"/>
                <a:t>Dozent</a:t>
              </a:r>
              <a:endParaRPr lang="de-DE" dirty="0"/>
            </a:p>
          </p:txBody>
        </p:sp>
        <p:pic>
          <p:nvPicPr>
            <p:cNvPr id="31" name="Grafik 30"/>
            <p:cNvPicPr>
              <a:picLocks noChangeAspect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3342" b="15506"/>
            <a:stretch/>
          </p:blipFill>
          <p:spPr>
            <a:xfrm>
              <a:off x="7452320" y="2405852"/>
              <a:ext cx="530526" cy="375272"/>
            </a:xfrm>
            <a:prstGeom prst="rect">
              <a:avLst/>
            </a:prstGeom>
          </p:spPr>
        </p:pic>
      </p:grpSp>
      <p:pic>
        <p:nvPicPr>
          <p:cNvPr id="37" name="Grafik 36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342" b="15506"/>
          <a:stretch/>
        </p:blipFill>
        <p:spPr>
          <a:xfrm>
            <a:off x="681371" y="2276873"/>
            <a:ext cx="939833" cy="664799"/>
          </a:xfrm>
          <a:prstGeom prst="rect">
            <a:avLst/>
          </a:prstGeom>
        </p:spPr>
      </p:pic>
      <p:grpSp>
        <p:nvGrpSpPr>
          <p:cNvPr id="36" name="Gruppieren 35"/>
          <p:cNvGrpSpPr/>
          <p:nvPr/>
        </p:nvGrpSpPr>
        <p:grpSpPr>
          <a:xfrm>
            <a:off x="366616" y="1196753"/>
            <a:ext cx="1569344" cy="883841"/>
            <a:chOff x="698400" y="1916832"/>
            <a:chExt cx="1569344" cy="883841"/>
          </a:xfrm>
        </p:grpSpPr>
        <p:pic>
          <p:nvPicPr>
            <p:cNvPr id="16" name="Grafik 15"/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641" r="13579"/>
            <a:stretch/>
          </p:blipFill>
          <p:spPr>
            <a:xfrm>
              <a:off x="1650842" y="2027578"/>
              <a:ext cx="550984" cy="717612"/>
            </a:xfrm>
            <a:prstGeom prst="rect">
              <a:avLst/>
            </a:prstGeom>
          </p:spPr>
        </p:pic>
        <p:pic>
          <p:nvPicPr>
            <p:cNvPr id="29" name="Grafik 28"/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5236" r="2750" b="19797"/>
            <a:stretch/>
          </p:blipFill>
          <p:spPr>
            <a:xfrm>
              <a:off x="810185" y="1990340"/>
              <a:ext cx="752268" cy="502556"/>
            </a:xfrm>
            <a:prstGeom prst="rect">
              <a:avLst/>
            </a:prstGeom>
          </p:spPr>
        </p:pic>
        <p:sp>
          <p:nvSpPr>
            <p:cNvPr id="34" name="Textfeld 33"/>
            <p:cNvSpPr txBox="1"/>
            <p:nvPr/>
          </p:nvSpPr>
          <p:spPr>
            <a:xfrm>
              <a:off x="698400" y="2492896"/>
              <a:ext cx="975837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de-DE" sz="1400" dirty="0" smtClean="0">
                  <a:solidFill>
                    <a:srgbClr val="0070C0"/>
                  </a:solidFill>
                </a:rPr>
                <a:t>Bild &amp; Ton</a:t>
              </a:r>
              <a:endParaRPr lang="de-DE" sz="1400" dirty="0">
                <a:solidFill>
                  <a:srgbClr val="0070C0"/>
                </a:solidFill>
              </a:endParaRPr>
            </a:p>
          </p:txBody>
        </p:sp>
        <p:sp>
          <p:nvSpPr>
            <p:cNvPr id="35" name="Rechteck 34"/>
            <p:cNvSpPr/>
            <p:nvPr/>
          </p:nvSpPr>
          <p:spPr>
            <a:xfrm>
              <a:off x="698400" y="1916832"/>
              <a:ext cx="1569344" cy="883841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39" name="Gerader Verbinder 38"/>
          <p:cNvCxnSpPr>
            <a:stCxn id="37" idx="0"/>
            <a:endCxn id="35" idx="2"/>
          </p:cNvCxnSpPr>
          <p:nvPr/>
        </p:nvCxnSpPr>
        <p:spPr>
          <a:xfrm flipV="1">
            <a:off x="1151288" y="2080594"/>
            <a:ext cx="0" cy="196279"/>
          </a:xfrm>
          <a:prstGeom prst="line">
            <a:avLst/>
          </a:prstGeom>
          <a:ln w="127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Gerade Verbindung mit Pfeil 44"/>
          <p:cNvCxnSpPr>
            <a:stCxn id="8" idx="0"/>
            <a:endCxn id="35" idx="1"/>
          </p:cNvCxnSpPr>
          <p:nvPr/>
        </p:nvCxnSpPr>
        <p:spPr>
          <a:xfrm rot="16200000" flipH="1" flipV="1">
            <a:off x="89003" y="610269"/>
            <a:ext cx="1306017" cy="750792"/>
          </a:xfrm>
          <a:prstGeom prst="bentConnector4">
            <a:avLst>
              <a:gd name="adj1" fmla="val -17504"/>
              <a:gd name="adj2" fmla="val 130448"/>
            </a:avLst>
          </a:prstGeom>
          <a:ln w="12700">
            <a:solidFill>
              <a:srgbClr val="0070C0"/>
            </a:solidFill>
            <a:headEnd type="stealth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Gerade Verbindung mit Pfeil 47"/>
          <p:cNvCxnSpPr>
            <a:stCxn id="18" idx="0"/>
            <a:endCxn id="35" idx="1"/>
          </p:cNvCxnSpPr>
          <p:nvPr/>
        </p:nvCxnSpPr>
        <p:spPr>
          <a:xfrm rot="16200000" flipH="1" flipV="1">
            <a:off x="822315" y="-123043"/>
            <a:ext cx="1306017" cy="2217416"/>
          </a:xfrm>
          <a:prstGeom prst="bentConnector4">
            <a:avLst>
              <a:gd name="adj1" fmla="val -17504"/>
              <a:gd name="adj2" fmla="val 110309"/>
            </a:avLst>
          </a:prstGeom>
          <a:ln w="12700">
            <a:solidFill>
              <a:srgbClr val="0070C0"/>
            </a:solidFill>
            <a:headEnd type="stealth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Gerade Verbindung mit Pfeil 50"/>
          <p:cNvCxnSpPr>
            <a:stCxn id="21" idx="0"/>
            <a:endCxn id="35" idx="1"/>
          </p:cNvCxnSpPr>
          <p:nvPr/>
        </p:nvCxnSpPr>
        <p:spPr>
          <a:xfrm rot="16200000" flipH="1" flipV="1">
            <a:off x="1565167" y="-865895"/>
            <a:ext cx="1306017" cy="3703120"/>
          </a:xfrm>
          <a:prstGeom prst="bentConnector4">
            <a:avLst>
              <a:gd name="adj1" fmla="val -17504"/>
              <a:gd name="adj2" fmla="val 106173"/>
            </a:avLst>
          </a:prstGeom>
          <a:ln w="12700">
            <a:solidFill>
              <a:srgbClr val="0070C0"/>
            </a:solidFill>
            <a:headEnd type="stealth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Gerade Verbindung mit Pfeil 54"/>
          <p:cNvCxnSpPr>
            <a:stCxn id="24" idx="0"/>
            <a:endCxn id="35" idx="1"/>
          </p:cNvCxnSpPr>
          <p:nvPr/>
        </p:nvCxnSpPr>
        <p:spPr>
          <a:xfrm rot="16200000" flipH="1" flipV="1">
            <a:off x="2321251" y="-1621979"/>
            <a:ext cx="1306017" cy="5215288"/>
          </a:xfrm>
          <a:prstGeom prst="bentConnector4">
            <a:avLst>
              <a:gd name="adj1" fmla="val -17504"/>
              <a:gd name="adj2" fmla="val 104383"/>
            </a:avLst>
          </a:prstGeom>
          <a:ln w="12700">
            <a:solidFill>
              <a:srgbClr val="0070C0"/>
            </a:solidFill>
            <a:headEnd type="stealth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Gerade Verbindung mit Pfeil 57"/>
          <p:cNvCxnSpPr>
            <a:stCxn id="27" idx="0"/>
            <a:endCxn id="35" idx="1"/>
          </p:cNvCxnSpPr>
          <p:nvPr/>
        </p:nvCxnSpPr>
        <p:spPr>
          <a:xfrm rot="16200000" flipH="1" flipV="1">
            <a:off x="3077335" y="-2378063"/>
            <a:ext cx="1306017" cy="6727456"/>
          </a:xfrm>
          <a:prstGeom prst="bentConnector4">
            <a:avLst>
              <a:gd name="adj1" fmla="val -17504"/>
              <a:gd name="adj2" fmla="val 103398"/>
            </a:avLst>
          </a:prstGeom>
          <a:ln w="12700">
            <a:solidFill>
              <a:srgbClr val="0070C0"/>
            </a:solidFill>
            <a:headEnd type="stealth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Gerade Verbindung mit Pfeil 70"/>
          <p:cNvCxnSpPr>
            <a:endCxn id="31" idx="2"/>
          </p:cNvCxnSpPr>
          <p:nvPr/>
        </p:nvCxnSpPr>
        <p:spPr>
          <a:xfrm flipV="1">
            <a:off x="7666441" y="1666305"/>
            <a:ext cx="0" cy="688956"/>
          </a:xfrm>
          <a:prstGeom prst="straightConnector1">
            <a:avLst/>
          </a:prstGeom>
          <a:ln w="12700">
            <a:solidFill>
              <a:schemeClr val="accent6"/>
            </a:solidFill>
            <a:headEnd type="stealth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Gerade Verbindung mit Pfeil 74"/>
          <p:cNvCxnSpPr>
            <a:stCxn id="37" idx="3"/>
            <a:endCxn id="5" idx="1"/>
          </p:cNvCxnSpPr>
          <p:nvPr/>
        </p:nvCxnSpPr>
        <p:spPr>
          <a:xfrm flipV="1">
            <a:off x="1621204" y="2607289"/>
            <a:ext cx="621868" cy="1984"/>
          </a:xfrm>
          <a:prstGeom prst="straightConnector1">
            <a:avLst/>
          </a:prstGeom>
          <a:ln w="12700">
            <a:solidFill>
              <a:schemeClr val="accent6"/>
            </a:solidFill>
            <a:headEnd type="stealth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Gerade Verbindung mit Pfeil 79"/>
          <p:cNvCxnSpPr>
            <a:stCxn id="4" idx="2"/>
          </p:cNvCxnSpPr>
          <p:nvPr/>
        </p:nvCxnSpPr>
        <p:spPr>
          <a:xfrm>
            <a:off x="3264144" y="1988841"/>
            <a:ext cx="0" cy="366420"/>
          </a:xfrm>
          <a:prstGeom prst="straightConnector1">
            <a:avLst/>
          </a:prstGeom>
          <a:ln w="12700">
            <a:solidFill>
              <a:schemeClr val="accent6"/>
            </a:solidFill>
            <a:headEnd type="stealth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Gerade Verbindung mit Pfeil 82"/>
          <p:cNvCxnSpPr>
            <a:stCxn id="255" idx="2"/>
            <a:endCxn id="4" idx="0"/>
          </p:cNvCxnSpPr>
          <p:nvPr/>
        </p:nvCxnSpPr>
        <p:spPr>
          <a:xfrm rot="16200000" flipH="1">
            <a:off x="1551849" y="-299518"/>
            <a:ext cx="581000" cy="2843590"/>
          </a:xfrm>
          <a:prstGeom prst="bentConnector3">
            <a:avLst>
              <a:gd name="adj1" fmla="val 32076"/>
            </a:avLst>
          </a:prstGeom>
          <a:ln w="12700">
            <a:solidFill>
              <a:srgbClr val="E20074"/>
            </a:solidFill>
            <a:headEnd type="none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Gerade Verbindung mit Pfeil 85"/>
          <p:cNvCxnSpPr>
            <a:stCxn id="261" idx="2"/>
            <a:endCxn id="4" idx="0"/>
          </p:cNvCxnSpPr>
          <p:nvPr/>
        </p:nvCxnSpPr>
        <p:spPr>
          <a:xfrm rot="16200000" flipH="1">
            <a:off x="2287214" y="435847"/>
            <a:ext cx="576064" cy="1377796"/>
          </a:xfrm>
          <a:prstGeom prst="bentConnector3">
            <a:avLst>
              <a:gd name="adj1" fmla="val 31261"/>
            </a:avLst>
          </a:prstGeom>
          <a:ln w="12700">
            <a:solidFill>
              <a:srgbClr val="E20074"/>
            </a:solidFill>
            <a:headEnd type="none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Gerade Verbindung mit Pfeil 88"/>
          <p:cNvCxnSpPr>
            <a:stCxn id="264" idx="2"/>
            <a:endCxn id="4" idx="0"/>
          </p:cNvCxnSpPr>
          <p:nvPr/>
        </p:nvCxnSpPr>
        <p:spPr>
          <a:xfrm rot="5400000">
            <a:off x="3029289" y="1071568"/>
            <a:ext cx="576064" cy="106354"/>
          </a:xfrm>
          <a:prstGeom prst="bentConnector3">
            <a:avLst>
              <a:gd name="adj1" fmla="val 31261"/>
            </a:avLst>
          </a:prstGeom>
          <a:ln w="12700">
            <a:solidFill>
              <a:srgbClr val="E20074"/>
            </a:solidFill>
            <a:headEnd type="none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Gerade Verbindung mit Pfeil 91"/>
          <p:cNvCxnSpPr>
            <a:stCxn id="270" idx="2"/>
            <a:endCxn id="4" idx="0"/>
          </p:cNvCxnSpPr>
          <p:nvPr/>
        </p:nvCxnSpPr>
        <p:spPr>
          <a:xfrm rot="5400000">
            <a:off x="3782329" y="318529"/>
            <a:ext cx="576064" cy="1612433"/>
          </a:xfrm>
          <a:prstGeom prst="bentConnector3">
            <a:avLst>
              <a:gd name="adj1" fmla="val 31261"/>
            </a:avLst>
          </a:prstGeom>
          <a:ln w="12700">
            <a:solidFill>
              <a:srgbClr val="E20074"/>
            </a:solidFill>
            <a:headEnd type="none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Gerade Verbindung mit Pfeil 94"/>
          <p:cNvCxnSpPr>
            <a:stCxn id="274" idx="2"/>
            <a:endCxn id="4" idx="0"/>
          </p:cNvCxnSpPr>
          <p:nvPr/>
        </p:nvCxnSpPr>
        <p:spPr>
          <a:xfrm rot="5400000">
            <a:off x="4544441" y="-443584"/>
            <a:ext cx="576064" cy="3136658"/>
          </a:xfrm>
          <a:prstGeom prst="bentConnector3">
            <a:avLst>
              <a:gd name="adj1" fmla="val 31260"/>
            </a:avLst>
          </a:prstGeom>
          <a:ln w="12700">
            <a:solidFill>
              <a:srgbClr val="E20074"/>
            </a:solidFill>
            <a:headEnd type="none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8" name="Rechteck 167"/>
          <p:cNvSpPr/>
          <p:nvPr/>
        </p:nvSpPr>
        <p:spPr>
          <a:xfrm>
            <a:off x="4458779" y="1412777"/>
            <a:ext cx="2032869" cy="576064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 err="1" smtClean="0"/>
              <a:t>MongoDB</a:t>
            </a:r>
            <a:endParaRPr lang="de-DE" dirty="0"/>
          </a:p>
        </p:txBody>
      </p:sp>
      <p:cxnSp>
        <p:nvCxnSpPr>
          <p:cNvPr id="179" name="Gerade Verbindung mit Pfeil 178"/>
          <p:cNvCxnSpPr>
            <a:stCxn id="168" idx="1"/>
            <a:endCxn id="4" idx="3"/>
          </p:cNvCxnSpPr>
          <p:nvPr/>
        </p:nvCxnSpPr>
        <p:spPr>
          <a:xfrm flipH="1">
            <a:off x="4283117" y="1700809"/>
            <a:ext cx="175662" cy="0"/>
          </a:xfrm>
          <a:prstGeom prst="straightConnector1">
            <a:avLst/>
          </a:prstGeom>
          <a:ln w="12700">
            <a:solidFill>
              <a:srgbClr val="990099"/>
            </a:solidFill>
            <a:headEnd type="stealth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Gerade Verbindung mit Pfeil 82"/>
          <p:cNvCxnSpPr>
            <a:stCxn id="168" idx="0"/>
            <a:endCxn id="169" idx="2"/>
          </p:cNvCxnSpPr>
          <p:nvPr/>
        </p:nvCxnSpPr>
        <p:spPr>
          <a:xfrm rot="16200000" flipV="1">
            <a:off x="2708673" y="-1353764"/>
            <a:ext cx="576064" cy="4957018"/>
          </a:xfrm>
          <a:prstGeom prst="bentConnector3">
            <a:avLst>
              <a:gd name="adj1" fmla="val 50000"/>
            </a:avLst>
          </a:prstGeom>
          <a:ln w="12700">
            <a:solidFill>
              <a:srgbClr val="00B050"/>
            </a:solidFill>
            <a:headEnd type="none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Gerade Verbindung mit Pfeil 82"/>
          <p:cNvCxnSpPr>
            <a:stCxn id="168" idx="0"/>
            <a:endCxn id="243" idx="2"/>
          </p:cNvCxnSpPr>
          <p:nvPr/>
        </p:nvCxnSpPr>
        <p:spPr>
          <a:xfrm rot="16200000" flipV="1">
            <a:off x="3440575" y="-621863"/>
            <a:ext cx="581000" cy="3488279"/>
          </a:xfrm>
          <a:prstGeom prst="bentConnector3">
            <a:avLst>
              <a:gd name="adj1" fmla="val 49672"/>
            </a:avLst>
          </a:prstGeom>
          <a:ln w="12700">
            <a:solidFill>
              <a:srgbClr val="00B050"/>
            </a:solidFill>
            <a:headEnd type="none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Gerade Verbindung mit Pfeil 82"/>
          <p:cNvCxnSpPr>
            <a:stCxn id="168" idx="0"/>
            <a:endCxn id="246" idx="2"/>
          </p:cNvCxnSpPr>
          <p:nvPr/>
        </p:nvCxnSpPr>
        <p:spPr>
          <a:xfrm rot="16200000" flipV="1">
            <a:off x="4181521" y="119084"/>
            <a:ext cx="576064" cy="2011322"/>
          </a:xfrm>
          <a:prstGeom prst="bentConnector3">
            <a:avLst>
              <a:gd name="adj1" fmla="val 50221"/>
            </a:avLst>
          </a:prstGeom>
          <a:ln w="12700">
            <a:solidFill>
              <a:srgbClr val="00B050"/>
            </a:solidFill>
            <a:headEnd type="none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Gerade Verbindung mit Pfeil 82"/>
          <p:cNvCxnSpPr>
            <a:stCxn id="168" idx="0"/>
            <a:endCxn id="248" idx="2"/>
          </p:cNvCxnSpPr>
          <p:nvPr/>
        </p:nvCxnSpPr>
        <p:spPr>
          <a:xfrm rot="16200000" flipV="1">
            <a:off x="4937605" y="875168"/>
            <a:ext cx="576064" cy="499154"/>
          </a:xfrm>
          <a:prstGeom prst="bentConnector3">
            <a:avLst>
              <a:gd name="adj1" fmla="val 50330"/>
            </a:avLst>
          </a:prstGeom>
          <a:ln w="12700">
            <a:solidFill>
              <a:srgbClr val="00B050"/>
            </a:solidFill>
            <a:headEnd type="none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Gerade Verbindung mit Pfeil 82"/>
          <p:cNvCxnSpPr>
            <a:stCxn id="168" idx="0"/>
            <a:endCxn id="251" idx="2"/>
          </p:cNvCxnSpPr>
          <p:nvPr/>
        </p:nvCxnSpPr>
        <p:spPr>
          <a:xfrm rot="5400000" flipH="1" flipV="1">
            <a:off x="5697005" y="614922"/>
            <a:ext cx="576064" cy="1019646"/>
          </a:xfrm>
          <a:prstGeom prst="bentConnector3">
            <a:avLst>
              <a:gd name="adj1" fmla="val 50331"/>
            </a:avLst>
          </a:prstGeom>
          <a:ln w="12700">
            <a:solidFill>
              <a:srgbClr val="00B050"/>
            </a:solidFill>
            <a:headEnd type="none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Rechteck 168"/>
          <p:cNvSpPr/>
          <p:nvPr/>
        </p:nvSpPr>
        <p:spPr>
          <a:xfrm>
            <a:off x="305488" y="476673"/>
            <a:ext cx="425416" cy="36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3" name="Rechteck 242"/>
          <p:cNvSpPr/>
          <p:nvPr/>
        </p:nvSpPr>
        <p:spPr>
          <a:xfrm>
            <a:off x="1774227" y="471737"/>
            <a:ext cx="425416" cy="36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6" name="Rechteck 245"/>
          <p:cNvSpPr/>
          <p:nvPr/>
        </p:nvSpPr>
        <p:spPr>
          <a:xfrm>
            <a:off x="3251184" y="476673"/>
            <a:ext cx="425416" cy="36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8" name="Rechteck 247"/>
          <p:cNvSpPr/>
          <p:nvPr/>
        </p:nvSpPr>
        <p:spPr>
          <a:xfrm>
            <a:off x="4763352" y="476673"/>
            <a:ext cx="425416" cy="36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1" name="Rechteck 250"/>
          <p:cNvSpPr/>
          <p:nvPr/>
        </p:nvSpPr>
        <p:spPr>
          <a:xfrm>
            <a:off x="6282152" y="476673"/>
            <a:ext cx="425416" cy="36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5" name="Rechteck 254"/>
          <p:cNvSpPr/>
          <p:nvPr/>
        </p:nvSpPr>
        <p:spPr>
          <a:xfrm>
            <a:off x="207846" y="471737"/>
            <a:ext cx="425416" cy="36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1" name="Rechteck 260"/>
          <p:cNvSpPr/>
          <p:nvPr/>
        </p:nvSpPr>
        <p:spPr>
          <a:xfrm>
            <a:off x="1673640" y="476673"/>
            <a:ext cx="425416" cy="36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4" name="Rechteck 263"/>
          <p:cNvSpPr/>
          <p:nvPr/>
        </p:nvSpPr>
        <p:spPr>
          <a:xfrm>
            <a:off x="3157790" y="476673"/>
            <a:ext cx="425416" cy="36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0" name="Rechteck 269"/>
          <p:cNvSpPr/>
          <p:nvPr/>
        </p:nvSpPr>
        <p:spPr>
          <a:xfrm>
            <a:off x="4663869" y="476673"/>
            <a:ext cx="425416" cy="36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4" name="Rechteck 273"/>
          <p:cNvSpPr/>
          <p:nvPr/>
        </p:nvSpPr>
        <p:spPr>
          <a:xfrm>
            <a:off x="6188094" y="476673"/>
            <a:ext cx="425416" cy="36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5" name="Textfeld 224"/>
          <p:cNvSpPr txBox="1"/>
          <p:nvPr/>
        </p:nvSpPr>
        <p:spPr>
          <a:xfrm>
            <a:off x="179512" y="5169966"/>
            <a:ext cx="756263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>
                <a:solidFill>
                  <a:schemeClr val="accent6"/>
                </a:solidFill>
              </a:rPr>
              <a:t>Komplette Kommunikation</a:t>
            </a:r>
            <a:r>
              <a:rPr lang="de-DE" dirty="0"/>
              <a:t> </a:t>
            </a:r>
            <a:r>
              <a:rPr lang="de-DE" dirty="0" smtClean="0"/>
              <a:t>		</a:t>
            </a:r>
            <a:r>
              <a:rPr lang="de-DE" dirty="0" smtClean="0">
                <a:solidFill>
                  <a:srgbClr val="990099"/>
                </a:solidFill>
              </a:rPr>
              <a:t>Eventnachrichten 		</a:t>
            </a:r>
            <a:r>
              <a:rPr lang="de-DE" dirty="0" smtClean="0">
                <a:solidFill>
                  <a:srgbClr val="0070C0"/>
                </a:solidFill>
              </a:rPr>
              <a:t>Bild &amp; Ton</a:t>
            </a:r>
          </a:p>
          <a:p>
            <a:r>
              <a:rPr lang="de-DE" dirty="0" smtClean="0">
                <a:solidFill>
                  <a:srgbClr val="E20074"/>
                </a:solidFill>
              </a:rPr>
              <a:t>Informationen schreiben (Chatnachrichten, Umfrageergebnisse)</a:t>
            </a:r>
          </a:p>
          <a:p>
            <a:r>
              <a:rPr lang="de-DE" dirty="0" smtClean="0">
                <a:solidFill>
                  <a:srgbClr val="00B050"/>
                </a:solidFill>
              </a:rPr>
              <a:t>Informationen lesen (Chatnachrichten, Antwortmöglichkeiten bei Umfragen)</a:t>
            </a:r>
            <a:endParaRPr lang="de-DE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58294792"/>
      </p:ext>
    </p:extLst>
  </p:cSld>
  <p:clrMapOvr>
    <a:masterClrMapping/>
  </p:clrMapOvr>
</p:sld>
</file>

<file path=ppt/theme/theme1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179</Words>
  <Application>Microsoft Office PowerPoint</Application>
  <PresentationFormat>Bildschirmpräsentation (4:3)</PresentationFormat>
  <Paragraphs>103</Paragraphs>
  <Slides>8</Slides>
  <Notes>0</Notes>
  <HiddenSlides>1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8</vt:i4>
      </vt:variant>
    </vt:vector>
  </HeadingPairs>
  <TitlesOfParts>
    <vt:vector size="12" baseType="lpstr">
      <vt:lpstr>Arial</vt:lpstr>
      <vt:lpstr>Calibri</vt:lpstr>
      <vt:lpstr>Tele-GroteskNor</vt:lpstr>
      <vt:lpstr>Larissa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Luise Kaufmann</dc:creator>
  <cp:lastModifiedBy>Arbeit</cp:lastModifiedBy>
  <cp:revision>142</cp:revision>
  <dcterms:created xsi:type="dcterms:W3CDTF">2016-07-27T12:07:42Z</dcterms:created>
  <dcterms:modified xsi:type="dcterms:W3CDTF">2017-03-03T12:24:20Z</dcterms:modified>
</cp:coreProperties>
</file>