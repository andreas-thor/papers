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66CCFF"/>
    <a:srgbClr val="FF7C80"/>
    <a:srgbClr val="FFFF99"/>
    <a:srgbClr val="E20074"/>
    <a:srgbClr val="FFFF00"/>
    <a:srgbClr val="99FF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34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5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49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6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61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40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48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42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79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59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812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7EEA7-7CF7-4A21-92C8-3CFB69AD4175}" type="datetimeFigureOut">
              <a:rPr lang="de-DE" smtClean="0"/>
              <a:t>03.03.2017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49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95536" y="620688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Client-Seite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11560" y="908720"/>
            <a:ext cx="3960440" cy="1296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1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932040" y="764704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2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0" name="Pfeil nach oben und unten 9"/>
          <p:cNvSpPr/>
          <p:nvPr/>
        </p:nvSpPr>
        <p:spPr>
          <a:xfrm>
            <a:off x="4391980" y="4797152"/>
            <a:ext cx="360040" cy="86409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740624" y="1412776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3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971600" y="1297214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1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4" name="Abgerundetes Rechteck 13"/>
          <p:cNvSpPr/>
          <p:nvPr/>
        </p:nvSpPr>
        <p:spPr>
          <a:xfrm>
            <a:off x="2123728" y="1615218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2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5" name="Abgerundetes Rechteck 14"/>
          <p:cNvSpPr/>
          <p:nvPr/>
        </p:nvSpPr>
        <p:spPr>
          <a:xfrm>
            <a:off x="3347864" y="1324859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3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752026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</a:t>
            </a:r>
            <a:r>
              <a:rPr lang="de-DE" sz="1400" b="1" dirty="0" smtClean="0">
                <a:latin typeface="Tele-GroteskNor" pitchFamily="2" charset="0"/>
              </a:rPr>
              <a:t>Chatnachrichten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</a:t>
            </a:r>
            <a:r>
              <a:rPr lang="de-DE" sz="1400" b="1" dirty="0" smtClean="0">
                <a:latin typeface="Tele-GroteskNor" pitchFamily="2" charset="0"/>
              </a:rPr>
              <a:t>Umfragen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20" name="Gekrümmte Verbindung 19"/>
          <p:cNvCxnSpPr>
            <a:stCxn id="11" idx="2"/>
            <a:endCxn id="13" idx="2"/>
          </p:cNvCxnSpPr>
          <p:nvPr/>
        </p:nvCxnSpPr>
        <p:spPr>
          <a:xfrm rot="10800000">
            <a:off x="1439652" y="1761080"/>
            <a:ext cx="3780420" cy="1883944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krümmte Verbindung 22"/>
          <p:cNvCxnSpPr>
            <a:stCxn id="11" idx="2"/>
            <a:endCxn id="14" idx="2"/>
          </p:cNvCxnSpPr>
          <p:nvPr/>
        </p:nvCxnSpPr>
        <p:spPr>
          <a:xfrm rot="10800000">
            <a:off x="2591780" y="2079084"/>
            <a:ext cx="2628292" cy="1565940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krümmte Verbindung 25"/>
          <p:cNvCxnSpPr>
            <a:stCxn id="11" idx="2"/>
            <a:endCxn id="15" idx="2"/>
          </p:cNvCxnSpPr>
          <p:nvPr/>
        </p:nvCxnSpPr>
        <p:spPr>
          <a:xfrm rot="10800000">
            <a:off x="3815916" y="1788726"/>
            <a:ext cx="1404156" cy="1856299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11" idx="1"/>
            <a:endCxn id="9" idx="4"/>
          </p:cNvCxnSpPr>
          <p:nvPr/>
        </p:nvCxnSpPr>
        <p:spPr>
          <a:xfrm flipH="1" flipV="1">
            <a:off x="5760132" y="1556792"/>
            <a:ext cx="252028" cy="1548172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11" idx="1"/>
            <a:endCxn id="12" idx="4"/>
          </p:cNvCxnSpPr>
          <p:nvPr/>
        </p:nvCxnSpPr>
        <p:spPr>
          <a:xfrm flipV="1">
            <a:off x="6012160" y="2204864"/>
            <a:ext cx="1556556" cy="90010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95536" y="620688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Client-Seite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11560" y="908720"/>
            <a:ext cx="3960440" cy="1296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1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932040" y="764704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2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0" name="Pfeil nach oben und unten 9"/>
          <p:cNvSpPr/>
          <p:nvPr/>
        </p:nvSpPr>
        <p:spPr>
          <a:xfrm rot="2508825">
            <a:off x="4862627" y="4043372"/>
            <a:ext cx="360040" cy="1873398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740624" y="1412776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3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971600" y="1297214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latin typeface="Tele-GroteskNor" pitchFamily="2" charset="0"/>
              </a:rPr>
              <a:t>Sicht 1</a:t>
            </a:r>
            <a:endParaRPr lang="de-DE" dirty="0">
              <a:latin typeface="Tele-GroteskNor" pitchFamily="2" charset="0"/>
            </a:endParaRPr>
          </a:p>
        </p:txBody>
      </p:sp>
      <p:sp>
        <p:nvSpPr>
          <p:cNvPr id="14" name="Abgerundetes Rechteck 13"/>
          <p:cNvSpPr/>
          <p:nvPr/>
        </p:nvSpPr>
        <p:spPr>
          <a:xfrm>
            <a:off x="2123728" y="1615218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latin typeface="Tele-GroteskNor" pitchFamily="2" charset="0"/>
              </a:rPr>
              <a:t>Sicht 2</a:t>
            </a:r>
            <a:endParaRPr lang="de-DE" dirty="0">
              <a:latin typeface="Tele-GroteskNor" pitchFamily="2" charset="0"/>
            </a:endParaRPr>
          </a:p>
        </p:txBody>
      </p:sp>
      <p:sp>
        <p:nvSpPr>
          <p:cNvPr id="15" name="Abgerundetes Rechteck 14"/>
          <p:cNvSpPr/>
          <p:nvPr/>
        </p:nvSpPr>
        <p:spPr>
          <a:xfrm>
            <a:off x="3347864" y="1324859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latin typeface="Tele-GroteskNor" pitchFamily="2" charset="0"/>
              </a:rPr>
              <a:t>Sicht 3</a:t>
            </a:r>
            <a:endParaRPr lang="de-DE" dirty="0">
              <a:latin typeface="Tele-GroteskNor" pitchFamily="2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5153002" y="4980071"/>
            <a:ext cx="2875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„get_all_meetings_request“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</a:t>
            </a:r>
            <a:r>
              <a:rPr lang="de-DE" sz="1400" b="1" dirty="0" smtClean="0">
                <a:latin typeface="Tele-GroteskNor" pitchFamily="2" charset="0"/>
              </a:rPr>
              <a:t>Sitzungen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20" name="Gekrümmte Verbindung 19"/>
          <p:cNvCxnSpPr>
            <a:stCxn id="11" idx="2"/>
            <a:endCxn id="13" idx="2"/>
          </p:cNvCxnSpPr>
          <p:nvPr/>
        </p:nvCxnSpPr>
        <p:spPr>
          <a:xfrm rot="10800000">
            <a:off x="1439652" y="1761080"/>
            <a:ext cx="3780420" cy="1883944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krümmte Verbindung 22"/>
          <p:cNvCxnSpPr>
            <a:stCxn id="11" idx="2"/>
            <a:endCxn id="14" idx="2"/>
          </p:cNvCxnSpPr>
          <p:nvPr/>
        </p:nvCxnSpPr>
        <p:spPr>
          <a:xfrm rot="10800000">
            <a:off x="2591780" y="2079084"/>
            <a:ext cx="2628292" cy="1565940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krümmte Verbindung 25"/>
          <p:cNvCxnSpPr>
            <a:stCxn id="11" idx="2"/>
            <a:endCxn id="15" idx="2"/>
          </p:cNvCxnSpPr>
          <p:nvPr/>
        </p:nvCxnSpPr>
        <p:spPr>
          <a:xfrm rot="10800000">
            <a:off x="3815916" y="1788726"/>
            <a:ext cx="1404156" cy="1856299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11" idx="1"/>
            <a:endCxn id="9" idx="4"/>
          </p:cNvCxnSpPr>
          <p:nvPr/>
        </p:nvCxnSpPr>
        <p:spPr>
          <a:xfrm flipH="1" flipV="1">
            <a:off x="5760132" y="1556792"/>
            <a:ext cx="252028" cy="1548172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11" idx="1"/>
            <a:endCxn id="12" idx="4"/>
          </p:cNvCxnSpPr>
          <p:nvPr/>
        </p:nvCxnSpPr>
        <p:spPr>
          <a:xfrm flipV="1">
            <a:off x="6012160" y="2204864"/>
            <a:ext cx="1556556" cy="90010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5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283968" y="4725144"/>
            <a:ext cx="576064" cy="10081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95536" y="620688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Client-Seite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</a:t>
            </a:r>
            <a:b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</a:br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11560" y="908720"/>
            <a:ext cx="3960440" cy="1296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1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932040" y="764704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2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740624" y="1412776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3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971600" y="1297214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1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4" name="Abgerundetes Rechteck 13"/>
          <p:cNvSpPr/>
          <p:nvPr/>
        </p:nvSpPr>
        <p:spPr>
          <a:xfrm>
            <a:off x="2123728" y="1615218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</a:t>
            </a:r>
            <a:r>
              <a:rPr lang="de-DE" sz="1600" dirty="0">
                <a:latin typeface="Tele-GroteskNor" pitchFamily="2" charset="0"/>
              </a:rPr>
              <a:t>2</a:t>
            </a:r>
          </a:p>
        </p:txBody>
      </p:sp>
      <p:sp>
        <p:nvSpPr>
          <p:cNvPr id="15" name="Abgerundetes Rechteck 14"/>
          <p:cNvSpPr/>
          <p:nvPr/>
        </p:nvSpPr>
        <p:spPr>
          <a:xfrm>
            <a:off x="3347864" y="1324859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</a:t>
            </a:r>
            <a:r>
              <a:rPr lang="de-DE" sz="1600" dirty="0">
                <a:latin typeface="Tele-GroteskNor" pitchFamily="2" charset="0"/>
              </a:rPr>
              <a:t>3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4860032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22" name="Gekrümmte Verbindung 21"/>
          <p:cNvCxnSpPr/>
          <p:nvPr/>
        </p:nvCxnSpPr>
        <p:spPr>
          <a:xfrm rot="16200000" flipH="1">
            <a:off x="803714" y="2144990"/>
            <a:ext cx="3972176" cy="3204356"/>
          </a:xfrm>
          <a:prstGeom prst="bentConnector3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krümmte Verbindung 21"/>
          <p:cNvCxnSpPr>
            <a:endCxn id="11" idx="3"/>
          </p:cNvCxnSpPr>
          <p:nvPr/>
        </p:nvCxnSpPr>
        <p:spPr>
          <a:xfrm rot="5400000" flipH="1" flipV="1">
            <a:off x="4590002" y="4311098"/>
            <a:ext cx="1548172" cy="1296144"/>
          </a:xfrm>
          <a:prstGeom prst="bentConnector3">
            <a:avLst>
              <a:gd name="adj1" fmla="val 79818"/>
            </a:avLst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krümmte Verbindung 21"/>
          <p:cNvCxnSpPr>
            <a:stCxn id="11" idx="2"/>
            <a:endCxn id="13" idx="2"/>
          </p:cNvCxnSpPr>
          <p:nvPr/>
        </p:nvCxnSpPr>
        <p:spPr>
          <a:xfrm rot="10800000">
            <a:off x="1439652" y="1761080"/>
            <a:ext cx="3780420" cy="1883944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krümmte Verbindung 21"/>
          <p:cNvCxnSpPr>
            <a:stCxn id="11" idx="2"/>
            <a:endCxn id="14" idx="2"/>
          </p:cNvCxnSpPr>
          <p:nvPr/>
        </p:nvCxnSpPr>
        <p:spPr>
          <a:xfrm rot="10800000">
            <a:off x="2591780" y="2079084"/>
            <a:ext cx="2628292" cy="1565940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krümmte Verbindung 21"/>
          <p:cNvCxnSpPr>
            <a:stCxn id="11" idx="2"/>
            <a:endCxn id="15" idx="2"/>
          </p:cNvCxnSpPr>
          <p:nvPr/>
        </p:nvCxnSpPr>
        <p:spPr>
          <a:xfrm rot="10800000">
            <a:off x="3815916" y="1788726"/>
            <a:ext cx="1404156" cy="1856299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/>
          <p:cNvSpPr txBox="1"/>
          <p:nvPr/>
        </p:nvSpPr>
        <p:spPr>
          <a:xfrm>
            <a:off x="1871699" y="341970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00B050"/>
                </a:solidFill>
                <a:latin typeface="Tele-GroteskNor" pitchFamily="2" charset="0"/>
              </a:rPr>
              <a:t>Verarbeitung</a:t>
            </a:r>
            <a:endParaRPr lang="de-DE" dirty="0">
              <a:solidFill>
                <a:srgbClr val="00B050"/>
              </a:solidFill>
              <a:latin typeface="Tele-GroteskNor" pitchFamily="2" charset="0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2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283968" y="4725144"/>
            <a:ext cx="576064" cy="10081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grpSp>
        <p:nvGrpSpPr>
          <p:cNvPr id="19" name="Gruppieren 18"/>
          <p:cNvGrpSpPr/>
          <p:nvPr/>
        </p:nvGrpSpPr>
        <p:grpSpPr>
          <a:xfrm>
            <a:off x="4788025" y="692696"/>
            <a:ext cx="3960439" cy="1872208"/>
            <a:chOff x="395536" y="620688"/>
            <a:chExt cx="4464496" cy="1872208"/>
          </a:xfrm>
        </p:grpSpPr>
        <p:sp>
          <p:nvSpPr>
            <p:cNvPr id="6" name="Rechteck 5"/>
            <p:cNvSpPr/>
            <p:nvPr/>
          </p:nvSpPr>
          <p:spPr>
            <a:xfrm>
              <a:off x="395536" y="620688"/>
              <a:ext cx="4464496" cy="1872208"/>
            </a:xfrm>
            <a:prstGeom prst="rect">
              <a:avLst/>
            </a:prstGeom>
            <a:ln w="25400">
              <a:solidFill>
                <a:schemeClr val="accent2"/>
              </a:solidFill>
              <a:prstDash val="sysDot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de-DE" dirty="0" smtClean="0">
                  <a:solidFill>
                    <a:schemeClr val="accent2"/>
                  </a:solidFill>
                  <a:latin typeface="Tele-GroteskNor" pitchFamily="2" charset="0"/>
                </a:rPr>
                <a:t>Client-Seite</a:t>
              </a:r>
              <a:endParaRPr lang="de-DE" dirty="0">
                <a:solidFill>
                  <a:schemeClr val="accent2"/>
                </a:solidFill>
                <a:latin typeface="Tele-GroteskNor" pitchFamily="2" charset="0"/>
              </a:endParaRPr>
            </a:p>
          </p:txBody>
        </p:sp>
        <p:sp>
          <p:nvSpPr>
            <p:cNvPr id="8" name="Ellipse 7"/>
            <p:cNvSpPr/>
            <p:nvPr/>
          </p:nvSpPr>
          <p:spPr>
            <a:xfrm>
              <a:off x="611560" y="908720"/>
              <a:ext cx="3960440" cy="129614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lang="de-DE" dirty="0" smtClean="0">
                  <a:solidFill>
                    <a:schemeClr val="bg1">
                      <a:lumMod val="95000"/>
                    </a:schemeClr>
                  </a:solidFill>
                  <a:latin typeface="Tele-GroteskNor" pitchFamily="2" charset="0"/>
                </a:rPr>
                <a:t>Sitzung X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endParaRPr>
            </a:p>
          </p:txBody>
        </p:sp>
        <p:sp>
          <p:nvSpPr>
            <p:cNvPr id="13" name="Abgerundetes Rechteck 12"/>
            <p:cNvSpPr/>
            <p:nvPr/>
          </p:nvSpPr>
          <p:spPr>
            <a:xfrm>
              <a:off x="882572" y="1297214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1</a:t>
              </a:r>
            </a:p>
          </p:txBody>
        </p:sp>
        <p:sp>
          <p:nvSpPr>
            <p:cNvPr id="14" name="Abgerundetes Rechteck 13"/>
            <p:cNvSpPr/>
            <p:nvPr/>
          </p:nvSpPr>
          <p:spPr>
            <a:xfrm>
              <a:off x="2059575" y="1582080"/>
              <a:ext cx="1136417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2</a:t>
              </a:r>
            </a:p>
          </p:txBody>
        </p:sp>
        <p:sp>
          <p:nvSpPr>
            <p:cNvPr id="15" name="Abgerundetes Rechteck 14"/>
            <p:cNvSpPr/>
            <p:nvPr/>
          </p:nvSpPr>
          <p:spPr>
            <a:xfrm>
              <a:off x="3236578" y="1324859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3</a:t>
              </a:r>
            </a:p>
          </p:txBody>
        </p:sp>
      </p:grpSp>
      <p:sp>
        <p:nvSpPr>
          <p:cNvPr id="16" name="Textfeld 15"/>
          <p:cNvSpPr txBox="1"/>
          <p:nvPr/>
        </p:nvSpPr>
        <p:spPr>
          <a:xfrm>
            <a:off x="4860032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37" name="Gekrümmte Verbindung 21"/>
          <p:cNvCxnSpPr>
            <a:endCxn id="11" idx="3"/>
          </p:cNvCxnSpPr>
          <p:nvPr/>
        </p:nvCxnSpPr>
        <p:spPr>
          <a:xfrm rot="5400000" flipH="1" flipV="1">
            <a:off x="4590002" y="4311098"/>
            <a:ext cx="1548172" cy="1296144"/>
          </a:xfrm>
          <a:prstGeom prst="bentConnector3">
            <a:avLst>
              <a:gd name="adj1" fmla="val 79818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krümmte Verbindung 21"/>
          <p:cNvCxnSpPr>
            <a:stCxn id="11" idx="1"/>
            <a:endCxn id="13" idx="2"/>
          </p:cNvCxnSpPr>
          <p:nvPr/>
        </p:nvCxnSpPr>
        <p:spPr>
          <a:xfrm flipH="1" flipV="1">
            <a:off x="5724129" y="1833088"/>
            <a:ext cx="288031" cy="1271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krümmte Verbindung 21"/>
          <p:cNvCxnSpPr>
            <a:stCxn id="11" idx="1"/>
            <a:endCxn id="14" idx="2"/>
          </p:cNvCxnSpPr>
          <p:nvPr/>
        </p:nvCxnSpPr>
        <p:spPr>
          <a:xfrm flipV="1">
            <a:off x="6012160" y="2117954"/>
            <a:ext cx="756084" cy="98701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krümmte Verbindung 21"/>
          <p:cNvCxnSpPr>
            <a:stCxn id="11" idx="1"/>
            <a:endCxn id="15" idx="2"/>
          </p:cNvCxnSpPr>
          <p:nvPr/>
        </p:nvCxnSpPr>
        <p:spPr>
          <a:xfrm flipV="1">
            <a:off x="6012160" y="1860733"/>
            <a:ext cx="1800200" cy="12442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>
          <a:xfrm>
            <a:off x="418218" y="692171"/>
            <a:ext cx="3960439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Zu entwickelnde Anwendung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641790" y="1833088"/>
            <a:ext cx="3513293" cy="50220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Script (PHP)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31" name="Abgerundetes Rechteck 30"/>
          <p:cNvSpPr/>
          <p:nvPr/>
        </p:nvSpPr>
        <p:spPr>
          <a:xfrm>
            <a:off x="641790" y="1123011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Nutzer A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4" name="Abgerundetes Rechteck 33"/>
          <p:cNvSpPr/>
          <p:nvPr/>
        </p:nvSpPr>
        <p:spPr>
          <a:xfrm>
            <a:off x="1905552" y="980728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Nutzer B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5" name="Abgerundetes Rechteck 34"/>
          <p:cNvSpPr/>
          <p:nvPr/>
        </p:nvSpPr>
        <p:spPr>
          <a:xfrm>
            <a:off x="3169314" y="1100538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Nutzer C</a:t>
            </a:r>
            <a:endParaRPr lang="de-DE" sz="1600" dirty="0">
              <a:latin typeface="Tele-GroteskNor" pitchFamily="2" charset="0"/>
            </a:endParaRPr>
          </a:p>
        </p:txBody>
      </p:sp>
      <p:cxnSp>
        <p:nvCxnSpPr>
          <p:cNvPr id="39" name="Gekrümmte Verbindung 21"/>
          <p:cNvCxnSpPr/>
          <p:nvPr/>
        </p:nvCxnSpPr>
        <p:spPr>
          <a:xfrm rot="16200000" flipH="1">
            <a:off x="1594882" y="2936152"/>
            <a:ext cx="3397955" cy="2196246"/>
          </a:xfrm>
          <a:prstGeom prst="bentConnector3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krümmte Verbindung 21"/>
          <p:cNvCxnSpPr>
            <a:stCxn id="31" idx="2"/>
            <a:endCxn id="30" idx="1"/>
          </p:cNvCxnSpPr>
          <p:nvPr/>
        </p:nvCxnSpPr>
        <p:spPr>
          <a:xfrm>
            <a:off x="1134675" y="1586877"/>
            <a:ext cx="21625" cy="319758"/>
          </a:xfrm>
          <a:prstGeom prst="straightConnector1">
            <a:avLst/>
          </a:prstGeom>
          <a:ln w="254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krümmte Verbindung 21"/>
          <p:cNvCxnSpPr>
            <a:stCxn id="34" idx="2"/>
            <a:endCxn id="30" idx="0"/>
          </p:cNvCxnSpPr>
          <p:nvPr/>
        </p:nvCxnSpPr>
        <p:spPr>
          <a:xfrm>
            <a:off x="2398437" y="1444594"/>
            <a:ext cx="0" cy="388494"/>
          </a:xfrm>
          <a:prstGeom prst="straightConnector1">
            <a:avLst/>
          </a:prstGeom>
          <a:ln w="254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krümmte Verbindung 21"/>
          <p:cNvCxnSpPr>
            <a:stCxn id="35" idx="2"/>
            <a:endCxn id="30" idx="7"/>
          </p:cNvCxnSpPr>
          <p:nvPr/>
        </p:nvCxnSpPr>
        <p:spPr>
          <a:xfrm flipH="1">
            <a:off x="3640573" y="1564404"/>
            <a:ext cx="21626" cy="342231"/>
          </a:xfrm>
          <a:prstGeom prst="straightConnector1">
            <a:avLst/>
          </a:prstGeom>
          <a:ln w="254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krümmte Verbindung 21"/>
          <p:cNvCxnSpPr>
            <a:stCxn id="11" idx="2"/>
            <a:endCxn id="30" idx="4"/>
          </p:cNvCxnSpPr>
          <p:nvPr/>
        </p:nvCxnSpPr>
        <p:spPr>
          <a:xfrm rot="10800000">
            <a:off x="2398438" y="2335298"/>
            <a:ext cx="2821635" cy="1309727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30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3779912" y="3398129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grpSp>
        <p:nvGrpSpPr>
          <p:cNvPr id="79" name="Gruppieren 78"/>
          <p:cNvGrpSpPr/>
          <p:nvPr/>
        </p:nvGrpSpPr>
        <p:grpSpPr>
          <a:xfrm>
            <a:off x="5652120" y="2780928"/>
            <a:ext cx="1872208" cy="1815882"/>
            <a:chOff x="6876256" y="2780928"/>
            <a:chExt cx="1872208" cy="1815882"/>
          </a:xfrm>
        </p:grpSpPr>
        <p:sp>
          <p:nvSpPr>
            <p:cNvPr id="17" name="Textfeld 16"/>
            <p:cNvSpPr txBox="1"/>
            <p:nvPr/>
          </p:nvSpPr>
          <p:spPr>
            <a:xfrm>
              <a:off x="7020272" y="2780928"/>
              <a:ext cx="1728192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u="sng" dirty="0" smtClean="0">
                  <a:latin typeface="Tele-GroteskNor" pitchFamily="2" charset="0"/>
                </a:rPr>
                <a:t>Informationen:</a:t>
              </a:r>
              <a:r>
                <a:rPr lang="de-DE" sz="1400" dirty="0" smtClean="0">
                  <a:latin typeface="Tele-GroteskNor" pitchFamily="2" charset="0"/>
                </a:rPr>
                <a:t/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Sitzungen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Benutzer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Chatnachrichten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Präsentationsfolien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Mauszeiger (Cursor)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Umfragen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…</a:t>
              </a:r>
              <a:endParaRPr lang="de-DE" sz="1400" dirty="0">
                <a:latin typeface="Tele-GroteskNor" pitchFamily="2" charset="0"/>
              </a:endParaRPr>
            </a:p>
          </p:txBody>
        </p:sp>
        <p:sp>
          <p:nvSpPr>
            <p:cNvPr id="18" name="Geschweifte Klammer links 17"/>
            <p:cNvSpPr/>
            <p:nvPr/>
          </p:nvSpPr>
          <p:spPr>
            <a:xfrm>
              <a:off x="6876256" y="2780928"/>
              <a:ext cx="288032" cy="1728192"/>
            </a:xfrm>
            <a:prstGeom prst="leftBrace">
              <a:avLst>
                <a:gd name="adj1" fmla="val 8333"/>
                <a:gd name="adj2" fmla="val 1686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B050"/>
                </a:solidFill>
                <a:latin typeface="Tele-GroteskNor" pitchFamily="2" charset="0"/>
              </a:endParaRPr>
            </a:p>
          </p:txBody>
        </p:sp>
      </p:grpSp>
      <p:sp>
        <p:nvSpPr>
          <p:cNvPr id="29" name="Rechteck 28"/>
          <p:cNvSpPr/>
          <p:nvPr/>
        </p:nvSpPr>
        <p:spPr>
          <a:xfrm>
            <a:off x="418218" y="692171"/>
            <a:ext cx="3960439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Vereinfachter Client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grpSp>
        <p:nvGrpSpPr>
          <p:cNvPr id="32" name="Gruppieren 31"/>
          <p:cNvGrpSpPr/>
          <p:nvPr/>
        </p:nvGrpSpPr>
        <p:grpSpPr>
          <a:xfrm>
            <a:off x="641790" y="692696"/>
            <a:ext cx="8074735" cy="1872208"/>
            <a:chOff x="-4242399" y="836712"/>
            <a:chExt cx="9102431" cy="1872208"/>
          </a:xfrm>
        </p:grpSpPr>
        <p:sp>
          <p:nvSpPr>
            <p:cNvPr id="33" name="Rechteck 32"/>
            <p:cNvSpPr/>
            <p:nvPr/>
          </p:nvSpPr>
          <p:spPr>
            <a:xfrm>
              <a:off x="395536" y="836712"/>
              <a:ext cx="4464496" cy="1872208"/>
            </a:xfrm>
            <a:prstGeom prst="rect">
              <a:avLst/>
            </a:prstGeom>
            <a:ln w="25400">
              <a:solidFill>
                <a:schemeClr val="accent2"/>
              </a:solidFill>
              <a:prstDash val="sysDot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de-DE" dirty="0" smtClean="0">
                  <a:solidFill>
                    <a:schemeClr val="accent2"/>
                  </a:solidFill>
                  <a:latin typeface="Tele-GroteskNor" pitchFamily="2" charset="0"/>
                </a:rPr>
                <a:t>Client-Seite</a:t>
              </a:r>
              <a:endParaRPr lang="de-DE" dirty="0">
                <a:solidFill>
                  <a:schemeClr val="accent2"/>
                </a:solidFill>
                <a:latin typeface="Tele-GroteskNor" pitchFamily="2" charset="0"/>
              </a:endParaRPr>
            </a:p>
          </p:txBody>
        </p:sp>
        <p:sp>
          <p:nvSpPr>
            <p:cNvPr id="36" name="Ellipse 35"/>
            <p:cNvSpPr/>
            <p:nvPr/>
          </p:nvSpPr>
          <p:spPr>
            <a:xfrm>
              <a:off x="-4242399" y="1125269"/>
              <a:ext cx="8814399" cy="129614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lang="de-DE" dirty="0" smtClean="0">
                  <a:solidFill>
                    <a:schemeClr val="bg1">
                      <a:lumMod val="95000"/>
                    </a:schemeClr>
                  </a:solidFill>
                  <a:latin typeface="Tele-GroteskNor" pitchFamily="2" charset="0"/>
                </a:rPr>
                <a:t>Sitzung X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endParaRPr>
            </a:p>
          </p:txBody>
        </p:sp>
        <p:sp>
          <p:nvSpPr>
            <p:cNvPr id="38" name="Abgerundetes Rechteck 37"/>
            <p:cNvSpPr/>
            <p:nvPr/>
          </p:nvSpPr>
          <p:spPr>
            <a:xfrm>
              <a:off x="837402" y="1236942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1</a:t>
              </a:r>
            </a:p>
          </p:txBody>
        </p:sp>
        <p:sp>
          <p:nvSpPr>
            <p:cNvPr id="41" name="Abgerundetes Rechteck 40"/>
            <p:cNvSpPr/>
            <p:nvPr/>
          </p:nvSpPr>
          <p:spPr>
            <a:xfrm>
              <a:off x="1477690" y="1772291"/>
              <a:ext cx="1136417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2</a:t>
              </a:r>
            </a:p>
          </p:txBody>
        </p:sp>
        <p:sp>
          <p:nvSpPr>
            <p:cNvPr id="43" name="Abgerundetes Rechteck 42"/>
            <p:cNvSpPr/>
            <p:nvPr/>
          </p:nvSpPr>
          <p:spPr>
            <a:xfrm>
              <a:off x="2785548" y="1541408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3</a:t>
              </a:r>
            </a:p>
          </p:txBody>
        </p:sp>
      </p:grpSp>
      <p:cxnSp>
        <p:nvCxnSpPr>
          <p:cNvPr id="40" name="Gekrümmte Verbindung 21"/>
          <p:cNvCxnSpPr>
            <a:stCxn id="11" idx="1"/>
            <a:endCxn id="38" idx="1"/>
          </p:cNvCxnSpPr>
          <p:nvPr/>
        </p:nvCxnSpPr>
        <p:spPr>
          <a:xfrm rot="5400000" flipH="1" flipV="1">
            <a:off x="3823397" y="2073462"/>
            <a:ext cx="2073270" cy="576064"/>
          </a:xfrm>
          <a:prstGeom prst="curved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krümmte Verbindung 21"/>
          <p:cNvCxnSpPr>
            <a:stCxn id="11" idx="1"/>
            <a:endCxn id="43" idx="2"/>
          </p:cNvCxnSpPr>
          <p:nvPr/>
        </p:nvCxnSpPr>
        <p:spPr>
          <a:xfrm rot="5400000" flipH="1" flipV="1">
            <a:off x="5207721" y="1225538"/>
            <a:ext cx="1536871" cy="280831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krümmte Verbindung 21"/>
          <p:cNvCxnSpPr>
            <a:stCxn id="11" idx="1"/>
            <a:endCxn id="41" idx="1"/>
          </p:cNvCxnSpPr>
          <p:nvPr/>
        </p:nvCxnSpPr>
        <p:spPr>
          <a:xfrm rot="5400000" flipH="1" flipV="1">
            <a:off x="4375070" y="2057139"/>
            <a:ext cx="1537921" cy="1144061"/>
          </a:xfrm>
          <a:prstGeom prst="curved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feil nach oben und unten 44"/>
          <p:cNvSpPr/>
          <p:nvPr/>
        </p:nvSpPr>
        <p:spPr>
          <a:xfrm>
            <a:off x="4391980" y="4797152"/>
            <a:ext cx="360040" cy="86409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46" name="Textfeld 45"/>
          <p:cNvSpPr txBox="1"/>
          <p:nvPr/>
        </p:nvSpPr>
        <p:spPr>
          <a:xfrm>
            <a:off x="4752026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80" name="Geschweifte Klammer links 79"/>
          <p:cNvSpPr/>
          <p:nvPr/>
        </p:nvSpPr>
        <p:spPr>
          <a:xfrm>
            <a:off x="3203848" y="2780928"/>
            <a:ext cx="288032" cy="1169551"/>
          </a:xfrm>
          <a:prstGeom prst="leftBrace">
            <a:avLst>
              <a:gd name="adj1" fmla="val 8333"/>
              <a:gd name="adj2" fmla="val 16864"/>
            </a:avLst>
          </a:prstGeom>
          <a:noFill/>
          <a:ln w="19050">
            <a:solidFill>
              <a:srgbClr val="00B050"/>
            </a:solidFill>
          </a:ln>
          <a:scene3d>
            <a:camera prst="orthographicFront">
              <a:rot lat="0" lon="10799999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B050"/>
              </a:solidFill>
              <a:latin typeface="Tele-GroteskNor" pitchFamily="2" charset="0"/>
            </a:endParaRPr>
          </a:p>
        </p:txBody>
      </p:sp>
      <p:sp>
        <p:nvSpPr>
          <p:cNvPr id="81" name="Textfeld 80"/>
          <p:cNvSpPr txBox="1"/>
          <p:nvPr/>
        </p:nvSpPr>
        <p:spPr>
          <a:xfrm>
            <a:off x="1763688" y="2780928"/>
            <a:ext cx="17281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31" name="Abgerundetes Rechteck 30"/>
          <p:cNvSpPr/>
          <p:nvPr/>
        </p:nvSpPr>
        <p:spPr>
          <a:xfrm>
            <a:off x="1137959" y="1397393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4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4" name="Abgerundetes Rechteck 33"/>
          <p:cNvSpPr/>
          <p:nvPr/>
        </p:nvSpPr>
        <p:spPr>
          <a:xfrm>
            <a:off x="2267744" y="1629326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5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5" name="Abgerundetes Rechteck 34"/>
          <p:cNvSpPr/>
          <p:nvPr/>
        </p:nvSpPr>
        <p:spPr>
          <a:xfrm>
            <a:off x="2938159" y="1092926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6</a:t>
            </a:r>
            <a:endParaRPr lang="de-DE" sz="1600" dirty="0">
              <a:latin typeface="Tele-GroteskNor" pitchFamily="2" charset="0"/>
            </a:endParaRPr>
          </a:p>
        </p:txBody>
      </p:sp>
      <p:cxnSp>
        <p:nvCxnSpPr>
          <p:cNvPr id="93" name="Gekrümmte Verbindung 21"/>
          <p:cNvCxnSpPr>
            <a:stCxn id="11" idx="1"/>
            <a:endCxn id="35" idx="3"/>
          </p:cNvCxnSpPr>
          <p:nvPr/>
        </p:nvCxnSpPr>
        <p:spPr>
          <a:xfrm rot="16200000" flipV="1">
            <a:off x="3211329" y="2037458"/>
            <a:ext cx="2073270" cy="648072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krümmte Verbindung 21"/>
          <p:cNvCxnSpPr>
            <a:endCxn id="34" idx="3"/>
          </p:cNvCxnSpPr>
          <p:nvPr/>
        </p:nvCxnSpPr>
        <p:spPr>
          <a:xfrm rot="16200000" flipV="1">
            <a:off x="3160536" y="1954236"/>
            <a:ext cx="1504444" cy="1318489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krümmte Verbindung 21"/>
          <p:cNvCxnSpPr>
            <a:stCxn id="11" idx="1"/>
            <a:endCxn id="31" idx="2"/>
          </p:cNvCxnSpPr>
          <p:nvPr/>
        </p:nvCxnSpPr>
        <p:spPr>
          <a:xfrm rot="16200000" flipV="1">
            <a:off x="2332987" y="1159116"/>
            <a:ext cx="1536870" cy="2941156"/>
          </a:xfrm>
          <a:prstGeom prst="curved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 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1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/>
        </p:nvGrpSpPr>
        <p:grpSpPr>
          <a:xfrm>
            <a:off x="3673139" y="1971050"/>
            <a:ext cx="1330909" cy="1385942"/>
            <a:chOff x="6660232" y="2326324"/>
            <a:chExt cx="1330909" cy="1385942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0232" y="2492896"/>
              <a:ext cx="1219370" cy="121937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1030" name="Picture 6" descr="Datei:Bbb logo.png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077"/>
            <a:stretch/>
          </p:blipFill>
          <p:spPr bwMode="auto">
            <a:xfrm>
              <a:off x="7497317" y="2326324"/>
              <a:ext cx="493824" cy="484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" name="Gruppieren 47"/>
          <p:cNvGrpSpPr/>
          <p:nvPr/>
        </p:nvGrpSpPr>
        <p:grpSpPr>
          <a:xfrm>
            <a:off x="6156176" y="2708920"/>
            <a:ext cx="918102" cy="564982"/>
            <a:chOff x="1221878" y="3128690"/>
            <a:chExt cx="918102" cy="564982"/>
          </a:xfrm>
        </p:grpSpPr>
        <p:sp>
          <p:nvSpPr>
            <p:cNvPr id="47" name="Rechteck 46"/>
            <p:cNvSpPr/>
            <p:nvPr/>
          </p:nvSpPr>
          <p:spPr>
            <a:xfrm>
              <a:off x="1221878" y="3128690"/>
              <a:ext cx="918102" cy="161673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Raum 1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hteck 50"/>
            <p:cNvSpPr/>
            <p:nvPr/>
          </p:nvSpPr>
          <p:spPr>
            <a:xfrm>
              <a:off x="1221878" y="3333281"/>
              <a:ext cx="918102" cy="161673"/>
            </a:xfrm>
            <a:prstGeom prst="rect">
              <a:avLst/>
            </a:prstGeom>
            <a:solidFill>
              <a:srgbClr val="FF7C8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Raum 2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hteck 51"/>
            <p:cNvSpPr/>
            <p:nvPr/>
          </p:nvSpPr>
          <p:spPr>
            <a:xfrm>
              <a:off x="1221878" y="3531999"/>
              <a:ext cx="918102" cy="16167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Raum </a:t>
              </a:r>
              <a:r>
                <a:rPr lang="de-DE" sz="1400" dirty="0" smtClean="0">
                  <a:solidFill>
                    <a:sysClr val="windowText" lastClr="000000"/>
                  </a:solidFill>
                </a:rPr>
                <a:t>3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026" name="Gruppieren 1025"/>
          <p:cNvGrpSpPr/>
          <p:nvPr/>
        </p:nvGrpSpPr>
        <p:grpSpPr>
          <a:xfrm>
            <a:off x="177813" y="148190"/>
            <a:ext cx="2346810" cy="1408602"/>
            <a:chOff x="177813" y="220198"/>
            <a:chExt cx="2346810" cy="1408602"/>
          </a:xfrm>
        </p:grpSpPr>
        <p:sp>
          <p:nvSpPr>
            <p:cNvPr id="38" name="Rechteck 37"/>
            <p:cNvSpPr/>
            <p:nvPr/>
          </p:nvSpPr>
          <p:spPr>
            <a:xfrm>
              <a:off x="177813" y="220198"/>
              <a:ext cx="2346810" cy="1408602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025" name="Gruppieren 1024"/>
            <p:cNvGrpSpPr/>
            <p:nvPr/>
          </p:nvGrpSpPr>
          <p:grpSpPr>
            <a:xfrm>
              <a:off x="1660624" y="244749"/>
              <a:ext cx="751136" cy="952003"/>
              <a:chOff x="1660624" y="244749"/>
              <a:chExt cx="751136" cy="952003"/>
            </a:xfrm>
          </p:grpSpPr>
          <p:pic>
            <p:nvPicPr>
              <p:cNvPr id="34" name="Grafik 3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26" r="13579"/>
              <a:stretch/>
            </p:blipFill>
            <p:spPr>
              <a:xfrm>
                <a:off x="1907704" y="764704"/>
                <a:ext cx="257050" cy="360040"/>
              </a:xfrm>
              <a:prstGeom prst="rect">
                <a:avLst/>
              </a:prstGeom>
            </p:spPr>
          </p:pic>
          <p:pic>
            <p:nvPicPr>
              <p:cNvPr id="35" name="Grafik 34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236" r="2750" b="19797"/>
              <a:stretch/>
            </p:blipFill>
            <p:spPr>
              <a:xfrm>
                <a:off x="1691680" y="279156"/>
                <a:ext cx="672916" cy="449544"/>
              </a:xfrm>
              <a:prstGeom prst="rect">
                <a:avLst/>
              </a:prstGeom>
            </p:spPr>
          </p:pic>
          <p:sp>
            <p:nvSpPr>
              <p:cNvPr id="39" name="Rechteck 38"/>
              <p:cNvSpPr/>
              <p:nvPr/>
            </p:nvSpPr>
            <p:spPr>
              <a:xfrm>
                <a:off x="1660624" y="244749"/>
                <a:ext cx="751136" cy="95200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" name="Gruppieren 2"/>
            <p:cNvGrpSpPr/>
            <p:nvPr/>
          </p:nvGrpSpPr>
          <p:grpSpPr>
            <a:xfrm>
              <a:off x="1958155" y="1216341"/>
              <a:ext cx="453605" cy="320862"/>
              <a:chOff x="1814139" y="1221303"/>
              <a:chExt cx="3731830" cy="2639745"/>
            </a:xfrm>
          </p:grpSpPr>
          <p:pic>
            <p:nvPicPr>
              <p:cNvPr id="30" name="Grafik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342" b="15506"/>
              <a:stretch/>
            </p:blipFill>
            <p:spPr>
              <a:xfrm>
                <a:off x="1814139" y="1221303"/>
                <a:ext cx="3731830" cy="2639745"/>
              </a:xfrm>
              <a:prstGeom prst="rect">
                <a:avLst/>
              </a:prstGeom>
            </p:spPr>
          </p:pic>
          <p:pic>
            <p:nvPicPr>
              <p:cNvPr id="49" name="Picture 6" descr="Datei:Bbb logo.png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077"/>
              <a:stretch/>
            </p:blipFill>
            <p:spPr bwMode="auto">
              <a:xfrm>
                <a:off x="3048198" y="1862319"/>
                <a:ext cx="1266190" cy="12422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2" name="Gerade Verbindung mit Pfeil 11"/>
            <p:cNvCxnSpPr>
              <a:stCxn id="30" idx="1"/>
            </p:cNvCxnSpPr>
            <p:nvPr/>
          </p:nvCxnSpPr>
          <p:spPr>
            <a:xfrm rot="10800000">
              <a:off x="1834397" y="1216346"/>
              <a:ext cx="123758" cy="160426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/>
            <p:cNvCxnSpPr>
              <a:stCxn id="39" idx="1"/>
            </p:cNvCxnSpPr>
            <p:nvPr/>
          </p:nvCxnSpPr>
          <p:spPr>
            <a:xfrm flipH="1" flipV="1">
              <a:off x="1504085" y="720750"/>
              <a:ext cx="156539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uppieren 62"/>
            <p:cNvGrpSpPr/>
            <p:nvPr/>
          </p:nvGrpSpPr>
          <p:grpSpPr>
            <a:xfrm>
              <a:off x="236029" y="264338"/>
              <a:ext cx="1251794" cy="1292454"/>
              <a:chOff x="236029" y="244749"/>
              <a:chExt cx="1251794" cy="1292454"/>
            </a:xfrm>
          </p:grpSpPr>
          <p:grpSp>
            <p:nvGrpSpPr>
              <p:cNvPr id="61" name="Gruppieren 60"/>
              <p:cNvGrpSpPr/>
              <p:nvPr/>
            </p:nvGrpSpPr>
            <p:grpSpPr>
              <a:xfrm>
                <a:off x="253829" y="279156"/>
                <a:ext cx="1219200" cy="1219200"/>
                <a:chOff x="251520" y="263116"/>
                <a:chExt cx="1219200" cy="1219200"/>
              </a:xfrm>
            </p:grpSpPr>
            <p:pic>
              <p:nvPicPr>
                <p:cNvPr id="23" name="Grafik 22"/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520" y="263116"/>
                  <a:ext cx="1219200" cy="12192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</p:pic>
            <p:pic>
              <p:nvPicPr>
                <p:cNvPr id="40" name="Grafik 39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441080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2" name="Grafik 41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873128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3" name="Grafik 42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32016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5" name="Grafik 44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72911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6" name="Grafik 45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1138062" y="871227"/>
                  <a:ext cx="98472" cy="180020"/>
                </a:xfrm>
                <a:prstGeom prst="rect">
                  <a:avLst/>
                </a:prstGeom>
              </p:spPr>
            </p:pic>
          </p:grpSp>
          <p:sp>
            <p:nvSpPr>
              <p:cNvPr id="62" name="Rechteck 61"/>
              <p:cNvSpPr/>
              <p:nvPr/>
            </p:nvSpPr>
            <p:spPr>
              <a:xfrm>
                <a:off x="236029" y="244749"/>
                <a:ext cx="1251794" cy="12924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68" name="Gruppieren 67"/>
          <p:cNvGrpSpPr/>
          <p:nvPr/>
        </p:nvGrpSpPr>
        <p:grpSpPr>
          <a:xfrm>
            <a:off x="2736635" y="145542"/>
            <a:ext cx="2346810" cy="1408602"/>
            <a:chOff x="177813" y="220198"/>
            <a:chExt cx="2346810" cy="1408602"/>
          </a:xfrm>
        </p:grpSpPr>
        <p:sp>
          <p:nvSpPr>
            <p:cNvPr id="69" name="Rechteck 68"/>
            <p:cNvSpPr/>
            <p:nvPr/>
          </p:nvSpPr>
          <p:spPr>
            <a:xfrm>
              <a:off x="177813" y="220198"/>
              <a:ext cx="2346810" cy="1408602"/>
            </a:xfrm>
            <a:prstGeom prst="rect">
              <a:avLst/>
            </a:prstGeom>
            <a:solidFill>
              <a:srgbClr val="FF7C8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70" name="Gruppieren 69"/>
            <p:cNvGrpSpPr/>
            <p:nvPr/>
          </p:nvGrpSpPr>
          <p:grpSpPr>
            <a:xfrm>
              <a:off x="1660624" y="244749"/>
              <a:ext cx="751136" cy="952003"/>
              <a:chOff x="1660624" y="244749"/>
              <a:chExt cx="751136" cy="952003"/>
            </a:xfrm>
          </p:grpSpPr>
          <p:pic>
            <p:nvPicPr>
              <p:cNvPr id="85" name="Grafik 8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26" r="13579"/>
              <a:stretch/>
            </p:blipFill>
            <p:spPr>
              <a:xfrm>
                <a:off x="1907704" y="764704"/>
                <a:ext cx="257050" cy="360040"/>
              </a:xfrm>
              <a:prstGeom prst="rect">
                <a:avLst/>
              </a:prstGeom>
            </p:spPr>
          </p:pic>
          <p:pic>
            <p:nvPicPr>
              <p:cNvPr id="86" name="Grafik 85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236" r="2750" b="19797"/>
              <a:stretch/>
            </p:blipFill>
            <p:spPr>
              <a:xfrm>
                <a:off x="1691680" y="279156"/>
                <a:ext cx="672916" cy="449544"/>
              </a:xfrm>
              <a:prstGeom prst="rect">
                <a:avLst/>
              </a:prstGeom>
            </p:spPr>
          </p:pic>
          <p:sp>
            <p:nvSpPr>
              <p:cNvPr id="87" name="Rechteck 86"/>
              <p:cNvSpPr/>
              <p:nvPr/>
            </p:nvSpPr>
            <p:spPr>
              <a:xfrm>
                <a:off x="1660624" y="244749"/>
                <a:ext cx="751136" cy="95200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1958155" y="1216341"/>
              <a:ext cx="453605" cy="320862"/>
              <a:chOff x="1814139" y="1221303"/>
              <a:chExt cx="3731830" cy="2639745"/>
            </a:xfrm>
          </p:grpSpPr>
          <p:pic>
            <p:nvPicPr>
              <p:cNvPr id="83" name="Grafik 8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342" b="15506"/>
              <a:stretch/>
            </p:blipFill>
            <p:spPr>
              <a:xfrm>
                <a:off x="1814139" y="1221303"/>
                <a:ext cx="3731830" cy="2639745"/>
              </a:xfrm>
              <a:prstGeom prst="rect">
                <a:avLst/>
              </a:prstGeom>
            </p:spPr>
          </p:pic>
          <p:pic>
            <p:nvPicPr>
              <p:cNvPr id="84" name="Picture 6" descr="Datei:Bbb logo.png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077"/>
              <a:stretch/>
            </p:blipFill>
            <p:spPr bwMode="auto">
              <a:xfrm>
                <a:off x="3048198" y="1862319"/>
                <a:ext cx="1266190" cy="12422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72" name="Gerade Verbindung mit Pfeil 11"/>
            <p:cNvCxnSpPr>
              <a:stCxn id="83" idx="1"/>
            </p:cNvCxnSpPr>
            <p:nvPr/>
          </p:nvCxnSpPr>
          <p:spPr>
            <a:xfrm rot="10800000">
              <a:off x="1834397" y="1216346"/>
              <a:ext cx="123758" cy="160426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/>
            <p:cNvCxnSpPr>
              <a:stCxn id="87" idx="1"/>
            </p:cNvCxnSpPr>
            <p:nvPr/>
          </p:nvCxnSpPr>
          <p:spPr>
            <a:xfrm flipH="1" flipV="1">
              <a:off x="1504085" y="720750"/>
              <a:ext cx="156539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uppieren 73"/>
            <p:cNvGrpSpPr/>
            <p:nvPr/>
          </p:nvGrpSpPr>
          <p:grpSpPr>
            <a:xfrm>
              <a:off x="236029" y="264338"/>
              <a:ext cx="1251794" cy="1292454"/>
              <a:chOff x="236029" y="244749"/>
              <a:chExt cx="1251794" cy="1292454"/>
            </a:xfrm>
          </p:grpSpPr>
          <p:grpSp>
            <p:nvGrpSpPr>
              <p:cNvPr id="75" name="Gruppieren 74"/>
              <p:cNvGrpSpPr/>
              <p:nvPr/>
            </p:nvGrpSpPr>
            <p:grpSpPr>
              <a:xfrm>
                <a:off x="253829" y="279156"/>
                <a:ext cx="1219200" cy="1219200"/>
                <a:chOff x="251520" y="263116"/>
                <a:chExt cx="1219200" cy="1219200"/>
              </a:xfrm>
            </p:grpSpPr>
            <p:pic>
              <p:nvPicPr>
                <p:cNvPr id="77" name="Grafik 76"/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520" y="263116"/>
                  <a:ext cx="1219200" cy="12192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</p:pic>
            <p:pic>
              <p:nvPicPr>
                <p:cNvPr id="78" name="Grafik 77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441080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79" name="Grafik 78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873128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80" name="Grafik 79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32016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81" name="Grafik 80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72911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82" name="Grafik 81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1138062" y="871227"/>
                  <a:ext cx="98472" cy="180020"/>
                </a:xfrm>
                <a:prstGeom prst="rect">
                  <a:avLst/>
                </a:prstGeom>
              </p:spPr>
            </p:pic>
          </p:grpSp>
          <p:sp>
            <p:nvSpPr>
              <p:cNvPr id="76" name="Rechteck 75"/>
              <p:cNvSpPr/>
              <p:nvPr/>
            </p:nvSpPr>
            <p:spPr>
              <a:xfrm>
                <a:off x="236029" y="244749"/>
                <a:ext cx="1251794" cy="12924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1029" name="Gruppieren 1028"/>
          <p:cNvGrpSpPr/>
          <p:nvPr/>
        </p:nvGrpSpPr>
        <p:grpSpPr>
          <a:xfrm>
            <a:off x="5256246" y="145542"/>
            <a:ext cx="3060170" cy="1408602"/>
            <a:chOff x="5256246" y="145542"/>
            <a:chExt cx="3060170" cy="1408602"/>
          </a:xfrm>
        </p:grpSpPr>
        <p:grpSp>
          <p:nvGrpSpPr>
            <p:cNvPr id="88" name="Gruppieren 87"/>
            <p:cNvGrpSpPr/>
            <p:nvPr/>
          </p:nvGrpSpPr>
          <p:grpSpPr>
            <a:xfrm>
              <a:off x="5256246" y="145542"/>
              <a:ext cx="3060170" cy="1408602"/>
              <a:chOff x="177813" y="220198"/>
              <a:chExt cx="3060170" cy="1408602"/>
            </a:xfrm>
          </p:grpSpPr>
          <p:sp>
            <p:nvSpPr>
              <p:cNvPr id="89" name="Rechteck 88"/>
              <p:cNvSpPr/>
              <p:nvPr/>
            </p:nvSpPr>
            <p:spPr>
              <a:xfrm>
                <a:off x="177813" y="220198"/>
                <a:ext cx="3060170" cy="140860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90" name="Gruppieren 89"/>
              <p:cNvGrpSpPr/>
              <p:nvPr/>
            </p:nvGrpSpPr>
            <p:grpSpPr>
              <a:xfrm>
                <a:off x="1660624" y="244749"/>
                <a:ext cx="751136" cy="952003"/>
                <a:chOff x="1660624" y="244749"/>
                <a:chExt cx="751136" cy="952003"/>
              </a:xfrm>
            </p:grpSpPr>
            <p:pic>
              <p:nvPicPr>
                <p:cNvPr id="105" name="Grafik 104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026" r="13579"/>
                <a:stretch/>
              </p:blipFill>
              <p:spPr>
                <a:xfrm>
                  <a:off x="1907704" y="764704"/>
                  <a:ext cx="257050" cy="360040"/>
                </a:xfrm>
                <a:prstGeom prst="rect">
                  <a:avLst/>
                </a:prstGeom>
              </p:spPr>
            </p:pic>
            <p:pic>
              <p:nvPicPr>
                <p:cNvPr id="106" name="Grafik 105"/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5236" r="2750" b="19797"/>
                <a:stretch/>
              </p:blipFill>
              <p:spPr>
                <a:xfrm>
                  <a:off x="1691680" y="279156"/>
                  <a:ext cx="672916" cy="449544"/>
                </a:xfrm>
                <a:prstGeom prst="rect">
                  <a:avLst/>
                </a:prstGeom>
              </p:spPr>
            </p:pic>
            <p:sp>
              <p:nvSpPr>
                <p:cNvPr id="107" name="Rechteck 106"/>
                <p:cNvSpPr/>
                <p:nvPr/>
              </p:nvSpPr>
              <p:spPr>
                <a:xfrm>
                  <a:off x="1660624" y="244749"/>
                  <a:ext cx="751136" cy="952003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91" name="Gruppieren 90"/>
              <p:cNvGrpSpPr/>
              <p:nvPr/>
            </p:nvGrpSpPr>
            <p:grpSpPr>
              <a:xfrm>
                <a:off x="1958155" y="1216341"/>
                <a:ext cx="453605" cy="320862"/>
                <a:chOff x="1814139" y="1221303"/>
                <a:chExt cx="3731830" cy="2639745"/>
              </a:xfrm>
            </p:grpSpPr>
            <p:pic>
              <p:nvPicPr>
                <p:cNvPr id="103" name="Grafik 102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3342" b="15506"/>
                <a:stretch/>
              </p:blipFill>
              <p:spPr>
                <a:xfrm>
                  <a:off x="1814139" y="1221303"/>
                  <a:ext cx="3731830" cy="2639745"/>
                </a:xfrm>
                <a:prstGeom prst="rect">
                  <a:avLst/>
                </a:prstGeom>
              </p:spPr>
            </p:pic>
            <p:pic>
              <p:nvPicPr>
                <p:cNvPr id="104" name="Picture 6" descr="Datei:Bbb logo.png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clrChange>
                    <a:clrFrom>
                      <a:srgbClr val="000000">
                        <a:alpha val="0"/>
                      </a:srgbClr>
                    </a:clrFrom>
                    <a:clrTo>
                      <a:srgbClr val="000000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5077"/>
                <a:stretch/>
              </p:blipFill>
              <p:spPr bwMode="auto">
                <a:xfrm>
                  <a:off x="3048198" y="1862319"/>
                  <a:ext cx="1266190" cy="124220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92" name="Gerade Verbindung mit Pfeil 11"/>
              <p:cNvCxnSpPr>
                <a:stCxn id="103" idx="1"/>
              </p:cNvCxnSpPr>
              <p:nvPr/>
            </p:nvCxnSpPr>
            <p:spPr>
              <a:xfrm rot="10800000">
                <a:off x="1834397" y="1216346"/>
                <a:ext cx="123758" cy="160426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 Verbindung mit Pfeil 92"/>
              <p:cNvCxnSpPr>
                <a:stCxn id="107" idx="1"/>
              </p:cNvCxnSpPr>
              <p:nvPr/>
            </p:nvCxnSpPr>
            <p:spPr>
              <a:xfrm flipH="1" flipV="1">
                <a:off x="1504085" y="720750"/>
                <a:ext cx="156539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Gruppieren 93"/>
              <p:cNvGrpSpPr/>
              <p:nvPr/>
            </p:nvGrpSpPr>
            <p:grpSpPr>
              <a:xfrm>
                <a:off x="236029" y="264338"/>
                <a:ext cx="1251794" cy="1292454"/>
                <a:chOff x="236029" y="244749"/>
                <a:chExt cx="1251794" cy="1292454"/>
              </a:xfrm>
            </p:grpSpPr>
            <p:grpSp>
              <p:nvGrpSpPr>
                <p:cNvPr id="95" name="Gruppieren 94"/>
                <p:cNvGrpSpPr/>
                <p:nvPr/>
              </p:nvGrpSpPr>
              <p:grpSpPr>
                <a:xfrm>
                  <a:off x="253829" y="279156"/>
                  <a:ext cx="1219200" cy="1219200"/>
                  <a:chOff x="251520" y="263116"/>
                  <a:chExt cx="1219200" cy="1219200"/>
                </a:xfrm>
              </p:grpSpPr>
              <p:pic>
                <p:nvPicPr>
                  <p:cNvPr id="97" name="Grafik 96"/>
                  <p:cNvPicPr>
                    <a:picLocks noChangeAspect="1"/>
                  </p:cNvPicPr>
                  <p:nvPr/>
                </p:nvPicPr>
                <p:blipFill>
                  <a:blip r:embed="rId8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1520" y="263116"/>
                    <a:ext cx="1219200" cy="1219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</p:pic>
              <p:pic>
                <p:nvPicPr>
                  <p:cNvPr id="98" name="Grafik 97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441080" y="404664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99" name="Grafik 98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873128" y="404664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100" name="Grafik 99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320162" y="871227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101" name="Grafik 100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729112" y="871227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102" name="Grafik 101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1138062" y="871227"/>
                    <a:ext cx="98472" cy="1800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6" name="Rechteck 95"/>
                <p:cNvSpPr/>
                <p:nvPr/>
              </p:nvSpPr>
              <p:spPr>
                <a:xfrm>
                  <a:off x="236029" y="244749"/>
                  <a:ext cx="1251794" cy="129245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6336" y="300381"/>
              <a:ext cx="691426" cy="691426"/>
            </a:xfrm>
            <a:prstGeom prst="rect">
              <a:avLst/>
            </a:prstGeom>
          </p:spPr>
        </p:pic>
      </p:grpSp>
      <p:cxnSp>
        <p:nvCxnSpPr>
          <p:cNvPr id="109" name="Gerade Verbindung mit Pfeil 11"/>
          <p:cNvCxnSpPr>
            <a:stCxn id="4" idx="2"/>
            <a:endCxn id="103" idx="3"/>
          </p:cNvCxnSpPr>
          <p:nvPr/>
        </p:nvCxnSpPr>
        <p:spPr>
          <a:xfrm rot="5400000">
            <a:off x="7560967" y="921033"/>
            <a:ext cx="310309" cy="4518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"/>
          <p:cNvCxnSpPr/>
          <p:nvPr/>
        </p:nvCxnSpPr>
        <p:spPr>
          <a:xfrm rot="10800000" flipV="1">
            <a:off x="6582519" y="991806"/>
            <a:ext cx="1359535" cy="490329"/>
          </a:xfrm>
          <a:prstGeom prst="bentConnector3">
            <a:avLst>
              <a:gd name="adj1" fmla="val -78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mit Pfeil 1039"/>
          <p:cNvCxnSpPr>
            <a:stCxn id="62" idx="2"/>
            <a:endCxn id="7" idx="1"/>
          </p:cNvCxnSpPr>
          <p:nvPr/>
        </p:nvCxnSpPr>
        <p:spPr>
          <a:xfrm rot="16200000" flipH="1">
            <a:off x="1636271" y="710438"/>
            <a:ext cx="1262523" cy="2811213"/>
          </a:xfrm>
          <a:prstGeom prst="bentConnector2">
            <a:avLst/>
          </a:prstGeom>
          <a:ln>
            <a:solidFill>
              <a:srgbClr val="00B0F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039"/>
          <p:cNvCxnSpPr>
            <a:stCxn id="7" idx="0"/>
            <a:endCxn id="30" idx="2"/>
          </p:cNvCxnSpPr>
          <p:nvPr/>
        </p:nvCxnSpPr>
        <p:spPr>
          <a:xfrm rot="16200000" flipV="1">
            <a:off x="2897678" y="752476"/>
            <a:ext cx="672427" cy="209786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mit Pfeil 1039"/>
          <p:cNvCxnSpPr>
            <a:stCxn id="7" idx="0"/>
            <a:endCxn id="83" idx="2"/>
          </p:cNvCxnSpPr>
          <p:nvPr/>
        </p:nvCxnSpPr>
        <p:spPr>
          <a:xfrm rot="5400000" flipH="1" flipV="1">
            <a:off x="4175765" y="1569607"/>
            <a:ext cx="675075" cy="46095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Gerade Verbindung mit Pfeil 1039"/>
          <p:cNvCxnSpPr>
            <a:stCxn id="76" idx="2"/>
            <a:endCxn id="7" idx="1"/>
          </p:cNvCxnSpPr>
          <p:nvPr/>
        </p:nvCxnSpPr>
        <p:spPr>
          <a:xfrm rot="16200000" flipH="1">
            <a:off x="2914358" y="1988525"/>
            <a:ext cx="1265171" cy="252391"/>
          </a:xfrm>
          <a:prstGeom prst="bentConnector2">
            <a:avLst/>
          </a:prstGeom>
          <a:ln>
            <a:solidFill>
              <a:srgbClr val="00B0F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039"/>
          <p:cNvCxnSpPr>
            <a:endCxn id="7" idx="3"/>
          </p:cNvCxnSpPr>
          <p:nvPr/>
        </p:nvCxnSpPr>
        <p:spPr>
          <a:xfrm rot="5400000">
            <a:off x="4790604" y="1584040"/>
            <a:ext cx="1265173" cy="1061361"/>
          </a:xfrm>
          <a:prstGeom prst="bentConnector2">
            <a:avLst/>
          </a:prstGeom>
          <a:ln>
            <a:solidFill>
              <a:srgbClr val="00B0F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039"/>
          <p:cNvCxnSpPr>
            <a:stCxn id="7" idx="0"/>
            <a:endCxn id="103" idx="2"/>
          </p:cNvCxnSpPr>
          <p:nvPr/>
        </p:nvCxnSpPr>
        <p:spPr>
          <a:xfrm rot="5400000" flipH="1" flipV="1">
            <a:off x="5435570" y="309802"/>
            <a:ext cx="675075" cy="2980567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uppieren 115"/>
          <p:cNvGrpSpPr/>
          <p:nvPr/>
        </p:nvGrpSpPr>
        <p:grpSpPr>
          <a:xfrm>
            <a:off x="6156176" y="1988840"/>
            <a:ext cx="1728192" cy="606654"/>
            <a:chOff x="683568" y="3470418"/>
            <a:chExt cx="1728192" cy="606654"/>
          </a:xfrm>
        </p:grpSpPr>
        <p:cxnSp>
          <p:nvCxnSpPr>
            <p:cNvPr id="111" name="Gerader Verbinder 110"/>
            <p:cNvCxnSpPr/>
            <p:nvPr/>
          </p:nvCxnSpPr>
          <p:spPr>
            <a:xfrm>
              <a:off x="683568" y="4005064"/>
              <a:ext cx="475672" cy="0"/>
            </a:xfrm>
            <a:prstGeom prst="line">
              <a:avLst/>
            </a:prstGeom>
            <a:ln>
              <a:solidFill>
                <a:srgbClr val="66CC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Gerader Verbinder 197"/>
            <p:cNvCxnSpPr/>
            <p:nvPr/>
          </p:nvCxnSpPr>
          <p:spPr>
            <a:xfrm>
              <a:off x="683568" y="3789040"/>
              <a:ext cx="475672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Gerader Verbinder 198"/>
            <p:cNvCxnSpPr/>
            <p:nvPr/>
          </p:nvCxnSpPr>
          <p:spPr>
            <a:xfrm>
              <a:off x="683568" y="3573016"/>
              <a:ext cx="475672" cy="0"/>
            </a:xfrm>
            <a:prstGeom prst="line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Rechteck 200"/>
            <p:cNvSpPr/>
            <p:nvPr/>
          </p:nvSpPr>
          <p:spPr>
            <a:xfrm>
              <a:off x="1084751" y="3470418"/>
              <a:ext cx="995206" cy="17460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BBB Client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2" name="Rechteck 201"/>
            <p:cNvSpPr/>
            <p:nvPr/>
          </p:nvSpPr>
          <p:spPr>
            <a:xfrm>
              <a:off x="1043608" y="3902466"/>
              <a:ext cx="635166" cy="17460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DIAL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3" name="Rechteck 202"/>
            <p:cNvSpPr/>
            <p:nvPr/>
          </p:nvSpPr>
          <p:spPr>
            <a:xfrm>
              <a:off x="1016025" y="3679718"/>
              <a:ext cx="1395735" cy="18133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Audio &amp; Video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80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245171" y="1412777"/>
            <a:ext cx="2037946" cy="5760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Redis</a:t>
            </a:r>
            <a:r>
              <a:rPr lang="de-DE" dirty="0" smtClean="0"/>
              <a:t> </a:t>
            </a:r>
            <a:r>
              <a:rPr lang="de-DE" dirty="0" err="1" smtClean="0"/>
              <a:t>PubSub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2243072" y="2355261"/>
            <a:ext cx="5499072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BBB Kern</a:t>
            </a:r>
            <a:endParaRPr lang="de-DE" dirty="0"/>
          </a:p>
        </p:txBody>
      </p:sp>
      <p:grpSp>
        <p:nvGrpSpPr>
          <p:cNvPr id="15" name="Gruppieren 14"/>
          <p:cNvGrpSpPr/>
          <p:nvPr/>
        </p:nvGrpSpPr>
        <p:grpSpPr>
          <a:xfrm>
            <a:off x="370864" y="332657"/>
            <a:ext cx="1394616" cy="504056"/>
            <a:chOff x="369072" y="548680"/>
            <a:chExt cx="1394616" cy="504056"/>
          </a:xfrm>
        </p:grpSpPr>
        <p:sp>
          <p:nvSpPr>
            <p:cNvPr id="8" name="Rechteck 7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14" name="Grafik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17" name="Gruppieren 16"/>
          <p:cNvGrpSpPr/>
          <p:nvPr/>
        </p:nvGrpSpPr>
        <p:grpSpPr>
          <a:xfrm>
            <a:off x="1837488" y="332657"/>
            <a:ext cx="1394616" cy="504056"/>
            <a:chOff x="369072" y="548680"/>
            <a:chExt cx="1394616" cy="504056"/>
          </a:xfrm>
        </p:grpSpPr>
        <p:sp>
          <p:nvSpPr>
            <p:cNvPr id="18" name="Rechteck 17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19" name="Grafik 1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20" name="Gruppieren 19"/>
          <p:cNvGrpSpPr/>
          <p:nvPr/>
        </p:nvGrpSpPr>
        <p:grpSpPr>
          <a:xfrm>
            <a:off x="3323192" y="332657"/>
            <a:ext cx="1394616" cy="504056"/>
            <a:chOff x="369072" y="548680"/>
            <a:chExt cx="1394616" cy="504056"/>
          </a:xfrm>
        </p:grpSpPr>
        <p:sp>
          <p:nvSpPr>
            <p:cNvPr id="21" name="Rechteck 20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22" name="Grafik 2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23" name="Gruppieren 22"/>
          <p:cNvGrpSpPr/>
          <p:nvPr/>
        </p:nvGrpSpPr>
        <p:grpSpPr>
          <a:xfrm>
            <a:off x="4835360" y="332657"/>
            <a:ext cx="1394616" cy="504056"/>
            <a:chOff x="369072" y="548680"/>
            <a:chExt cx="1394616" cy="504056"/>
          </a:xfrm>
        </p:grpSpPr>
        <p:sp>
          <p:nvSpPr>
            <p:cNvPr id="24" name="Rechteck 23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25" name="Grafik 2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26" name="Gruppieren 25"/>
          <p:cNvGrpSpPr/>
          <p:nvPr/>
        </p:nvGrpSpPr>
        <p:grpSpPr>
          <a:xfrm>
            <a:off x="6347528" y="332657"/>
            <a:ext cx="1394616" cy="504056"/>
            <a:chOff x="369072" y="548680"/>
            <a:chExt cx="1394616" cy="504056"/>
          </a:xfrm>
        </p:grpSpPr>
        <p:sp>
          <p:nvSpPr>
            <p:cNvPr id="27" name="Rechteck 26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28" name="Grafik 2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32" name="Gruppieren 31"/>
          <p:cNvGrpSpPr/>
          <p:nvPr/>
        </p:nvGrpSpPr>
        <p:grpSpPr>
          <a:xfrm>
            <a:off x="6651170" y="1052737"/>
            <a:ext cx="1280534" cy="613568"/>
            <a:chOff x="6702312" y="2167556"/>
            <a:chExt cx="1280534" cy="613568"/>
          </a:xfrm>
        </p:grpSpPr>
        <p:sp>
          <p:nvSpPr>
            <p:cNvPr id="6" name="Rechteck 5"/>
            <p:cNvSpPr/>
            <p:nvPr/>
          </p:nvSpPr>
          <p:spPr>
            <a:xfrm>
              <a:off x="6702312" y="2167556"/>
              <a:ext cx="894024" cy="3973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Dozent</a:t>
              </a:r>
              <a:endParaRPr lang="de-DE" dirty="0"/>
            </a:p>
          </p:txBody>
        </p:sp>
        <p:pic>
          <p:nvPicPr>
            <p:cNvPr id="31" name="Grafik 3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342" b="15506"/>
            <a:stretch/>
          </p:blipFill>
          <p:spPr>
            <a:xfrm>
              <a:off x="7452320" y="2405852"/>
              <a:ext cx="530526" cy="375272"/>
            </a:xfrm>
            <a:prstGeom prst="rect">
              <a:avLst/>
            </a:prstGeom>
          </p:spPr>
        </p:pic>
      </p:grpSp>
      <p:pic>
        <p:nvPicPr>
          <p:cNvPr id="37" name="Grafik 3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2" b="15506"/>
          <a:stretch/>
        </p:blipFill>
        <p:spPr>
          <a:xfrm>
            <a:off x="681371" y="2276873"/>
            <a:ext cx="939833" cy="664799"/>
          </a:xfrm>
          <a:prstGeom prst="rect">
            <a:avLst/>
          </a:prstGeom>
        </p:spPr>
      </p:pic>
      <p:grpSp>
        <p:nvGrpSpPr>
          <p:cNvPr id="36" name="Gruppieren 35"/>
          <p:cNvGrpSpPr/>
          <p:nvPr/>
        </p:nvGrpSpPr>
        <p:grpSpPr>
          <a:xfrm>
            <a:off x="366616" y="1196753"/>
            <a:ext cx="1569344" cy="883841"/>
            <a:chOff x="698400" y="1916832"/>
            <a:chExt cx="1569344" cy="883841"/>
          </a:xfrm>
        </p:grpSpPr>
        <p:pic>
          <p:nvPicPr>
            <p:cNvPr id="16" name="Grafik 15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41" r="13579"/>
            <a:stretch/>
          </p:blipFill>
          <p:spPr>
            <a:xfrm>
              <a:off x="1650842" y="2027578"/>
              <a:ext cx="550984" cy="717612"/>
            </a:xfrm>
            <a:prstGeom prst="rect">
              <a:avLst/>
            </a:prstGeom>
          </p:spPr>
        </p:pic>
        <p:pic>
          <p:nvPicPr>
            <p:cNvPr id="29" name="Grafik 28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36" r="2750" b="19797"/>
            <a:stretch/>
          </p:blipFill>
          <p:spPr>
            <a:xfrm>
              <a:off x="810185" y="1990340"/>
              <a:ext cx="752268" cy="502556"/>
            </a:xfrm>
            <a:prstGeom prst="rect">
              <a:avLst/>
            </a:prstGeom>
          </p:spPr>
        </p:pic>
        <p:sp>
          <p:nvSpPr>
            <p:cNvPr id="34" name="Textfeld 33"/>
            <p:cNvSpPr txBox="1"/>
            <p:nvPr/>
          </p:nvSpPr>
          <p:spPr>
            <a:xfrm>
              <a:off x="698400" y="2492896"/>
              <a:ext cx="97583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400" dirty="0" smtClean="0">
                  <a:solidFill>
                    <a:srgbClr val="0070C0"/>
                  </a:solidFill>
                </a:rPr>
                <a:t>Bild &amp; Ton</a:t>
              </a:r>
              <a:endParaRPr lang="de-DE" sz="1400" dirty="0">
                <a:solidFill>
                  <a:srgbClr val="0070C0"/>
                </a:solidFill>
              </a:endParaRPr>
            </a:p>
          </p:txBody>
        </p:sp>
        <p:sp>
          <p:nvSpPr>
            <p:cNvPr id="35" name="Rechteck 34"/>
            <p:cNvSpPr/>
            <p:nvPr/>
          </p:nvSpPr>
          <p:spPr>
            <a:xfrm>
              <a:off x="698400" y="1916832"/>
              <a:ext cx="1569344" cy="88384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9" name="Gerader Verbinder 38"/>
          <p:cNvCxnSpPr>
            <a:stCxn id="37" idx="0"/>
            <a:endCxn id="35" idx="2"/>
          </p:cNvCxnSpPr>
          <p:nvPr/>
        </p:nvCxnSpPr>
        <p:spPr>
          <a:xfrm flipV="1">
            <a:off x="1151288" y="2080594"/>
            <a:ext cx="0" cy="196279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/>
          <p:cNvCxnSpPr>
            <a:stCxn id="8" idx="0"/>
            <a:endCxn id="35" idx="1"/>
          </p:cNvCxnSpPr>
          <p:nvPr/>
        </p:nvCxnSpPr>
        <p:spPr>
          <a:xfrm rot="16200000" flipH="1" flipV="1">
            <a:off x="89003" y="610269"/>
            <a:ext cx="1306017" cy="750792"/>
          </a:xfrm>
          <a:prstGeom prst="bentConnector4">
            <a:avLst>
              <a:gd name="adj1" fmla="val -17504"/>
              <a:gd name="adj2" fmla="val 130448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/>
          <p:cNvCxnSpPr>
            <a:stCxn id="18" idx="0"/>
            <a:endCxn id="35" idx="1"/>
          </p:cNvCxnSpPr>
          <p:nvPr/>
        </p:nvCxnSpPr>
        <p:spPr>
          <a:xfrm rot="16200000" flipH="1" flipV="1">
            <a:off x="822315" y="-123043"/>
            <a:ext cx="1306017" cy="2217416"/>
          </a:xfrm>
          <a:prstGeom prst="bentConnector4">
            <a:avLst>
              <a:gd name="adj1" fmla="val -17504"/>
              <a:gd name="adj2" fmla="val 110309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/>
          <p:cNvCxnSpPr>
            <a:stCxn id="21" idx="0"/>
            <a:endCxn id="35" idx="1"/>
          </p:cNvCxnSpPr>
          <p:nvPr/>
        </p:nvCxnSpPr>
        <p:spPr>
          <a:xfrm rot="16200000" flipH="1" flipV="1">
            <a:off x="1565167" y="-865895"/>
            <a:ext cx="1306017" cy="3703120"/>
          </a:xfrm>
          <a:prstGeom prst="bentConnector4">
            <a:avLst>
              <a:gd name="adj1" fmla="val -17504"/>
              <a:gd name="adj2" fmla="val 106173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stCxn id="24" idx="0"/>
            <a:endCxn id="35" idx="1"/>
          </p:cNvCxnSpPr>
          <p:nvPr/>
        </p:nvCxnSpPr>
        <p:spPr>
          <a:xfrm rot="16200000" flipH="1" flipV="1">
            <a:off x="2321251" y="-1621979"/>
            <a:ext cx="1306017" cy="5215288"/>
          </a:xfrm>
          <a:prstGeom prst="bentConnector4">
            <a:avLst>
              <a:gd name="adj1" fmla="val -17504"/>
              <a:gd name="adj2" fmla="val 104383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>
            <a:stCxn id="27" idx="0"/>
            <a:endCxn id="35" idx="1"/>
          </p:cNvCxnSpPr>
          <p:nvPr/>
        </p:nvCxnSpPr>
        <p:spPr>
          <a:xfrm rot="16200000" flipH="1" flipV="1">
            <a:off x="3077335" y="-2378063"/>
            <a:ext cx="1306017" cy="6727456"/>
          </a:xfrm>
          <a:prstGeom prst="bentConnector4">
            <a:avLst>
              <a:gd name="adj1" fmla="val -17504"/>
              <a:gd name="adj2" fmla="val 103398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/>
          <p:cNvCxnSpPr>
            <a:endCxn id="31" idx="2"/>
          </p:cNvCxnSpPr>
          <p:nvPr/>
        </p:nvCxnSpPr>
        <p:spPr>
          <a:xfrm flipV="1">
            <a:off x="7666441" y="1666305"/>
            <a:ext cx="0" cy="688956"/>
          </a:xfrm>
          <a:prstGeom prst="straightConnector1">
            <a:avLst/>
          </a:prstGeom>
          <a:ln w="12700"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/>
          <p:cNvCxnSpPr>
            <a:stCxn id="37" idx="3"/>
            <a:endCxn id="5" idx="1"/>
          </p:cNvCxnSpPr>
          <p:nvPr/>
        </p:nvCxnSpPr>
        <p:spPr>
          <a:xfrm flipV="1">
            <a:off x="1621204" y="2607289"/>
            <a:ext cx="621868" cy="1984"/>
          </a:xfrm>
          <a:prstGeom prst="straightConnector1">
            <a:avLst/>
          </a:prstGeom>
          <a:ln w="12700">
            <a:solidFill>
              <a:schemeClr val="accent6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/>
          <p:cNvCxnSpPr>
            <a:stCxn id="4" idx="2"/>
          </p:cNvCxnSpPr>
          <p:nvPr/>
        </p:nvCxnSpPr>
        <p:spPr>
          <a:xfrm>
            <a:off x="3264144" y="1988841"/>
            <a:ext cx="0" cy="366420"/>
          </a:xfrm>
          <a:prstGeom prst="straightConnector1">
            <a:avLst/>
          </a:prstGeom>
          <a:ln w="12700"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/>
          <p:cNvCxnSpPr>
            <a:stCxn id="255" idx="2"/>
            <a:endCxn id="4" idx="0"/>
          </p:cNvCxnSpPr>
          <p:nvPr/>
        </p:nvCxnSpPr>
        <p:spPr>
          <a:xfrm rot="16200000" flipH="1">
            <a:off x="1551849" y="-299518"/>
            <a:ext cx="581000" cy="2843590"/>
          </a:xfrm>
          <a:prstGeom prst="bentConnector3">
            <a:avLst>
              <a:gd name="adj1" fmla="val 32076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/>
          <p:cNvCxnSpPr>
            <a:stCxn id="261" idx="2"/>
            <a:endCxn id="4" idx="0"/>
          </p:cNvCxnSpPr>
          <p:nvPr/>
        </p:nvCxnSpPr>
        <p:spPr>
          <a:xfrm rot="16200000" flipH="1">
            <a:off x="2287214" y="435847"/>
            <a:ext cx="576064" cy="1377796"/>
          </a:xfrm>
          <a:prstGeom prst="bentConnector3">
            <a:avLst>
              <a:gd name="adj1" fmla="val 31261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/>
          <p:cNvCxnSpPr>
            <a:stCxn id="264" idx="2"/>
            <a:endCxn id="4" idx="0"/>
          </p:cNvCxnSpPr>
          <p:nvPr/>
        </p:nvCxnSpPr>
        <p:spPr>
          <a:xfrm rot="5400000">
            <a:off x="3029289" y="1071568"/>
            <a:ext cx="576064" cy="106354"/>
          </a:xfrm>
          <a:prstGeom prst="bentConnector3">
            <a:avLst>
              <a:gd name="adj1" fmla="val 31261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/>
          <p:cNvCxnSpPr>
            <a:stCxn id="270" idx="2"/>
            <a:endCxn id="4" idx="0"/>
          </p:cNvCxnSpPr>
          <p:nvPr/>
        </p:nvCxnSpPr>
        <p:spPr>
          <a:xfrm rot="5400000">
            <a:off x="3782329" y="318529"/>
            <a:ext cx="576064" cy="1612433"/>
          </a:xfrm>
          <a:prstGeom prst="bentConnector3">
            <a:avLst>
              <a:gd name="adj1" fmla="val 31261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/>
          <p:cNvCxnSpPr>
            <a:stCxn id="274" idx="2"/>
            <a:endCxn id="4" idx="0"/>
          </p:cNvCxnSpPr>
          <p:nvPr/>
        </p:nvCxnSpPr>
        <p:spPr>
          <a:xfrm rot="5400000">
            <a:off x="4544441" y="-443584"/>
            <a:ext cx="576064" cy="3136658"/>
          </a:xfrm>
          <a:prstGeom prst="bentConnector3">
            <a:avLst>
              <a:gd name="adj1" fmla="val 31260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hteck 167"/>
          <p:cNvSpPr/>
          <p:nvPr/>
        </p:nvSpPr>
        <p:spPr>
          <a:xfrm>
            <a:off x="4458779" y="1412777"/>
            <a:ext cx="2032869" cy="5760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MongoDB</a:t>
            </a:r>
            <a:endParaRPr lang="de-DE" dirty="0"/>
          </a:p>
        </p:txBody>
      </p:sp>
      <p:cxnSp>
        <p:nvCxnSpPr>
          <p:cNvPr id="179" name="Gerade Verbindung mit Pfeil 178"/>
          <p:cNvCxnSpPr>
            <a:stCxn id="168" idx="1"/>
            <a:endCxn id="4" idx="3"/>
          </p:cNvCxnSpPr>
          <p:nvPr/>
        </p:nvCxnSpPr>
        <p:spPr>
          <a:xfrm flipH="1">
            <a:off x="4283117" y="1700809"/>
            <a:ext cx="175662" cy="0"/>
          </a:xfrm>
          <a:prstGeom prst="straightConnector1">
            <a:avLst/>
          </a:prstGeom>
          <a:ln w="12700">
            <a:solidFill>
              <a:srgbClr val="990099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 Verbindung mit Pfeil 82"/>
          <p:cNvCxnSpPr>
            <a:stCxn id="168" idx="0"/>
            <a:endCxn id="169" idx="2"/>
          </p:cNvCxnSpPr>
          <p:nvPr/>
        </p:nvCxnSpPr>
        <p:spPr>
          <a:xfrm rot="16200000" flipV="1">
            <a:off x="2708673" y="-1353764"/>
            <a:ext cx="576064" cy="4957018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 Verbindung mit Pfeil 82"/>
          <p:cNvCxnSpPr>
            <a:stCxn id="168" idx="0"/>
            <a:endCxn id="243" idx="2"/>
          </p:cNvCxnSpPr>
          <p:nvPr/>
        </p:nvCxnSpPr>
        <p:spPr>
          <a:xfrm rot="16200000" flipV="1">
            <a:off x="3440575" y="-621863"/>
            <a:ext cx="581000" cy="3488279"/>
          </a:xfrm>
          <a:prstGeom prst="bentConnector3">
            <a:avLst>
              <a:gd name="adj1" fmla="val 49672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 Verbindung mit Pfeil 82"/>
          <p:cNvCxnSpPr>
            <a:stCxn id="168" idx="0"/>
            <a:endCxn id="246" idx="2"/>
          </p:cNvCxnSpPr>
          <p:nvPr/>
        </p:nvCxnSpPr>
        <p:spPr>
          <a:xfrm rot="16200000" flipV="1">
            <a:off x="4181521" y="119084"/>
            <a:ext cx="576064" cy="2011322"/>
          </a:xfrm>
          <a:prstGeom prst="bentConnector3">
            <a:avLst>
              <a:gd name="adj1" fmla="val 50221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 Verbindung mit Pfeil 82"/>
          <p:cNvCxnSpPr>
            <a:stCxn id="168" idx="0"/>
            <a:endCxn id="248" idx="2"/>
          </p:cNvCxnSpPr>
          <p:nvPr/>
        </p:nvCxnSpPr>
        <p:spPr>
          <a:xfrm rot="16200000" flipV="1">
            <a:off x="4937605" y="875168"/>
            <a:ext cx="576064" cy="499154"/>
          </a:xfrm>
          <a:prstGeom prst="bentConnector3">
            <a:avLst>
              <a:gd name="adj1" fmla="val 50330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 Verbindung mit Pfeil 82"/>
          <p:cNvCxnSpPr>
            <a:stCxn id="168" idx="0"/>
            <a:endCxn id="251" idx="2"/>
          </p:cNvCxnSpPr>
          <p:nvPr/>
        </p:nvCxnSpPr>
        <p:spPr>
          <a:xfrm rot="5400000" flipH="1" flipV="1">
            <a:off x="5697005" y="614922"/>
            <a:ext cx="576064" cy="1019646"/>
          </a:xfrm>
          <a:prstGeom prst="bentConnector3">
            <a:avLst>
              <a:gd name="adj1" fmla="val 50331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hteck 168"/>
          <p:cNvSpPr/>
          <p:nvPr/>
        </p:nvSpPr>
        <p:spPr>
          <a:xfrm>
            <a:off x="305488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3" name="Rechteck 242"/>
          <p:cNvSpPr/>
          <p:nvPr/>
        </p:nvSpPr>
        <p:spPr>
          <a:xfrm>
            <a:off x="1774227" y="471737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6" name="Rechteck 245"/>
          <p:cNvSpPr/>
          <p:nvPr/>
        </p:nvSpPr>
        <p:spPr>
          <a:xfrm>
            <a:off x="3251184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8" name="Rechteck 247"/>
          <p:cNvSpPr/>
          <p:nvPr/>
        </p:nvSpPr>
        <p:spPr>
          <a:xfrm>
            <a:off x="4763352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1" name="Rechteck 250"/>
          <p:cNvSpPr/>
          <p:nvPr/>
        </p:nvSpPr>
        <p:spPr>
          <a:xfrm>
            <a:off x="6282152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5" name="Rechteck 254"/>
          <p:cNvSpPr/>
          <p:nvPr/>
        </p:nvSpPr>
        <p:spPr>
          <a:xfrm>
            <a:off x="207846" y="471737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1" name="Rechteck 260"/>
          <p:cNvSpPr/>
          <p:nvPr/>
        </p:nvSpPr>
        <p:spPr>
          <a:xfrm>
            <a:off x="1673640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4" name="Rechteck 263"/>
          <p:cNvSpPr/>
          <p:nvPr/>
        </p:nvSpPr>
        <p:spPr>
          <a:xfrm>
            <a:off x="3157790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0" name="Rechteck 269"/>
          <p:cNvSpPr/>
          <p:nvPr/>
        </p:nvSpPr>
        <p:spPr>
          <a:xfrm>
            <a:off x="4663869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4" name="Rechteck 273"/>
          <p:cNvSpPr/>
          <p:nvPr/>
        </p:nvSpPr>
        <p:spPr>
          <a:xfrm>
            <a:off x="6188094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5" name="Textfeld 224"/>
          <p:cNvSpPr txBox="1"/>
          <p:nvPr/>
        </p:nvSpPr>
        <p:spPr>
          <a:xfrm>
            <a:off x="179512" y="2996952"/>
            <a:ext cx="7562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</a:rPr>
              <a:t>Komplette Kommunikation</a:t>
            </a:r>
            <a:r>
              <a:rPr lang="de-DE" dirty="0"/>
              <a:t> </a:t>
            </a:r>
            <a:r>
              <a:rPr lang="de-DE" dirty="0" smtClean="0"/>
              <a:t>		</a:t>
            </a:r>
            <a:r>
              <a:rPr lang="de-DE" dirty="0" smtClean="0">
                <a:solidFill>
                  <a:srgbClr val="990099"/>
                </a:solidFill>
              </a:rPr>
              <a:t>Eventnachrichten 		</a:t>
            </a:r>
            <a:r>
              <a:rPr lang="de-DE" dirty="0" smtClean="0">
                <a:solidFill>
                  <a:srgbClr val="0070C0"/>
                </a:solidFill>
              </a:rPr>
              <a:t>Bild &amp; Ton</a:t>
            </a:r>
          </a:p>
          <a:p>
            <a:r>
              <a:rPr lang="de-DE" dirty="0" smtClean="0">
                <a:solidFill>
                  <a:srgbClr val="E20074"/>
                </a:solidFill>
              </a:rPr>
              <a:t>Informationen schreiben (Chatnachrichten, Umfrageergebnisse)</a:t>
            </a:r>
          </a:p>
          <a:p>
            <a:r>
              <a:rPr lang="de-DE" dirty="0" smtClean="0">
                <a:solidFill>
                  <a:srgbClr val="00B050"/>
                </a:solidFill>
              </a:rPr>
              <a:t>Informationen lesen (Chatnachrichten, Antwortmöglichkeiten bei Umfragen)</a:t>
            </a:r>
            <a:endParaRPr lang="de-D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9479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Bildschirmpräsentation (4:3)</PresentationFormat>
  <Paragraphs>91</Paragraphs>
  <Slides>7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Tele-GroteskNor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Luise Kaufmann</dc:creator>
  <cp:lastModifiedBy>Arbeit</cp:lastModifiedBy>
  <cp:revision>127</cp:revision>
  <dcterms:created xsi:type="dcterms:W3CDTF">2016-07-27T12:07:42Z</dcterms:created>
  <dcterms:modified xsi:type="dcterms:W3CDTF">2017-03-03T10:38:06Z</dcterms:modified>
</cp:coreProperties>
</file>