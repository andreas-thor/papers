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0" r:id="rId2"/>
    <p:sldId id="284" r:id="rId3"/>
    <p:sldId id="285" r:id="rId4"/>
    <p:sldId id="286" r:id="rId5"/>
    <p:sldId id="287" r:id="rId6"/>
    <p:sldId id="282" r:id="rId7"/>
    <p:sldId id="279" r:id="rId8"/>
    <p:sldId id="281" r:id="rId9"/>
    <p:sldId id="274" r:id="rId10"/>
    <p:sldId id="283" r:id="rId11"/>
    <p:sldId id="269" r:id="rId12"/>
  </p:sldIdLst>
  <p:sldSz cx="9144000" cy="6858000" type="screen4x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2007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33" autoAdjust="0"/>
    <p:restoredTop sz="75771" autoAdjust="0"/>
  </p:normalViewPr>
  <p:slideViewPr>
    <p:cSldViewPr snapToGrid="0">
      <p:cViewPr varScale="1">
        <p:scale>
          <a:sx n="92" d="100"/>
          <a:sy n="92" d="100"/>
        </p:scale>
        <p:origin x="1290" y="7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D798601-B567-4418-90E6-6A3C1F1D0B26}" type="datetimeFigureOut">
              <a:rPr lang="de-DE" smtClean="0"/>
              <a:t>30.08.2017</a:t>
            </a:fld>
            <a:endParaRPr lang="de-DE"/>
          </a:p>
        </p:txBody>
      </p:sp>
      <p:sp>
        <p:nvSpPr>
          <p:cNvPr id="4" name="Folienbildplatzhalt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DE"/>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87080C-DF5D-4508-8D57-52E64401F1ED}" type="slidenum">
              <a:rPr lang="de-DE" smtClean="0"/>
              <a:t>‹Nr.›</a:t>
            </a:fld>
            <a:endParaRPr lang="de-DE"/>
          </a:p>
        </p:txBody>
      </p:sp>
    </p:spTree>
    <p:extLst>
      <p:ext uri="{BB962C8B-B14F-4D97-AF65-F5344CB8AC3E}">
        <p14:creationId xmlns:p14="http://schemas.microsoft.com/office/powerpoint/2010/main" val="30018846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8" Type="http://schemas.openxmlformats.org/officeDocument/2006/relationships/hyperlink" Target="https://redis.io/commands/unsubscribe" TargetMode="External"/><Relationship Id="rId3" Type="http://schemas.openxmlformats.org/officeDocument/2006/relationships/hyperlink" Target="https://de.wikipedia.org/wiki/In-Memory-Datenbank" TargetMode="External"/><Relationship Id="rId7" Type="http://schemas.openxmlformats.org/officeDocument/2006/relationships/hyperlink" Target="https://redis.io/commands/subscribe" TargetMode="External"/><Relationship Id="rId2" Type="http://schemas.openxmlformats.org/officeDocument/2006/relationships/slide" Target="../slides/slide8.xml"/><Relationship Id="rId1" Type="http://schemas.openxmlformats.org/officeDocument/2006/relationships/notesMaster" Target="../notesMasters/notesMaster1.xml"/><Relationship Id="rId6" Type="http://schemas.openxmlformats.org/officeDocument/2006/relationships/hyperlink" Target="https://de.wikipedia.org/wiki/Redis#cite_note-DB-Engines-Ranking-von-Key-Value-Stores-3" TargetMode="External"/><Relationship Id="rId5" Type="http://schemas.openxmlformats.org/officeDocument/2006/relationships/hyperlink" Target="https://de.wikipedia.org/wiki/Relationale_Datenbank" TargetMode="External"/><Relationship Id="rId10" Type="http://schemas.openxmlformats.org/officeDocument/2006/relationships/hyperlink" Target="http://en.wikipedia.org/wiki/Publish/subscribe" TargetMode="External"/><Relationship Id="rId4" Type="http://schemas.openxmlformats.org/officeDocument/2006/relationships/hyperlink" Target="https://de.wikipedia.org/wiki/NoSQL" TargetMode="External"/><Relationship Id="rId9" Type="http://schemas.openxmlformats.org/officeDocument/2006/relationships/hyperlink" Target="https://redis.io/commands/publish"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5</a:t>
            </a:fld>
            <a:endParaRPr lang="de-DE"/>
          </a:p>
        </p:txBody>
      </p:sp>
    </p:spTree>
    <p:extLst>
      <p:ext uri="{BB962C8B-B14F-4D97-AF65-F5344CB8AC3E}">
        <p14:creationId xmlns:p14="http://schemas.microsoft.com/office/powerpoint/2010/main" val="4637843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smtClean="0"/>
              <a:t>Trennung von Medien-Daten</a:t>
            </a:r>
            <a:r>
              <a:rPr lang="de-DE" baseline="0" dirty="0" smtClean="0"/>
              <a:t> und Interaktions-Daten</a:t>
            </a:r>
          </a:p>
          <a:p>
            <a:endParaRPr lang="de-DE" dirty="0" smtClean="0"/>
          </a:p>
          <a:p>
            <a:endParaRPr lang="de-DE" dirty="0" smtClean="0"/>
          </a:p>
          <a:p>
            <a:r>
              <a:rPr lang="de-DE" dirty="0" smtClean="0"/>
              <a:t>Das prinzipielle Schema einer Live-Übertragung einer Vorlesung sieht vor, dass sich die </a:t>
            </a:r>
          </a:p>
          <a:p>
            <a:r>
              <a:rPr lang="de-DE" dirty="0" smtClean="0"/>
              <a:t>Teilnehmergruppen in mehreren Räumen verteilt befinden (siehe Abb. 1). </a:t>
            </a:r>
          </a:p>
          <a:p>
            <a:endParaRPr lang="de-DE" dirty="0" smtClean="0"/>
          </a:p>
          <a:p>
            <a:r>
              <a:rPr lang="de-DE" dirty="0" smtClean="0"/>
              <a:t>DIAL basiert </a:t>
            </a:r>
          </a:p>
          <a:p>
            <a:r>
              <a:rPr lang="de-DE" dirty="0" smtClean="0"/>
              <a:t>dazu  auf  einem  Webkonferenzsystem,  welches  die  Verarbeitung  der  </a:t>
            </a:r>
            <a:r>
              <a:rPr lang="de-DE" dirty="0" err="1" smtClean="0"/>
              <a:t>Medienstreams</a:t>
            </a:r>
            <a:r>
              <a:rPr lang="de-DE" dirty="0" smtClean="0"/>
              <a:t> </a:t>
            </a:r>
          </a:p>
          <a:p>
            <a:r>
              <a:rPr lang="de-DE" dirty="0" smtClean="0"/>
              <a:t>(Audio- und Videosignale) sowie die Kommunikation aller Teilnehmer steuert. In jedem </a:t>
            </a:r>
          </a:p>
          <a:p>
            <a:r>
              <a:rPr lang="de-DE" dirty="0" smtClean="0"/>
              <a:t>Veranstaltungsraum tritt ein technischer Supportmitarbeiter der initiierten </a:t>
            </a:r>
            <a:r>
              <a:rPr lang="de-DE" dirty="0" err="1" smtClean="0"/>
              <a:t>Konferenzsit</a:t>
            </a:r>
            <a:r>
              <a:rPr lang="de-DE" dirty="0" smtClean="0"/>
              <a:t>-</a:t>
            </a:r>
          </a:p>
          <a:p>
            <a:r>
              <a:rPr lang="de-DE" dirty="0" err="1" smtClean="0"/>
              <a:t>zung</a:t>
            </a:r>
            <a:r>
              <a:rPr lang="de-DE" dirty="0" smtClean="0"/>
              <a:t> bei und </a:t>
            </a:r>
            <a:r>
              <a:rPr lang="de-DE" dirty="0" err="1" smtClean="0"/>
              <a:t>streamt</a:t>
            </a:r>
            <a:r>
              <a:rPr lang="de-DE" dirty="0" smtClean="0"/>
              <a:t> die übertragenen Sitzungsdaten über einen </a:t>
            </a:r>
            <a:r>
              <a:rPr lang="de-DE" dirty="0" err="1" smtClean="0"/>
              <a:t>Beamer</a:t>
            </a:r>
            <a:r>
              <a:rPr lang="de-DE" dirty="0" smtClean="0"/>
              <a:t> und </a:t>
            </a:r>
            <a:r>
              <a:rPr lang="de-DE" dirty="0" err="1" smtClean="0"/>
              <a:t>Lautspre</a:t>
            </a:r>
            <a:r>
              <a:rPr lang="de-DE" dirty="0" smtClean="0"/>
              <a:t>-</a:t>
            </a:r>
          </a:p>
          <a:p>
            <a:r>
              <a:rPr lang="de-DE" dirty="0" err="1" smtClean="0"/>
              <a:t>cher</a:t>
            </a:r>
            <a:r>
              <a:rPr lang="de-DE" dirty="0" smtClean="0"/>
              <a:t>  zum  Auditorium.  Die  Nutzer  im  Veranstaltungsraum  hören  den  Audiostrom  der </a:t>
            </a:r>
          </a:p>
          <a:p>
            <a:r>
              <a:rPr lang="de-DE" dirty="0" smtClean="0"/>
              <a:t>Dozierenden  und  können  über  die  Projektion  das  Whiteboard,  die Präsentationsfolien, </a:t>
            </a:r>
          </a:p>
          <a:p>
            <a:r>
              <a:rPr lang="de-DE" dirty="0" smtClean="0"/>
              <a:t>die geteilten Anwendungen, den Chat, das Videobild der Dozierenden und die Ergebnis-</a:t>
            </a:r>
          </a:p>
          <a:p>
            <a:r>
              <a:rPr lang="de-DE" dirty="0" smtClean="0"/>
              <a:t>se von Umfragen sehen. Ob und wann diese Inhalte geteilt werden, entscheiden die Do-</a:t>
            </a:r>
          </a:p>
          <a:p>
            <a:r>
              <a:rPr lang="de-DE" dirty="0" smtClean="0"/>
              <a:t>zierenden, die der Sitzung mit Moderationsrechten beitreten. Die Lehrveranstaltung wird </a:t>
            </a:r>
          </a:p>
          <a:p>
            <a:r>
              <a:rPr lang="de-DE" dirty="0" smtClean="0"/>
              <a:t>entweder in einem der Veranstaltungsräume oder dezentral gehalten. </a:t>
            </a:r>
          </a:p>
          <a:p>
            <a:r>
              <a:rPr lang="de-DE" dirty="0" smtClean="0"/>
              <a:t>Damit eine Übertragung von  Informationen von Studierenden zu Dozierenden </a:t>
            </a:r>
            <a:r>
              <a:rPr lang="de-DE" dirty="0" err="1" smtClean="0"/>
              <a:t>stattfin</a:t>
            </a:r>
            <a:r>
              <a:rPr lang="de-DE" dirty="0" smtClean="0"/>
              <a:t>-</a:t>
            </a:r>
          </a:p>
          <a:p>
            <a:r>
              <a:rPr lang="de-DE" dirty="0" err="1" smtClean="0"/>
              <a:t>det</a:t>
            </a:r>
            <a:r>
              <a:rPr lang="de-DE" dirty="0" smtClean="0"/>
              <a:t>, wird die Kommunikation durch DIAL erweitert. Hierbei nutzen die Studierenden im </a:t>
            </a:r>
          </a:p>
          <a:p>
            <a:r>
              <a:rPr lang="de-DE" dirty="0" smtClean="0"/>
              <a:t>Auditorium ihre privaten Endgeräte (z.B. Smartphones oder Tablets), um </a:t>
            </a:r>
            <a:r>
              <a:rPr lang="de-DE" dirty="0" err="1" smtClean="0"/>
              <a:t>Chatnachrich</a:t>
            </a:r>
            <a:r>
              <a:rPr lang="de-DE" dirty="0" smtClean="0"/>
              <a:t>-</a:t>
            </a:r>
          </a:p>
          <a:p>
            <a:r>
              <a:rPr lang="de-DE" dirty="0" err="1" smtClean="0"/>
              <a:t>ten</a:t>
            </a:r>
            <a:r>
              <a:rPr lang="de-DE" dirty="0" smtClean="0"/>
              <a:t> zu lesen bzw. zu schreiben oder an Umfragen teilzunehmen. Diese </a:t>
            </a:r>
            <a:r>
              <a:rPr lang="de-DE" dirty="0" err="1" smtClean="0"/>
              <a:t>Nutzerinteraktio</a:t>
            </a:r>
            <a:r>
              <a:rPr lang="de-DE" dirty="0" smtClean="0"/>
              <a:t>-</a:t>
            </a:r>
          </a:p>
          <a:p>
            <a:r>
              <a:rPr lang="de-DE" dirty="0" err="1" smtClean="0"/>
              <a:t>nen</a:t>
            </a:r>
            <a:r>
              <a:rPr lang="de-DE" dirty="0" smtClean="0"/>
              <a:t> umfassen i. Allg. nur wenige Kilobyte und belasten das Mobilfunknetz oder Hoch-</a:t>
            </a:r>
          </a:p>
          <a:p>
            <a:r>
              <a:rPr lang="de-DE" dirty="0" smtClean="0"/>
              <a:t>schul-WLAN nur gering. Im Vorfeld durchgeführte Skalierungs- und Lasttests mit </a:t>
            </a:r>
            <a:r>
              <a:rPr lang="de-DE" dirty="0" err="1" smtClean="0"/>
              <a:t>simu</a:t>
            </a:r>
            <a:r>
              <a:rPr lang="de-DE" dirty="0" smtClean="0"/>
              <a:t>-</a:t>
            </a:r>
          </a:p>
          <a:p>
            <a:r>
              <a:rPr lang="de-DE" dirty="0" err="1" smtClean="0"/>
              <a:t>lierten</a:t>
            </a:r>
            <a:r>
              <a:rPr lang="de-DE" dirty="0" smtClean="0"/>
              <a:t> Nutzen ließen außerdem erkennen, dass eine Teilnahme mehrerer Hundert Studie-</a:t>
            </a:r>
          </a:p>
          <a:p>
            <a:r>
              <a:rPr lang="de-DE" dirty="0" err="1" smtClean="0"/>
              <a:t>render</a:t>
            </a:r>
            <a:r>
              <a:rPr lang="de-DE" dirty="0" smtClean="0"/>
              <a:t> mit vorhandener Infrastruktur problemlos möglich ist (vgl. [Ka16] Kapitel 7). </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6</a:t>
            </a:fld>
            <a:endParaRPr lang="de-DE"/>
          </a:p>
        </p:txBody>
      </p:sp>
    </p:spTree>
    <p:extLst>
      <p:ext uri="{BB962C8B-B14F-4D97-AF65-F5344CB8AC3E}">
        <p14:creationId xmlns:p14="http://schemas.microsoft.com/office/powerpoint/2010/main" val="22776210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err="1" smtClean="0"/>
              <a:t>Redis</a:t>
            </a:r>
            <a:r>
              <a:rPr lang="de-DE" b="1" dirty="0" smtClean="0"/>
              <a:t> Pub/Sub </a:t>
            </a:r>
            <a:r>
              <a:rPr lang="de-DE" b="1" dirty="0" smtClean="0">
                <a:sym typeface="Wingdings" panose="05000000000000000000" pitchFamily="2" charset="2"/>
              </a:rPr>
              <a:t> DIAL ist ein Publisher</a:t>
            </a:r>
            <a:r>
              <a:rPr lang="de-DE" b="1" baseline="0" dirty="0" smtClean="0">
                <a:sym typeface="Wingdings" panose="05000000000000000000" pitchFamily="2" charset="2"/>
              </a:rPr>
              <a:t>  wird sofort in normalem BBB Client sichtbar</a:t>
            </a:r>
            <a:endParaRPr lang="de-DE" b="1" dirty="0" smtClean="0"/>
          </a:p>
          <a:p>
            <a:r>
              <a:rPr lang="de-DE" b="1" dirty="0" smtClean="0"/>
              <a:t>Zugriff auf </a:t>
            </a:r>
            <a:r>
              <a:rPr lang="de-DE" b="1" dirty="0" err="1" smtClean="0"/>
              <a:t>MongoDB</a:t>
            </a:r>
            <a:r>
              <a:rPr lang="de-DE" b="1" dirty="0" smtClean="0"/>
              <a:t>: On-Demand Pull, d.h.</a:t>
            </a:r>
            <a:r>
              <a:rPr lang="de-DE" b="1" baseline="0" dirty="0" smtClean="0"/>
              <a:t> DIAL ist *kein* Subscriber</a:t>
            </a:r>
            <a:r>
              <a:rPr lang="de-DE" b="1" dirty="0" smtClean="0"/>
              <a:t> </a:t>
            </a:r>
            <a:r>
              <a:rPr lang="de-DE" b="1" dirty="0" smtClean="0">
                <a:sym typeface="Wingdings" panose="05000000000000000000" pitchFamily="2" charset="2"/>
              </a:rPr>
              <a:t> Änderungen *nicht* synchron auf Handy</a:t>
            </a:r>
            <a:endParaRPr lang="de-DE" b="1" dirty="0" smtClean="0"/>
          </a:p>
          <a:p>
            <a:endParaRPr lang="de-DE" b="1" dirty="0" smtClean="0"/>
          </a:p>
          <a:p>
            <a:r>
              <a:rPr lang="de-DE" b="1" dirty="0" err="1" smtClean="0"/>
              <a:t>Redis</a:t>
            </a:r>
            <a:r>
              <a:rPr lang="de-DE" dirty="0" smtClean="0"/>
              <a:t> ist eine </a:t>
            </a:r>
            <a:r>
              <a:rPr lang="de-DE" dirty="0" smtClean="0">
                <a:hlinkClick r:id="rId3" tooltip="In-Memory-Datenbank"/>
              </a:rPr>
              <a:t>In-Memory-Datenbank</a:t>
            </a:r>
            <a:r>
              <a:rPr lang="de-DE" dirty="0" smtClean="0"/>
              <a:t> mit einer einfachen Schlüssel-Werte-Datenstruktur (englisch: </a:t>
            </a:r>
            <a:r>
              <a:rPr lang="de-DE" i="1" dirty="0" err="1" smtClean="0"/>
              <a:t>key</a:t>
            </a:r>
            <a:r>
              <a:rPr lang="de-DE" i="1" dirty="0" smtClean="0"/>
              <a:t> </a:t>
            </a:r>
            <a:r>
              <a:rPr lang="de-DE" i="1" dirty="0" err="1" smtClean="0"/>
              <a:t>value</a:t>
            </a:r>
            <a:r>
              <a:rPr lang="de-DE" i="1" dirty="0" smtClean="0"/>
              <a:t> </a:t>
            </a:r>
            <a:r>
              <a:rPr lang="de-DE" i="1" dirty="0" err="1" smtClean="0"/>
              <a:t>store</a:t>
            </a:r>
            <a:r>
              <a:rPr lang="de-DE" dirty="0" smtClean="0"/>
              <a:t>) und gehört zur Familie der </a:t>
            </a:r>
            <a:r>
              <a:rPr lang="de-DE" dirty="0" err="1" smtClean="0">
                <a:hlinkClick r:id="rId4" tooltip="NoSQL"/>
              </a:rPr>
              <a:t>NoSQL</a:t>
            </a:r>
            <a:r>
              <a:rPr lang="de-DE" dirty="0" smtClean="0"/>
              <a:t>-Datenbanken (ist also nicht </a:t>
            </a:r>
            <a:r>
              <a:rPr lang="de-DE" dirty="0" smtClean="0">
                <a:hlinkClick r:id="rId5" tooltip="Relationale Datenbank"/>
              </a:rPr>
              <a:t>relational</a:t>
            </a:r>
            <a:r>
              <a:rPr lang="de-DE" dirty="0" smtClean="0"/>
              <a:t>). Nach einer Erhebung von </a:t>
            </a:r>
            <a:r>
              <a:rPr lang="de-DE" i="1" dirty="0" smtClean="0"/>
              <a:t>DB-Engines.com</a:t>
            </a:r>
            <a:r>
              <a:rPr lang="de-DE" dirty="0" smtClean="0"/>
              <a:t> ist </a:t>
            </a:r>
            <a:r>
              <a:rPr lang="de-DE" dirty="0" err="1" smtClean="0"/>
              <a:t>Redis</a:t>
            </a:r>
            <a:r>
              <a:rPr lang="de-DE" dirty="0" smtClean="0"/>
              <a:t> der verbreitetste Schlüssel-Werte-Speicher.</a:t>
            </a:r>
            <a:r>
              <a:rPr lang="de-DE" baseline="30000" dirty="0" smtClean="0">
                <a:hlinkClick r:id="rId6"/>
              </a:rPr>
              <a:t>[3]</a:t>
            </a:r>
            <a:endParaRPr lang="de-DE" baseline="30000" dirty="0" smtClean="0"/>
          </a:p>
          <a:p>
            <a:endParaRPr lang="de-DE" baseline="30000" dirty="0" smtClean="0"/>
          </a:p>
          <a:p>
            <a:r>
              <a:rPr lang="en-US" dirty="0" smtClean="0">
                <a:hlinkClick r:id="rId7"/>
              </a:rPr>
              <a:t>SUBSCRIBE</a:t>
            </a:r>
            <a:r>
              <a:rPr lang="en-US" dirty="0" smtClean="0"/>
              <a:t>, </a:t>
            </a:r>
            <a:r>
              <a:rPr lang="en-US" dirty="0" smtClean="0">
                <a:hlinkClick r:id="rId8"/>
              </a:rPr>
              <a:t>UNSUBSCRIBE</a:t>
            </a:r>
            <a:r>
              <a:rPr lang="en-US" dirty="0" smtClean="0"/>
              <a:t> and </a:t>
            </a:r>
            <a:r>
              <a:rPr lang="en-US" dirty="0" smtClean="0">
                <a:hlinkClick r:id="rId9"/>
              </a:rPr>
              <a:t>PUBLISH</a:t>
            </a:r>
            <a:r>
              <a:rPr lang="en-US" dirty="0" smtClean="0"/>
              <a:t> implement the </a:t>
            </a:r>
            <a:r>
              <a:rPr lang="en-US" dirty="0" smtClean="0">
                <a:hlinkClick r:id="rId10"/>
              </a:rPr>
              <a:t>Publish/Subscribe messaging paradigm</a:t>
            </a:r>
            <a:r>
              <a:rPr lang="en-US" dirty="0" smtClean="0"/>
              <a:t> where (citing Wikipedia) senders (publishers) are not programmed to send their messages to specific receivers (subscribers). Rather, published messages are characterized into channels, without knowledge of what (if any) subscribers there may be. Subscribers express interest in one or more channels, and only receive messages that are of interest, without knowledge of what (if any) publishers there are. This decoupling of publishers and subscribers can allow for greater scalability and a more dynamic network topology.</a:t>
            </a:r>
            <a:endParaRPr lang="de-DE" dirty="0"/>
          </a:p>
        </p:txBody>
      </p:sp>
      <p:sp>
        <p:nvSpPr>
          <p:cNvPr id="4" name="Foliennummernplatzhalter 3"/>
          <p:cNvSpPr>
            <a:spLocks noGrp="1"/>
          </p:cNvSpPr>
          <p:nvPr>
            <p:ph type="sldNum" sz="quarter" idx="10"/>
          </p:nvPr>
        </p:nvSpPr>
        <p:spPr/>
        <p:txBody>
          <a:bodyPr/>
          <a:lstStyle/>
          <a:p>
            <a:fld id="{FD87080C-DF5D-4508-8D57-52E64401F1ED}" type="slidenum">
              <a:rPr lang="de-DE" smtClean="0"/>
              <a:t>8</a:t>
            </a:fld>
            <a:endParaRPr lang="de-DE"/>
          </a:p>
        </p:txBody>
      </p:sp>
    </p:spTree>
    <p:extLst>
      <p:ext uri="{BB962C8B-B14F-4D97-AF65-F5344CB8AC3E}">
        <p14:creationId xmlns:p14="http://schemas.microsoft.com/office/powerpoint/2010/main" val="6965395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de-DE" smtClean="0"/>
              <a:t>Titelmasterformat durch Klicken bearbeiten</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smtClean="0"/>
              <a:t>Formatvorlage des Untertitelmasters durch Klicken bearbeiten</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30.08.2017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4232733872"/>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7"/>
            <a:ext cx="7886700" cy="596166"/>
          </a:xfrm>
        </p:spPr>
        <p:txBody>
          <a:bodyPr>
            <a:normAutofit/>
          </a:bodyPr>
          <a:lstStyle>
            <a:lvl1pPr>
              <a:defRPr sz="3200">
                <a:latin typeface="Times New Roman" panose="02020603050405020304" pitchFamily="18" charset="0"/>
                <a:cs typeface="Times New Roman" panose="02020603050405020304" pitchFamily="18" charset="0"/>
              </a:defRPr>
            </a:lvl1pPr>
          </a:lstStyle>
          <a:p>
            <a:r>
              <a:rPr lang="de-DE" dirty="0" smtClean="0"/>
              <a:t>Titelmasterformat durch Klicken bearbeiten</a:t>
            </a:r>
            <a:endParaRPr lang="en-US" dirty="0"/>
          </a:p>
        </p:txBody>
      </p:sp>
      <p:sp>
        <p:nvSpPr>
          <p:cNvPr id="3" name="Content Placeholder 2"/>
          <p:cNvSpPr>
            <a:spLocks noGrp="1"/>
          </p:cNvSpPr>
          <p:nvPr>
            <p:ph idx="1"/>
          </p:nvPr>
        </p:nvSpPr>
        <p:spPr>
          <a:xfrm>
            <a:off x="628650" y="1273908"/>
            <a:ext cx="7886700" cy="4903055"/>
          </a:xfrm>
        </p:spPr>
        <p:txBody>
          <a:bodyPr/>
          <a:lstStyle>
            <a:lvl1pPr>
              <a:defRPr sz="2400"/>
            </a:lvl1pPr>
            <a:lvl2pPr>
              <a:defRPr sz="2000"/>
            </a:lvl2pPr>
            <a:lvl3pPr>
              <a:defRPr sz="2000"/>
            </a:lvl3pPr>
            <a:lvl4pPr>
              <a:defRPr sz="2000"/>
            </a:lvl4pPr>
            <a:lvl5pPr>
              <a:defRPr sz="2000"/>
            </a:lvl5pPr>
          </a:lstStyle>
          <a:p>
            <a:pPr lvl="0"/>
            <a:r>
              <a:rPr lang="de-DE" dirty="0" smtClean="0"/>
              <a:t>Textmasterformat bearbeiten</a:t>
            </a:r>
          </a:p>
          <a:p>
            <a:pPr lvl="1"/>
            <a:r>
              <a:rPr lang="de-DE" dirty="0" smtClean="0"/>
              <a:t>Zweite Ebene</a:t>
            </a:r>
          </a:p>
          <a:p>
            <a:pPr lvl="2"/>
            <a:r>
              <a:rPr lang="de-DE" dirty="0" smtClean="0"/>
              <a:t>Dritte Ebene</a:t>
            </a:r>
          </a:p>
          <a:p>
            <a:pPr lvl="3"/>
            <a:r>
              <a:rPr lang="de-DE" dirty="0" smtClean="0"/>
              <a:t>Vierte Ebene</a:t>
            </a:r>
          </a:p>
          <a:p>
            <a:pPr lvl="4"/>
            <a:r>
              <a:rPr lang="de-DE" dirty="0" smtClean="0"/>
              <a:t>Fünfte Ebene</a:t>
            </a:r>
            <a:endParaRPr lang="en-US" dirty="0"/>
          </a:p>
        </p:txBody>
      </p:sp>
      <p:sp>
        <p:nvSpPr>
          <p:cNvPr id="7" name="Rechteck 6"/>
          <p:cNvSpPr/>
          <p:nvPr userDrawn="1"/>
        </p:nvSpPr>
        <p:spPr>
          <a:xfrm>
            <a:off x="0" y="6494585"/>
            <a:ext cx="9144000" cy="36341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Textfeld 7"/>
          <p:cNvSpPr txBox="1"/>
          <p:nvPr userDrawn="1"/>
        </p:nvSpPr>
        <p:spPr>
          <a:xfrm>
            <a:off x="8619241" y="6522403"/>
            <a:ext cx="524759" cy="307777"/>
          </a:xfrm>
          <a:prstGeom prst="rect">
            <a:avLst/>
          </a:prstGeom>
          <a:noFill/>
        </p:spPr>
        <p:txBody>
          <a:bodyPr wrap="none" rtlCol="0">
            <a:spAutoFit/>
          </a:bodyPr>
          <a:lstStyle/>
          <a:p>
            <a:fld id="{074E0E45-9C98-4C53-BF9B-4F4E7C25250F}" type="slidenum">
              <a:rPr lang="de-DE" sz="1400" b="1" smtClean="0">
                <a:latin typeface="+mn-lt"/>
              </a:rPr>
              <a:t>‹Nr.›</a:t>
            </a:fld>
            <a:endParaRPr lang="de-DE" sz="1400" b="1" dirty="0">
              <a:latin typeface="+mn-lt"/>
            </a:endParaRPr>
          </a:p>
        </p:txBody>
      </p:sp>
      <p:sp>
        <p:nvSpPr>
          <p:cNvPr id="9" name="Textfeld 8"/>
          <p:cNvSpPr txBox="1"/>
          <p:nvPr userDrawn="1"/>
        </p:nvSpPr>
        <p:spPr>
          <a:xfrm>
            <a:off x="132862" y="6522403"/>
            <a:ext cx="2070695" cy="307777"/>
          </a:xfrm>
          <a:prstGeom prst="rect">
            <a:avLst/>
          </a:prstGeom>
          <a:noFill/>
        </p:spPr>
        <p:txBody>
          <a:bodyPr wrap="none" rtlCol="0">
            <a:spAutoFit/>
          </a:bodyPr>
          <a:lstStyle/>
          <a:p>
            <a:r>
              <a:rPr lang="de-DE" sz="1400" b="1" dirty="0" smtClean="0"/>
              <a:t>Andreas Thor, </a:t>
            </a:r>
            <a:r>
              <a:rPr lang="de-DE" sz="1400" b="1" dirty="0" err="1" smtClean="0"/>
              <a:t>DeLFI</a:t>
            </a:r>
            <a:r>
              <a:rPr lang="de-DE" sz="1400" b="1" dirty="0" smtClean="0"/>
              <a:t> 2017</a:t>
            </a:r>
            <a:endParaRPr lang="de-DE" sz="1400" b="1" dirty="0"/>
          </a:p>
        </p:txBody>
      </p:sp>
    </p:spTree>
    <p:extLst>
      <p:ext uri="{BB962C8B-B14F-4D97-AF65-F5344CB8AC3E}">
        <p14:creationId xmlns:p14="http://schemas.microsoft.com/office/powerpoint/2010/main" val="2669472992"/>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de-DE" smtClean="0"/>
              <a:t>Titelmasterformat durch Klicken bearbeiten</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smtClean="0"/>
              <a:t>Textmasterformat bearbeiten</a:t>
            </a:r>
          </a:p>
        </p:txBody>
      </p:sp>
      <p:sp>
        <p:nvSpPr>
          <p:cNvPr id="4" name="Date Placeholder 3"/>
          <p:cNvSpPr>
            <a:spLocks noGrp="1"/>
          </p:cNvSpPr>
          <p:nvPr>
            <p:ph type="dt" sz="half" idx="10"/>
          </p:nvPr>
        </p:nvSpPr>
        <p:spPr/>
        <p:txBody>
          <a:bodyPr/>
          <a:lstStyle/>
          <a:p>
            <a:fld id="{1E13E174-3914-4D58-9E24-2A0CC84D465E}" type="datetimeFigureOut">
              <a:rPr lang="de-DE" smtClean="0"/>
              <a:t>30.08.2017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3316221207"/>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5" name="Date Placeholder 4"/>
          <p:cNvSpPr>
            <a:spLocks noGrp="1"/>
          </p:cNvSpPr>
          <p:nvPr>
            <p:ph type="dt" sz="half" idx="10"/>
          </p:nvPr>
        </p:nvSpPr>
        <p:spPr/>
        <p:txBody>
          <a:bodyPr/>
          <a:lstStyle/>
          <a:p>
            <a:fld id="{1E13E174-3914-4D58-9E24-2A0CC84D465E}" type="datetimeFigureOut">
              <a:rPr lang="de-DE" smtClean="0"/>
              <a:t>30.08.2017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532831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de-DE" smtClean="0"/>
              <a:t>Titelmasterformat durch Klicken bearbeiten</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Content Placeholder 3"/>
          <p:cNvSpPr>
            <a:spLocks noGrp="1"/>
          </p:cNvSpPr>
          <p:nvPr>
            <p:ph sz="half" idx="2"/>
          </p:nvPr>
        </p:nvSpPr>
        <p:spPr>
          <a:xfrm>
            <a:off x="629842" y="2505075"/>
            <a:ext cx="3868340" cy="36845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Content Placeholder 5"/>
          <p:cNvSpPr>
            <a:spLocks noGrp="1"/>
          </p:cNvSpPr>
          <p:nvPr>
            <p:ph sz="quarter" idx="4"/>
          </p:nvPr>
        </p:nvSpPr>
        <p:spPr>
          <a:xfrm>
            <a:off x="4629150" y="2505075"/>
            <a:ext cx="3887391" cy="36845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7" name="Date Placeholder 6"/>
          <p:cNvSpPr>
            <a:spLocks noGrp="1"/>
          </p:cNvSpPr>
          <p:nvPr>
            <p:ph type="dt" sz="half" idx="10"/>
          </p:nvPr>
        </p:nvSpPr>
        <p:spPr/>
        <p:txBody>
          <a:bodyPr/>
          <a:lstStyle/>
          <a:p>
            <a:fld id="{1E13E174-3914-4D58-9E24-2A0CC84D465E}" type="datetimeFigureOut">
              <a:rPr lang="de-DE" smtClean="0"/>
              <a:t>30.08.2017</a:t>
            </a:fld>
            <a:endParaRPr lang="de-DE"/>
          </a:p>
        </p:txBody>
      </p:sp>
      <p:sp>
        <p:nvSpPr>
          <p:cNvPr id="8" name="Footer Placeholder 7"/>
          <p:cNvSpPr>
            <a:spLocks noGrp="1"/>
          </p:cNvSpPr>
          <p:nvPr>
            <p:ph type="ftr" sz="quarter" idx="11"/>
          </p:nvPr>
        </p:nvSpPr>
        <p:spPr/>
        <p:txBody>
          <a:bodyPr/>
          <a:lstStyle/>
          <a:p>
            <a:endParaRPr lang="de-DE"/>
          </a:p>
        </p:txBody>
      </p:sp>
      <p:sp>
        <p:nvSpPr>
          <p:cNvPr id="9" name="Slide Number Placeholder 8"/>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4485795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Date Placeholder 2"/>
          <p:cNvSpPr>
            <a:spLocks noGrp="1"/>
          </p:cNvSpPr>
          <p:nvPr>
            <p:ph type="dt" sz="half" idx="10"/>
          </p:nvPr>
        </p:nvSpPr>
        <p:spPr/>
        <p:txBody>
          <a:bodyPr/>
          <a:lstStyle/>
          <a:p>
            <a:fld id="{1E13E174-3914-4D58-9E24-2A0CC84D465E}" type="datetimeFigureOut">
              <a:rPr lang="de-DE" smtClean="0"/>
              <a:t>30.08.2017</a:t>
            </a:fld>
            <a:endParaRPr lang="de-DE"/>
          </a:p>
        </p:txBody>
      </p:sp>
      <p:sp>
        <p:nvSpPr>
          <p:cNvPr id="4" name="Footer Placeholder 3"/>
          <p:cNvSpPr>
            <a:spLocks noGrp="1"/>
          </p:cNvSpPr>
          <p:nvPr>
            <p:ph type="ftr" sz="quarter" idx="11"/>
          </p:nvPr>
        </p:nvSpPr>
        <p:spPr/>
        <p:txBody>
          <a:bodyPr/>
          <a:lstStyle/>
          <a:p>
            <a:endParaRPr lang="de-DE"/>
          </a:p>
        </p:txBody>
      </p:sp>
      <p:sp>
        <p:nvSpPr>
          <p:cNvPr id="5" name="Slide Number Placeholder 4"/>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2105203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E13E174-3914-4D58-9E24-2A0CC84D465E}" type="datetimeFigureOut">
              <a:rPr lang="de-DE" smtClean="0"/>
              <a:t>30.08.2017</a:t>
            </a:fld>
            <a:endParaRPr lang="de-DE"/>
          </a:p>
        </p:txBody>
      </p:sp>
      <p:sp>
        <p:nvSpPr>
          <p:cNvPr id="3" name="Footer Placeholder 2"/>
          <p:cNvSpPr>
            <a:spLocks noGrp="1"/>
          </p:cNvSpPr>
          <p:nvPr>
            <p:ph type="ftr" sz="quarter" idx="11"/>
          </p:nvPr>
        </p:nvSpPr>
        <p:spPr/>
        <p:txBody>
          <a:bodyPr/>
          <a:lstStyle/>
          <a:p>
            <a:endParaRPr lang="de-DE"/>
          </a:p>
        </p:txBody>
      </p:sp>
      <p:sp>
        <p:nvSpPr>
          <p:cNvPr id="4" name="Slide Number Placeholder 3"/>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3528544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de-DE" smtClean="0"/>
              <a:t>Titelmasterformat durch Klicken bearbeiten</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smtClean="0"/>
              <a:t>Textmasterformat bearbeiten</a:t>
            </a:r>
          </a:p>
        </p:txBody>
      </p:sp>
      <p:sp>
        <p:nvSpPr>
          <p:cNvPr id="5" name="Date Placeholder 4"/>
          <p:cNvSpPr>
            <a:spLocks noGrp="1"/>
          </p:cNvSpPr>
          <p:nvPr>
            <p:ph type="dt" sz="half" idx="10"/>
          </p:nvPr>
        </p:nvSpPr>
        <p:spPr/>
        <p:txBody>
          <a:bodyPr/>
          <a:lstStyle/>
          <a:p>
            <a:fld id="{1E13E174-3914-4D58-9E24-2A0CC84D465E}" type="datetimeFigureOut">
              <a:rPr lang="de-DE" smtClean="0"/>
              <a:t>30.08.2017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2639312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de-DE" smtClean="0"/>
              <a:t>Titelmasterformat durch Klicken bearbeiten</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de-DE" smtClean="0"/>
              <a:t>Bild durch Klicken auf Symbol hinzufügen</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smtClean="0"/>
              <a:t>Textmasterformat bearbeiten</a:t>
            </a:r>
          </a:p>
        </p:txBody>
      </p:sp>
      <p:sp>
        <p:nvSpPr>
          <p:cNvPr id="5" name="Date Placeholder 4"/>
          <p:cNvSpPr>
            <a:spLocks noGrp="1"/>
          </p:cNvSpPr>
          <p:nvPr>
            <p:ph type="dt" sz="half" idx="10"/>
          </p:nvPr>
        </p:nvSpPr>
        <p:spPr/>
        <p:txBody>
          <a:bodyPr/>
          <a:lstStyle/>
          <a:p>
            <a:fld id="{1E13E174-3914-4D58-9E24-2A0CC84D465E}" type="datetimeFigureOut">
              <a:rPr lang="de-DE" smtClean="0"/>
              <a:t>30.08.2017</a:t>
            </a:fld>
            <a:endParaRPr lang="de-DE"/>
          </a:p>
        </p:txBody>
      </p:sp>
      <p:sp>
        <p:nvSpPr>
          <p:cNvPr id="6" name="Footer Placeholder 5"/>
          <p:cNvSpPr>
            <a:spLocks noGrp="1"/>
          </p:cNvSpPr>
          <p:nvPr>
            <p:ph type="ftr" sz="quarter" idx="11"/>
          </p:nvPr>
        </p:nvSpPr>
        <p:spPr/>
        <p:txBody>
          <a:bodyPr/>
          <a:lstStyle/>
          <a:p>
            <a:endParaRPr lang="de-DE"/>
          </a:p>
        </p:txBody>
      </p:sp>
      <p:sp>
        <p:nvSpPr>
          <p:cNvPr id="7" name="Slide Number Placeholder 6"/>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5457093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smtClean="0"/>
              <a:t>Titelmasterformat durch Klicken bearbeiten</a:t>
            </a:r>
            <a:endParaRPr lang="en-US" dirty="0"/>
          </a:p>
        </p:txBody>
      </p:sp>
      <p:sp>
        <p:nvSpPr>
          <p:cNvPr id="3" name="Vertical Text Placehold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30.08.2017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9765530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de-DE" smtClean="0"/>
              <a:t>Titelmasterformat durch Klicken bearbeiten</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10"/>
          </p:nvPr>
        </p:nvSpPr>
        <p:spPr/>
        <p:txBody>
          <a:bodyPr/>
          <a:lstStyle/>
          <a:p>
            <a:fld id="{1E13E174-3914-4D58-9E24-2A0CC84D465E}" type="datetimeFigureOut">
              <a:rPr lang="de-DE" smtClean="0"/>
              <a:t>30.08.2017</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95C3129D-1438-4D7E-935C-E8FBDC27C299}" type="slidenum">
              <a:rPr lang="de-DE" smtClean="0"/>
              <a:t>‹Nr.›</a:t>
            </a:fld>
            <a:endParaRPr lang="de-DE"/>
          </a:p>
        </p:txBody>
      </p:sp>
    </p:spTree>
    <p:extLst>
      <p:ext uri="{BB962C8B-B14F-4D97-AF65-F5344CB8AC3E}">
        <p14:creationId xmlns:p14="http://schemas.microsoft.com/office/powerpoint/2010/main" val="1120151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de-DE" smtClean="0"/>
              <a:t>Titelmasterformat durch Klicken bearbeiten</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E13E174-3914-4D58-9E24-2A0CC84D465E}" type="datetimeFigureOut">
              <a:rPr lang="de-DE" smtClean="0"/>
              <a:t>30.08.2017</a:t>
            </a:fld>
            <a:endParaRPr lang="de-DE"/>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C3129D-1438-4D7E-935C-E8FBDC27C299}" type="slidenum">
              <a:rPr lang="de-DE" smtClean="0"/>
              <a:t>‹Nr.›</a:t>
            </a:fld>
            <a:endParaRPr lang="de-DE"/>
          </a:p>
        </p:txBody>
      </p:sp>
    </p:spTree>
    <p:extLst>
      <p:ext uri="{BB962C8B-B14F-4D97-AF65-F5344CB8AC3E}">
        <p14:creationId xmlns:p14="http://schemas.microsoft.com/office/powerpoint/2010/main" val="40469594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par>
    </p:tnLst>
  </p:timing>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12.jpeg"/><Relationship Id="rId5" Type="http://schemas.openxmlformats.org/officeDocument/2006/relationships/image" Target="../media/image6.jpeg"/><Relationship Id="rId10" Type="http://schemas.openxmlformats.org/officeDocument/2006/relationships/image" Target="../media/image11.jpeg"/><Relationship Id="rId4" Type="http://schemas.openxmlformats.org/officeDocument/2006/relationships/image" Target="../media/image5.png"/><Relationship Id="rId9"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jp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a:xfrm>
            <a:off x="0" y="889001"/>
            <a:ext cx="9144000" cy="3139357"/>
          </a:xfrm>
          <a:solidFill>
            <a:schemeClr val="bg1">
              <a:lumMod val="95000"/>
            </a:schemeClr>
          </a:solidFill>
        </p:spPr>
        <p:txBody>
          <a:bodyPr lIns="0" rIns="0" anchor="ctr">
            <a:normAutofit/>
          </a:bodyPr>
          <a:lstStyle/>
          <a:p>
            <a:r>
              <a:rPr lang="de-DE" sz="4600" dirty="0">
                <a:latin typeface="+mn-lt"/>
                <a:cs typeface="Times New Roman" panose="02020603050405020304" pitchFamily="18" charset="0"/>
              </a:rPr>
              <a:t>DIAL – Ein </a:t>
            </a:r>
            <a:r>
              <a:rPr lang="de-DE" sz="4600" dirty="0" err="1">
                <a:latin typeface="+mn-lt"/>
                <a:cs typeface="Times New Roman" panose="02020603050405020304" pitchFamily="18" charset="0"/>
              </a:rPr>
              <a:t>BigBlueButton</a:t>
            </a:r>
            <a:r>
              <a:rPr lang="de-DE" sz="4600" dirty="0">
                <a:latin typeface="+mn-lt"/>
                <a:cs typeface="Times New Roman" panose="02020603050405020304" pitchFamily="18" charset="0"/>
              </a:rPr>
              <a:t>-basiertes System für interaktive </a:t>
            </a:r>
            <a:br>
              <a:rPr lang="de-DE" sz="4600" dirty="0">
                <a:latin typeface="+mn-lt"/>
                <a:cs typeface="Times New Roman" panose="02020603050405020304" pitchFamily="18" charset="0"/>
              </a:rPr>
            </a:br>
            <a:r>
              <a:rPr lang="de-DE" sz="4600" dirty="0">
                <a:latin typeface="+mn-lt"/>
                <a:cs typeface="Times New Roman" panose="02020603050405020304" pitchFamily="18" charset="0"/>
              </a:rPr>
              <a:t>Live-Übertragungen von Vorlesungen</a:t>
            </a:r>
          </a:p>
        </p:txBody>
      </p:sp>
      <p:sp>
        <p:nvSpPr>
          <p:cNvPr id="3" name="Untertitel 2"/>
          <p:cNvSpPr>
            <a:spLocks noGrp="1"/>
          </p:cNvSpPr>
          <p:nvPr>
            <p:ph type="subTitle" idx="1"/>
          </p:nvPr>
        </p:nvSpPr>
        <p:spPr>
          <a:xfrm>
            <a:off x="0" y="4406900"/>
            <a:ext cx="9144000" cy="2214187"/>
          </a:xfrm>
        </p:spPr>
        <p:txBody>
          <a:bodyPr/>
          <a:lstStyle/>
          <a:p>
            <a:r>
              <a:rPr lang="de-DE" dirty="0" smtClean="0"/>
              <a:t>Luise Kaufmann</a:t>
            </a:r>
            <a:r>
              <a:rPr lang="de-DE" baseline="30000" dirty="0" smtClean="0"/>
              <a:t>1</a:t>
            </a:r>
            <a:r>
              <a:rPr lang="de-DE" dirty="0" smtClean="0"/>
              <a:t>, Tobias Welz</a:t>
            </a:r>
            <a:r>
              <a:rPr lang="de-DE" baseline="30000" dirty="0" smtClean="0"/>
              <a:t>2</a:t>
            </a:r>
            <a:r>
              <a:rPr lang="de-DE" dirty="0" smtClean="0"/>
              <a:t>, </a:t>
            </a:r>
            <a:r>
              <a:rPr lang="de-DE" u="sng" dirty="0" smtClean="0"/>
              <a:t>Andreas Thor</a:t>
            </a:r>
            <a:r>
              <a:rPr lang="de-DE" baseline="30000" dirty="0" smtClean="0"/>
              <a:t>2</a:t>
            </a:r>
            <a:r>
              <a:rPr lang="de-DE" dirty="0" smtClean="0"/>
              <a:t> </a:t>
            </a:r>
            <a:endParaRPr lang="de-DE" baseline="30000" dirty="0" smtClean="0"/>
          </a:p>
          <a:p>
            <a:endParaRPr lang="de-DE" dirty="0" smtClean="0"/>
          </a:p>
          <a:p>
            <a:endParaRPr lang="de-DE" dirty="0" smtClean="0"/>
          </a:p>
          <a:p>
            <a:endParaRPr lang="de-DE" dirty="0"/>
          </a:p>
        </p:txBody>
      </p:sp>
      <p:pic>
        <p:nvPicPr>
          <p:cNvPr id="6" name="Grafik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197" y="5708713"/>
            <a:ext cx="2288271" cy="1063135"/>
          </a:xfrm>
          <a:prstGeom prst="rect">
            <a:avLst/>
          </a:prstGeom>
        </p:spPr>
      </p:pic>
      <p:sp>
        <p:nvSpPr>
          <p:cNvPr id="7" name="Rechteck 6"/>
          <p:cNvSpPr/>
          <p:nvPr/>
        </p:nvSpPr>
        <p:spPr>
          <a:xfrm>
            <a:off x="670435" y="5186749"/>
            <a:ext cx="4572000" cy="923330"/>
          </a:xfrm>
          <a:prstGeom prst="rect">
            <a:avLst/>
          </a:prstGeom>
        </p:spPr>
        <p:txBody>
          <a:bodyPr>
            <a:spAutoFit/>
          </a:bodyPr>
          <a:lstStyle/>
          <a:p>
            <a:r>
              <a:rPr lang="de-DE" baseline="30000" dirty="0" smtClean="0"/>
              <a:t>1 </a:t>
            </a:r>
            <a:r>
              <a:rPr lang="de-DE" dirty="0"/>
              <a:t>T-Systems </a:t>
            </a:r>
            <a:r>
              <a:rPr lang="de-DE" dirty="0" smtClean="0"/>
              <a:t>International GmbH</a:t>
            </a:r>
          </a:p>
          <a:p>
            <a:r>
              <a:rPr lang="de-DE" baseline="30000" dirty="0" smtClean="0"/>
              <a:t>2 </a:t>
            </a:r>
            <a:r>
              <a:rPr lang="de-DE" dirty="0" smtClean="0"/>
              <a:t>Hochschule </a:t>
            </a:r>
            <a:r>
              <a:rPr lang="de-DE" dirty="0"/>
              <a:t>für Telekommunikation Leipzig</a:t>
            </a:r>
            <a:br>
              <a:rPr lang="de-DE" dirty="0"/>
            </a:br>
            <a:endParaRPr lang="de-DE" dirty="0"/>
          </a:p>
        </p:txBody>
      </p:sp>
      <p:pic>
        <p:nvPicPr>
          <p:cNvPr id="8" name="Grafik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12870" y="5169918"/>
            <a:ext cx="2147598" cy="393539"/>
          </a:xfrm>
          <a:prstGeom prst="rect">
            <a:avLst/>
          </a:prstGeom>
        </p:spPr>
      </p:pic>
    </p:spTree>
    <p:extLst>
      <p:ext uri="{BB962C8B-B14F-4D97-AF65-F5344CB8AC3E}">
        <p14:creationId xmlns:p14="http://schemas.microsoft.com/office/powerpoint/2010/main" val="37446077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Motivation</a:t>
            </a:r>
            <a:endParaRPr lang="de-DE" dirty="0"/>
          </a:p>
        </p:txBody>
      </p:sp>
      <p:sp>
        <p:nvSpPr>
          <p:cNvPr id="3" name="Inhaltsplatzhalter 2"/>
          <p:cNvSpPr>
            <a:spLocks noGrp="1"/>
          </p:cNvSpPr>
          <p:nvPr>
            <p:ph idx="1"/>
          </p:nvPr>
        </p:nvSpPr>
        <p:spPr/>
        <p:txBody>
          <a:bodyPr/>
          <a:lstStyle/>
          <a:p>
            <a:pPr marL="0" indent="0">
              <a:buNone/>
            </a:pPr>
            <a:r>
              <a:rPr lang="de-DE" dirty="0" smtClean="0"/>
              <a:t>Problem: Studierendenzahlen</a:t>
            </a:r>
            <a:br>
              <a:rPr lang="de-DE" dirty="0" smtClean="0"/>
            </a:br>
            <a:r>
              <a:rPr lang="de-DE" dirty="0" smtClean="0"/>
              <a:t>übersteigen Hörsaalkapazität</a:t>
            </a:r>
            <a:br>
              <a:rPr lang="de-DE" dirty="0" smtClean="0"/>
            </a:br>
            <a:endParaRPr lang="de-DE" dirty="0" smtClean="0"/>
          </a:p>
          <a:p>
            <a:pPr marL="0" indent="0">
              <a:buNone/>
            </a:pPr>
            <a:r>
              <a:rPr lang="de-DE" dirty="0" smtClean="0"/>
              <a:t>Lösungen</a:t>
            </a:r>
          </a:p>
          <a:p>
            <a:r>
              <a:rPr lang="de-DE" dirty="0" smtClean="0"/>
              <a:t>Größeren Hörsaal bauen / anmieten</a:t>
            </a:r>
          </a:p>
          <a:p>
            <a:r>
              <a:rPr lang="de-DE" dirty="0" smtClean="0"/>
              <a:t>„Kommen sowie nicht alle zur Vorlesung“</a:t>
            </a:r>
          </a:p>
          <a:p>
            <a:r>
              <a:rPr lang="de-DE" dirty="0" smtClean="0"/>
              <a:t>Aufteilung in Gruppen </a:t>
            </a:r>
            <a:r>
              <a:rPr lang="de-DE" dirty="0" smtClean="0">
                <a:sym typeface="Wingdings" panose="05000000000000000000" pitchFamily="2" charset="2"/>
              </a:rPr>
              <a:t> Vorlesung mehrfach halten</a:t>
            </a:r>
            <a:br>
              <a:rPr lang="de-DE" dirty="0" smtClean="0">
                <a:sym typeface="Wingdings" panose="05000000000000000000" pitchFamily="2" charset="2"/>
              </a:rPr>
            </a:br>
            <a:endParaRPr lang="de-DE" dirty="0" smtClean="0">
              <a:sym typeface="Wingdings" panose="05000000000000000000" pitchFamily="2" charset="2"/>
            </a:endParaRPr>
          </a:p>
          <a:p>
            <a:r>
              <a:rPr lang="de-DE" dirty="0" smtClean="0">
                <a:sym typeface="Wingdings" panose="05000000000000000000" pitchFamily="2" charset="2"/>
              </a:rPr>
              <a:t>Live-Übertragung der Vorlesung in mehrere Hörsäle</a:t>
            </a:r>
            <a:endParaRPr lang="de-DE" dirty="0"/>
          </a:p>
        </p:txBody>
      </p:sp>
      <p:pic>
        <p:nvPicPr>
          <p:cNvPr id="4" name="Grafik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19750" y="42248"/>
            <a:ext cx="3911150" cy="2607433"/>
          </a:xfrm>
          <a:prstGeom prst="rect">
            <a:avLst/>
          </a:prstGeom>
        </p:spPr>
      </p:pic>
    </p:spTree>
    <p:extLst>
      <p:ext uri="{BB962C8B-B14F-4D97-AF65-F5344CB8AC3E}">
        <p14:creationId xmlns:p14="http://schemas.microsoft.com/office/powerpoint/2010/main" val="1538251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Live-Übertragung von Vorlesungen</a:t>
            </a:r>
            <a:endParaRPr lang="de-DE" dirty="0"/>
          </a:p>
        </p:txBody>
      </p:sp>
      <p:sp>
        <p:nvSpPr>
          <p:cNvPr id="3" name="Inhaltsplatzhalter 2"/>
          <p:cNvSpPr>
            <a:spLocks noGrp="1"/>
          </p:cNvSpPr>
          <p:nvPr>
            <p:ph idx="1"/>
          </p:nvPr>
        </p:nvSpPr>
        <p:spPr/>
        <p:txBody>
          <a:bodyPr/>
          <a:lstStyle/>
          <a:p>
            <a:endParaRPr lang="de-DE"/>
          </a:p>
        </p:txBody>
      </p:sp>
    </p:spTree>
    <p:extLst>
      <p:ext uri="{BB962C8B-B14F-4D97-AF65-F5344CB8AC3E}">
        <p14:creationId xmlns:p14="http://schemas.microsoft.com/office/powerpoint/2010/main" val="909126870"/>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Agenda</a:t>
            </a:r>
            <a:endParaRPr lang="de-DE" dirty="0"/>
          </a:p>
        </p:txBody>
      </p:sp>
      <p:sp>
        <p:nvSpPr>
          <p:cNvPr id="3" name="Inhaltsplatzhalter 2"/>
          <p:cNvSpPr>
            <a:spLocks noGrp="1"/>
          </p:cNvSpPr>
          <p:nvPr>
            <p:ph idx="1"/>
          </p:nvPr>
        </p:nvSpPr>
        <p:spPr/>
        <p:txBody>
          <a:bodyPr/>
          <a:lstStyle/>
          <a:p>
            <a:endParaRPr lang="de-DE"/>
          </a:p>
        </p:txBody>
      </p:sp>
    </p:spTree>
    <p:extLst>
      <p:ext uri="{BB962C8B-B14F-4D97-AF65-F5344CB8AC3E}">
        <p14:creationId xmlns:p14="http://schemas.microsoft.com/office/powerpoint/2010/main" val="173398451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DIAL: Übersicht</a:t>
            </a:r>
            <a:endParaRPr lang="de-DE" dirty="0"/>
          </a:p>
        </p:txBody>
      </p:sp>
      <p:sp>
        <p:nvSpPr>
          <p:cNvPr id="3" name="Inhaltsplatzhalter 2"/>
          <p:cNvSpPr>
            <a:spLocks noGrp="1"/>
          </p:cNvSpPr>
          <p:nvPr>
            <p:ph idx="1"/>
          </p:nvPr>
        </p:nvSpPr>
        <p:spPr/>
        <p:txBody>
          <a:bodyPr/>
          <a:lstStyle/>
          <a:p>
            <a:endParaRPr lang="de-DE"/>
          </a:p>
        </p:txBody>
      </p:sp>
    </p:spTree>
    <p:extLst>
      <p:ext uri="{BB962C8B-B14F-4D97-AF65-F5344CB8AC3E}">
        <p14:creationId xmlns:p14="http://schemas.microsoft.com/office/powerpoint/2010/main" val="146648279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Rechteck 134"/>
          <p:cNvSpPr/>
          <p:nvPr/>
        </p:nvSpPr>
        <p:spPr>
          <a:xfrm>
            <a:off x="350482" y="1726200"/>
            <a:ext cx="3054544" cy="1408602"/>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7" name="Rechteck 176"/>
          <p:cNvSpPr/>
          <p:nvPr/>
        </p:nvSpPr>
        <p:spPr>
          <a:xfrm>
            <a:off x="6176831" y="1684173"/>
            <a:ext cx="2603487" cy="1408602"/>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 1"/>
          <p:cNvSpPr>
            <a:spLocks noGrp="1"/>
          </p:cNvSpPr>
          <p:nvPr>
            <p:ph type="title"/>
          </p:nvPr>
        </p:nvSpPr>
        <p:spPr/>
        <p:txBody>
          <a:bodyPr/>
          <a:lstStyle/>
          <a:p>
            <a:r>
              <a:rPr lang="de-DE" dirty="0" smtClean="0"/>
              <a:t>Aufbau</a:t>
            </a:r>
            <a:endParaRPr lang="de-DE" dirty="0"/>
          </a:p>
        </p:txBody>
      </p:sp>
      <p:pic>
        <p:nvPicPr>
          <p:cNvPr id="5" name="Grafik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6616" y="4803314"/>
            <a:ext cx="1219370" cy="1219370"/>
          </a:xfrm>
          <a:prstGeom prst="rect">
            <a:avLst/>
          </a:prstGeom>
          <a:ln w="12700">
            <a:solidFill>
              <a:schemeClr val="tx1"/>
            </a:solidFill>
          </a:ln>
        </p:spPr>
      </p:pic>
      <p:pic>
        <p:nvPicPr>
          <p:cNvPr id="6" name="Picture 6" descr="Datei:Bbb logo.png"/>
          <p:cNvPicPr>
            <a:picLocks noChangeAspect="1" noChangeArrowheads="1"/>
          </p:cNvPicPr>
          <p:nvPr/>
        </p:nvPicPr>
        <p:blipFill rotWithShape="1">
          <a:blip r:embed="rId4">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5393701" y="4552075"/>
            <a:ext cx="493824" cy="484468"/>
          </a:xfrm>
          <a:prstGeom prst="rect">
            <a:avLst/>
          </a:prstGeom>
          <a:noFill/>
          <a:extLst>
            <a:ext uri="{909E8E84-426E-40DD-AFC4-6F175D3DCCD1}">
              <a14:hiddenFill xmlns:a14="http://schemas.microsoft.com/office/drawing/2010/main">
                <a:solidFill>
                  <a:srgbClr val="FFFFFF"/>
                </a:solidFill>
              </a14:hiddenFill>
            </a:ext>
          </a:extLst>
        </p:spPr>
      </p:pic>
      <p:sp>
        <p:nvSpPr>
          <p:cNvPr id="8" name="Rechteck 7"/>
          <p:cNvSpPr/>
          <p:nvPr/>
        </p:nvSpPr>
        <p:spPr>
          <a:xfrm>
            <a:off x="364079" y="1242778"/>
            <a:ext cx="918102" cy="334659"/>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1</a:t>
            </a:r>
            <a:endParaRPr lang="de-DE" dirty="0">
              <a:solidFill>
                <a:sysClr val="windowText" lastClr="000000"/>
              </a:solidFill>
            </a:endParaRPr>
          </a:p>
        </p:txBody>
      </p:sp>
      <p:sp>
        <p:nvSpPr>
          <p:cNvPr id="9" name="Rechteck 8"/>
          <p:cNvSpPr/>
          <p:nvPr/>
        </p:nvSpPr>
        <p:spPr>
          <a:xfrm>
            <a:off x="3614021" y="1242778"/>
            <a:ext cx="918102" cy="334659"/>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2</a:t>
            </a:r>
            <a:endParaRPr lang="de-DE" dirty="0">
              <a:solidFill>
                <a:sysClr val="windowText" lastClr="000000"/>
              </a:solidFill>
            </a:endParaRPr>
          </a:p>
        </p:txBody>
      </p:sp>
      <p:sp>
        <p:nvSpPr>
          <p:cNvPr id="10" name="Rechteck 9"/>
          <p:cNvSpPr/>
          <p:nvPr/>
        </p:nvSpPr>
        <p:spPr>
          <a:xfrm>
            <a:off x="6146518" y="1253104"/>
            <a:ext cx="918102" cy="334659"/>
          </a:xfrm>
          <a:prstGeom prst="rect">
            <a:avLst/>
          </a:prstGeom>
          <a:solidFill>
            <a:srgbClr val="66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solidFill>
                  <a:sysClr val="windowText" lastClr="000000"/>
                </a:solidFill>
              </a:rPr>
              <a:t>Raum 3</a:t>
            </a:r>
            <a:endParaRPr lang="de-DE" dirty="0">
              <a:solidFill>
                <a:sysClr val="windowText" lastClr="000000"/>
              </a:solidFill>
            </a:endParaRPr>
          </a:p>
        </p:txBody>
      </p:sp>
      <p:grpSp>
        <p:nvGrpSpPr>
          <p:cNvPr id="31" name="Gruppieren 30"/>
          <p:cNvGrpSpPr/>
          <p:nvPr/>
        </p:nvGrpSpPr>
        <p:grpSpPr>
          <a:xfrm>
            <a:off x="3614021" y="1720342"/>
            <a:ext cx="2346810" cy="1408602"/>
            <a:chOff x="177813" y="220198"/>
            <a:chExt cx="2346810" cy="1408602"/>
          </a:xfrm>
        </p:grpSpPr>
        <p:sp>
          <p:nvSpPr>
            <p:cNvPr id="32" name="Rechteck 31"/>
            <p:cNvSpPr/>
            <p:nvPr/>
          </p:nvSpPr>
          <p:spPr>
            <a:xfrm>
              <a:off x="177813" y="220198"/>
              <a:ext cx="2346810" cy="1408602"/>
            </a:xfrm>
            <a:prstGeom prst="rect">
              <a:avLst/>
            </a:prstGeom>
            <a:solidFill>
              <a:srgbClr val="FF7C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nvGrpSpPr>
            <p:cNvPr id="33" name="Gruppieren 32"/>
            <p:cNvGrpSpPr/>
            <p:nvPr/>
          </p:nvGrpSpPr>
          <p:grpSpPr>
            <a:xfrm>
              <a:off x="1660624" y="244749"/>
              <a:ext cx="751136" cy="952003"/>
              <a:chOff x="1660624" y="244749"/>
              <a:chExt cx="751136" cy="952003"/>
            </a:xfrm>
          </p:grpSpPr>
          <p:pic>
            <p:nvPicPr>
              <p:cNvPr id="48" name="Grafik 47"/>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49" name="Grafik 48"/>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50" name="Rechteck 49"/>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34" name="Gruppieren 33"/>
            <p:cNvGrpSpPr/>
            <p:nvPr/>
          </p:nvGrpSpPr>
          <p:grpSpPr>
            <a:xfrm>
              <a:off x="1958155" y="1216341"/>
              <a:ext cx="453605" cy="320862"/>
              <a:chOff x="1814139" y="1221303"/>
              <a:chExt cx="3731830" cy="2639745"/>
            </a:xfrm>
          </p:grpSpPr>
          <p:pic>
            <p:nvPicPr>
              <p:cNvPr id="46" name="Grafik 45"/>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47"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35" name="Gerade Verbindung mit Pfeil 11"/>
            <p:cNvCxnSpPr>
              <a:stCxn id="46" idx="1"/>
            </p:cNvCxnSpPr>
            <p:nvPr/>
          </p:nvCxnSpPr>
          <p:spPr>
            <a:xfrm rot="10800000">
              <a:off x="1834397" y="1216346"/>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Gerade Verbindung mit Pfeil 35"/>
            <p:cNvCxnSpPr>
              <a:stCxn id="50" idx="1"/>
            </p:cNvCxnSpPr>
            <p:nvPr/>
          </p:nvCxnSpPr>
          <p:spPr>
            <a:xfrm flipH="1" flipV="1">
              <a:off x="1504085" y="720750"/>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uppieren 36"/>
            <p:cNvGrpSpPr/>
            <p:nvPr/>
          </p:nvGrpSpPr>
          <p:grpSpPr>
            <a:xfrm>
              <a:off x="236029" y="264338"/>
              <a:ext cx="1251794" cy="1292454"/>
              <a:chOff x="236029" y="244749"/>
              <a:chExt cx="1251794" cy="1292454"/>
            </a:xfrm>
          </p:grpSpPr>
          <p:grpSp>
            <p:nvGrpSpPr>
              <p:cNvPr id="38" name="Gruppieren 37"/>
              <p:cNvGrpSpPr/>
              <p:nvPr/>
            </p:nvGrpSpPr>
            <p:grpSpPr>
              <a:xfrm>
                <a:off x="253829" y="279156"/>
                <a:ext cx="1219200" cy="1219200"/>
                <a:chOff x="251520" y="263116"/>
                <a:chExt cx="1219200" cy="1219200"/>
              </a:xfrm>
            </p:grpSpPr>
            <p:pic>
              <p:nvPicPr>
                <p:cNvPr id="40" name="Grafik 39"/>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41" name="Grafik 40"/>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42" name="Grafik 41"/>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43" name="Grafik 42"/>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44" name="Grafik 43"/>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45" name="Grafik 4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39" name="Rechteck 38"/>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cxnSp>
        <p:nvCxnSpPr>
          <p:cNvPr id="73" name="Gerade Verbindung mit Pfeil 1039"/>
          <p:cNvCxnSpPr>
            <a:stCxn id="190" idx="2"/>
            <a:endCxn id="95" idx="0"/>
          </p:cNvCxnSpPr>
          <p:nvPr/>
        </p:nvCxnSpPr>
        <p:spPr>
          <a:xfrm rot="16200000" flipH="1">
            <a:off x="2134668" y="1999777"/>
            <a:ext cx="1508326" cy="3686707"/>
          </a:xfrm>
          <a:prstGeom prst="bentConnector3">
            <a:avLst>
              <a:gd name="adj1" fmla="val 64840"/>
            </a:avLst>
          </a:prstGeom>
          <a:ln w="38100">
            <a:solidFill>
              <a:srgbClr val="E20074"/>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4" name="Gerade Verbindung mit Pfeil 1039"/>
          <p:cNvCxnSpPr>
            <a:stCxn id="6" idx="0"/>
            <a:endCxn id="184" idx="2"/>
          </p:cNvCxnSpPr>
          <p:nvPr/>
        </p:nvCxnSpPr>
        <p:spPr>
          <a:xfrm rot="16200000" flipV="1">
            <a:off x="3263214" y="2174675"/>
            <a:ext cx="1482696" cy="3272103"/>
          </a:xfrm>
          <a:prstGeom prst="bentConnector3">
            <a:avLst>
              <a:gd name="adj1" fmla="val 50000"/>
            </a:avLst>
          </a:prstGeom>
          <a:ln w="25400">
            <a:solidFill>
              <a:srgbClr val="00206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77" name="Gerade Verbindung mit Pfeil 1039"/>
          <p:cNvCxnSpPr>
            <a:stCxn id="143" idx="2"/>
            <a:endCxn id="95" idx="0"/>
          </p:cNvCxnSpPr>
          <p:nvPr/>
        </p:nvCxnSpPr>
        <p:spPr>
          <a:xfrm rot="5400000">
            <a:off x="5066737" y="2689161"/>
            <a:ext cx="1573582" cy="2242685"/>
          </a:xfrm>
          <a:prstGeom prst="bentConnector3">
            <a:avLst>
              <a:gd name="adj1" fmla="val 66343"/>
            </a:avLst>
          </a:prstGeom>
          <a:ln w="38100">
            <a:solidFill>
              <a:srgbClr val="E20074"/>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78" name="Gerade Verbindung mit Pfeil 1039"/>
          <p:cNvCxnSpPr>
            <a:stCxn id="6" idx="0"/>
            <a:endCxn id="150" idx="2"/>
          </p:cNvCxnSpPr>
          <p:nvPr/>
        </p:nvCxnSpPr>
        <p:spPr>
          <a:xfrm rot="5400000" flipH="1" flipV="1">
            <a:off x="6195281" y="2449455"/>
            <a:ext cx="1547952" cy="2657289"/>
          </a:xfrm>
          <a:prstGeom prst="bentConnector3">
            <a:avLst>
              <a:gd name="adj1" fmla="val 47846"/>
            </a:avLst>
          </a:prstGeom>
          <a:ln w="25400">
            <a:solidFill>
              <a:srgbClr val="00206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95" name="Textfeld 94"/>
          <p:cNvSpPr txBox="1"/>
          <p:nvPr/>
        </p:nvSpPr>
        <p:spPr>
          <a:xfrm>
            <a:off x="4392188" y="4597294"/>
            <a:ext cx="679994" cy="400110"/>
          </a:xfrm>
          <a:prstGeom prst="rect">
            <a:avLst/>
          </a:prstGeom>
          <a:solidFill>
            <a:srgbClr val="E20074"/>
          </a:solidFill>
        </p:spPr>
        <p:txBody>
          <a:bodyPr wrap="none" rtlCol="0">
            <a:spAutoFit/>
          </a:bodyPr>
          <a:lstStyle/>
          <a:p>
            <a:r>
              <a:rPr lang="de-DE" sz="2000" b="1" dirty="0" smtClean="0">
                <a:solidFill>
                  <a:schemeClr val="bg1"/>
                </a:solidFill>
              </a:rPr>
              <a:t>DIAL</a:t>
            </a:r>
            <a:endParaRPr lang="de-DE" sz="2000" b="1" dirty="0">
              <a:solidFill>
                <a:schemeClr val="bg1"/>
              </a:solidFill>
            </a:endParaRPr>
          </a:p>
        </p:txBody>
      </p:sp>
      <p:cxnSp>
        <p:nvCxnSpPr>
          <p:cNvPr id="108" name="Gerade Verbindung mit Pfeil 107"/>
          <p:cNvCxnSpPr/>
          <p:nvPr/>
        </p:nvCxnSpPr>
        <p:spPr>
          <a:xfrm>
            <a:off x="4731694" y="3108226"/>
            <a:ext cx="0" cy="1489068"/>
          </a:xfrm>
          <a:prstGeom prst="straightConnector1">
            <a:avLst/>
          </a:prstGeom>
          <a:ln w="38100">
            <a:solidFill>
              <a:srgbClr val="E20074"/>
            </a:solidFill>
            <a:prstDash val="lg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2" name="Gerade Verbindung mit Pfeil 111"/>
          <p:cNvCxnSpPr/>
          <p:nvPr/>
        </p:nvCxnSpPr>
        <p:spPr>
          <a:xfrm>
            <a:off x="5638804" y="3056605"/>
            <a:ext cx="0" cy="1495470"/>
          </a:xfrm>
          <a:prstGeom prst="straightConnector1">
            <a:avLst/>
          </a:prstGeom>
          <a:ln w="28575">
            <a:solidFill>
              <a:srgbClr val="002060"/>
            </a:solidFill>
            <a:prstDash val="sysDash"/>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Gerade Verbindung mit Pfeil 1039"/>
          <p:cNvCxnSpPr/>
          <p:nvPr/>
        </p:nvCxnSpPr>
        <p:spPr>
          <a:xfrm rot="16200000" flipH="1">
            <a:off x="531550" y="2725107"/>
            <a:ext cx="632304" cy="388775"/>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3" name="Gerade Verbindung mit Pfeil 1039"/>
          <p:cNvCxnSpPr/>
          <p:nvPr/>
        </p:nvCxnSpPr>
        <p:spPr>
          <a:xfrm rot="16200000" flipH="1">
            <a:off x="387450" y="2512956"/>
            <a:ext cx="1025519" cy="272383"/>
          </a:xfrm>
          <a:prstGeom prst="bentConnector3">
            <a:avLst>
              <a:gd name="adj1" fmla="val 75939"/>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27" name="Gerade Verbindung mit Pfeil 1039"/>
          <p:cNvCxnSpPr/>
          <p:nvPr/>
        </p:nvCxnSpPr>
        <p:spPr>
          <a:xfrm rot="5400000">
            <a:off x="690738" y="2499448"/>
            <a:ext cx="783054" cy="56932"/>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0" name="Gerade Verbindung mit Pfeil 1039"/>
          <p:cNvCxnSpPr>
            <a:stCxn id="25" idx="2"/>
          </p:cNvCxnSpPr>
          <p:nvPr/>
        </p:nvCxnSpPr>
        <p:spPr>
          <a:xfrm rot="5400000">
            <a:off x="885992" y="2745767"/>
            <a:ext cx="645980" cy="333782"/>
          </a:xfrm>
          <a:prstGeom prst="bentConnector3">
            <a:avLst>
              <a:gd name="adj1" fmla="val 50000"/>
            </a:avLst>
          </a:prstGeom>
          <a:ln w="38100">
            <a:solidFill>
              <a:srgbClr val="E20074"/>
            </a:solidFill>
            <a:prstDash val="lg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33" name="Abgerundete rechteckige Legende 132"/>
          <p:cNvSpPr/>
          <p:nvPr/>
        </p:nvSpPr>
        <p:spPr>
          <a:xfrm>
            <a:off x="6667947" y="4660331"/>
            <a:ext cx="2310559" cy="1151491"/>
          </a:xfrm>
          <a:prstGeom prst="wedgeRoundRectCallout">
            <a:avLst>
              <a:gd name="adj1" fmla="val 6231"/>
              <a:gd name="adj2" fmla="val -1140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de-DE" dirty="0" smtClean="0"/>
              <a:t>Mediendaten </a:t>
            </a:r>
            <a:br>
              <a:rPr lang="de-DE" dirty="0" smtClean="0"/>
            </a:br>
            <a:r>
              <a:rPr lang="de-DE" dirty="0" smtClean="0"/>
              <a:t>(Video &amp; Audio)</a:t>
            </a:r>
          </a:p>
          <a:p>
            <a:pPr marL="285750" indent="-285750">
              <a:buFont typeface="Arial" panose="020B0604020202020204" pitchFamily="34" charset="0"/>
              <a:buChar char="•"/>
            </a:pPr>
            <a:r>
              <a:rPr lang="de-DE" dirty="0" smtClean="0"/>
              <a:t>Interaktion </a:t>
            </a:r>
            <a:br>
              <a:rPr lang="de-DE" dirty="0" smtClean="0"/>
            </a:br>
            <a:r>
              <a:rPr lang="de-DE" dirty="0" smtClean="0"/>
              <a:t>(Umfragen, Chat)</a:t>
            </a:r>
            <a:endParaRPr lang="de-DE" dirty="0"/>
          </a:p>
        </p:txBody>
      </p:sp>
      <p:sp>
        <p:nvSpPr>
          <p:cNvPr id="134" name="Abgerundete rechteckige Legende 133"/>
          <p:cNvSpPr/>
          <p:nvPr/>
        </p:nvSpPr>
        <p:spPr>
          <a:xfrm>
            <a:off x="914973" y="4705836"/>
            <a:ext cx="2381682" cy="673689"/>
          </a:xfrm>
          <a:prstGeom prst="wedgeRoundRectCallout">
            <a:avLst>
              <a:gd name="adj1" fmla="val -2928"/>
              <a:gd name="adj2" fmla="val -162057"/>
              <a:gd name="adj3" fmla="val 16667"/>
            </a:avLst>
          </a:prstGeom>
          <a:solidFill>
            <a:srgbClr val="E2007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de-DE" dirty="0" smtClean="0"/>
              <a:t>Interaktion </a:t>
            </a:r>
            <a:br>
              <a:rPr lang="de-DE" dirty="0" smtClean="0"/>
            </a:br>
            <a:r>
              <a:rPr lang="de-DE" dirty="0" smtClean="0"/>
              <a:t>(Umfragen, Chat)</a:t>
            </a:r>
            <a:endParaRPr lang="de-DE" dirty="0"/>
          </a:p>
        </p:txBody>
      </p:sp>
      <p:grpSp>
        <p:nvGrpSpPr>
          <p:cNvPr id="136" name="Gruppieren 135"/>
          <p:cNvGrpSpPr/>
          <p:nvPr/>
        </p:nvGrpSpPr>
        <p:grpSpPr>
          <a:xfrm>
            <a:off x="6348973" y="1711669"/>
            <a:ext cx="2175731" cy="1312043"/>
            <a:chOff x="236029" y="244749"/>
            <a:chExt cx="2175731" cy="1312043"/>
          </a:xfrm>
        </p:grpSpPr>
        <p:grpSp>
          <p:nvGrpSpPr>
            <p:cNvPr id="137" name="Gruppieren 136"/>
            <p:cNvGrpSpPr/>
            <p:nvPr/>
          </p:nvGrpSpPr>
          <p:grpSpPr>
            <a:xfrm>
              <a:off x="1660624" y="244749"/>
              <a:ext cx="751136" cy="952003"/>
              <a:chOff x="1660624" y="244749"/>
              <a:chExt cx="751136" cy="952003"/>
            </a:xfrm>
          </p:grpSpPr>
          <p:pic>
            <p:nvPicPr>
              <p:cNvPr id="152" name="Grafik 151"/>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153" name="Grafik 152"/>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154" name="Rechteck 153"/>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38" name="Gruppieren 137"/>
            <p:cNvGrpSpPr/>
            <p:nvPr/>
          </p:nvGrpSpPr>
          <p:grpSpPr>
            <a:xfrm>
              <a:off x="1958155" y="1216341"/>
              <a:ext cx="453605" cy="320862"/>
              <a:chOff x="1814139" y="1221303"/>
              <a:chExt cx="3731830" cy="2639745"/>
            </a:xfrm>
          </p:grpSpPr>
          <p:pic>
            <p:nvPicPr>
              <p:cNvPr id="150" name="Grafik 149"/>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151"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39" name="Gerade Verbindung mit Pfeil 11"/>
            <p:cNvCxnSpPr>
              <a:stCxn id="150" idx="1"/>
            </p:cNvCxnSpPr>
            <p:nvPr/>
          </p:nvCxnSpPr>
          <p:spPr>
            <a:xfrm rot="10800000">
              <a:off x="1834397" y="1216346"/>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0" name="Gerade Verbindung mit Pfeil 139"/>
            <p:cNvCxnSpPr>
              <a:stCxn id="154" idx="1"/>
            </p:cNvCxnSpPr>
            <p:nvPr/>
          </p:nvCxnSpPr>
          <p:spPr>
            <a:xfrm flipH="1" flipV="1">
              <a:off x="1504085" y="720750"/>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41" name="Gruppieren 140"/>
            <p:cNvGrpSpPr/>
            <p:nvPr/>
          </p:nvGrpSpPr>
          <p:grpSpPr>
            <a:xfrm>
              <a:off x="236029" y="264338"/>
              <a:ext cx="1251794" cy="1292454"/>
              <a:chOff x="236029" y="244749"/>
              <a:chExt cx="1251794" cy="1292454"/>
            </a:xfrm>
          </p:grpSpPr>
          <p:grpSp>
            <p:nvGrpSpPr>
              <p:cNvPr id="142" name="Gruppieren 141"/>
              <p:cNvGrpSpPr/>
              <p:nvPr/>
            </p:nvGrpSpPr>
            <p:grpSpPr>
              <a:xfrm>
                <a:off x="253829" y="279156"/>
                <a:ext cx="1219200" cy="1219200"/>
                <a:chOff x="251520" y="263116"/>
                <a:chExt cx="1219200" cy="1219200"/>
              </a:xfrm>
            </p:grpSpPr>
            <p:pic>
              <p:nvPicPr>
                <p:cNvPr id="144" name="Grafik 143"/>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145" name="Grafik 14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146" name="Grafik 145"/>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147" name="Grafik 146"/>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148" name="Grafik 147"/>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149" name="Grafik 148"/>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143" name="Rechteck 142"/>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cxnSp>
        <p:nvCxnSpPr>
          <p:cNvPr id="178" name="Gerade Verbindung mit Pfeil 11"/>
          <p:cNvCxnSpPr/>
          <p:nvPr/>
        </p:nvCxnSpPr>
        <p:spPr>
          <a:xfrm rot="5400000">
            <a:off x="2666086" y="2527867"/>
            <a:ext cx="310309" cy="451856"/>
          </a:xfrm>
          <a:prstGeom prst="bentConnector2">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179" name="Gruppieren 178"/>
          <p:cNvGrpSpPr/>
          <p:nvPr/>
        </p:nvGrpSpPr>
        <p:grpSpPr>
          <a:xfrm>
            <a:off x="1844176" y="1776925"/>
            <a:ext cx="751136" cy="952003"/>
            <a:chOff x="1660624" y="244749"/>
            <a:chExt cx="751136" cy="952003"/>
          </a:xfrm>
        </p:grpSpPr>
        <p:pic>
          <p:nvPicPr>
            <p:cNvPr id="180" name="Grafik 179"/>
            <p:cNvPicPr>
              <a:picLocks noChangeAspect="1"/>
            </p:cNvPicPr>
            <p:nvPr/>
          </p:nvPicPr>
          <p:blipFill rotWithShape="1">
            <a:blip r:embed="rId5" cstate="print">
              <a:extLst>
                <a:ext uri="{28A0092B-C50C-407E-A947-70E740481C1C}">
                  <a14:useLocalDpi xmlns:a14="http://schemas.microsoft.com/office/drawing/2010/main" val="0"/>
                </a:ext>
              </a:extLst>
            </a:blip>
            <a:srcRect l="15026" r="13579"/>
            <a:stretch/>
          </p:blipFill>
          <p:spPr>
            <a:xfrm>
              <a:off x="1907704" y="764704"/>
              <a:ext cx="257050" cy="360040"/>
            </a:xfrm>
            <a:prstGeom prst="rect">
              <a:avLst/>
            </a:prstGeom>
          </p:spPr>
        </p:pic>
        <p:pic>
          <p:nvPicPr>
            <p:cNvPr id="181" name="Grafik 180"/>
            <p:cNvPicPr>
              <a:picLocks noChangeAspect="1"/>
            </p:cNvPicPr>
            <p:nvPr/>
          </p:nvPicPr>
          <p:blipFill rotWithShape="1">
            <a:blip r:embed="rId6">
              <a:extLst>
                <a:ext uri="{28A0092B-C50C-407E-A947-70E740481C1C}">
                  <a14:useLocalDpi xmlns:a14="http://schemas.microsoft.com/office/drawing/2010/main" val="0"/>
                </a:ext>
              </a:extLst>
            </a:blip>
            <a:srcRect t="15236" r="2750" b="19797"/>
            <a:stretch/>
          </p:blipFill>
          <p:spPr>
            <a:xfrm>
              <a:off x="1691680" y="279156"/>
              <a:ext cx="672916" cy="449544"/>
            </a:xfrm>
            <a:prstGeom prst="rect">
              <a:avLst/>
            </a:prstGeom>
          </p:spPr>
        </p:pic>
        <p:sp>
          <p:nvSpPr>
            <p:cNvPr id="182" name="Rechteck 181"/>
            <p:cNvSpPr/>
            <p:nvPr/>
          </p:nvSpPr>
          <p:spPr>
            <a:xfrm>
              <a:off x="1660624" y="244749"/>
              <a:ext cx="751136" cy="952003"/>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83" name="Gruppieren 182"/>
          <p:cNvGrpSpPr/>
          <p:nvPr/>
        </p:nvGrpSpPr>
        <p:grpSpPr>
          <a:xfrm>
            <a:off x="2141707" y="2748517"/>
            <a:ext cx="453605" cy="320862"/>
            <a:chOff x="1814139" y="1221303"/>
            <a:chExt cx="3731830" cy="2639745"/>
          </a:xfrm>
        </p:grpSpPr>
        <p:pic>
          <p:nvPicPr>
            <p:cNvPr id="184" name="Grafik 183"/>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185"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86" name="Gerade Verbindung mit Pfeil 11"/>
          <p:cNvCxnSpPr>
            <a:stCxn id="184" idx="1"/>
          </p:cNvCxnSpPr>
          <p:nvPr/>
        </p:nvCxnSpPr>
        <p:spPr>
          <a:xfrm rot="10800000">
            <a:off x="2017949" y="2748522"/>
            <a:ext cx="123758" cy="160426"/>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Gerade Verbindung mit Pfeil 186"/>
          <p:cNvCxnSpPr>
            <a:stCxn id="182" idx="1"/>
          </p:cNvCxnSpPr>
          <p:nvPr/>
        </p:nvCxnSpPr>
        <p:spPr>
          <a:xfrm flipH="1" flipV="1">
            <a:off x="1687637" y="2252926"/>
            <a:ext cx="156539"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88" name="Gruppieren 187"/>
          <p:cNvGrpSpPr/>
          <p:nvPr/>
        </p:nvGrpSpPr>
        <p:grpSpPr>
          <a:xfrm>
            <a:off x="419581" y="1796514"/>
            <a:ext cx="1251794" cy="1292454"/>
            <a:chOff x="236029" y="244749"/>
            <a:chExt cx="1251794" cy="1292454"/>
          </a:xfrm>
        </p:grpSpPr>
        <p:grpSp>
          <p:nvGrpSpPr>
            <p:cNvPr id="189" name="Gruppieren 188"/>
            <p:cNvGrpSpPr/>
            <p:nvPr/>
          </p:nvGrpSpPr>
          <p:grpSpPr>
            <a:xfrm>
              <a:off x="253829" y="279156"/>
              <a:ext cx="1219200" cy="1219200"/>
              <a:chOff x="251520" y="263116"/>
              <a:chExt cx="1219200" cy="1219200"/>
            </a:xfrm>
          </p:grpSpPr>
          <p:pic>
            <p:nvPicPr>
              <p:cNvPr id="191" name="Grafik 190"/>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51520" y="263116"/>
                <a:ext cx="1219200" cy="1219200"/>
              </a:xfrm>
              <a:prstGeom prst="rect">
                <a:avLst/>
              </a:prstGeom>
              <a:noFill/>
              <a:ln w="12700">
                <a:noFill/>
              </a:ln>
            </p:spPr>
          </p:pic>
          <p:pic>
            <p:nvPicPr>
              <p:cNvPr id="192" name="Grafik 191"/>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441080" y="404664"/>
                <a:ext cx="98472" cy="180020"/>
              </a:xfrm>
              <a:prstGeom prst="rect">
                <a:avLst/>
              </a:prstGeom>
            </p:spPr>
          </p:pic>
          <p:pic>
            <p:nvPicPr>
              <p:cNvPr id="193" name="Grafik 192"/>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873128" y="404664"/>
                <a:ext cx="98472" cy="180020"/>
              </a:xfrm>
              <a:prstGeom prst="rect">
                <a:avLst/>
              </a:prstGeom>
            </p:spPr>
          </p:pic>
          <p:pic>
            <p:nvPicPr>
              <p:cNvPr id="194" name="Grafik 193"/>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320162" y="871227"/>
                <a:ext cx="98472" cy="180020"/>
              </a:xfrm>
              <a:prstGeom prst="rect">
                <a:avLst/>
              </a:prstGeom>
            </p:spPr>
          </p:pic>
          <p:pic>
            <p:nvPicPr>
              <p:cNvPr id="195" name="Grafik 194"/>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729112" y="871227"/>
                <a:ext cx="98472" cy="180020"/>
              </a:xfrm>
              <a:prstGeom prst="rect">
                <a:avLst/>
              </a:prstGeom>
            </p:spPr>
          </p:pic>
          <p:pic>
            <p:nvPicPr>
              <p:cNvPr id="196" name="Grafik 195"/>
              <p:cNvPicPr>
                <a:picLocks noChangeAspect="1"/>
              </p:cNvPicPr>
              <p:nvPr/>
            </p:nvPicPr>
            <p:blipFill rotWithShape="1">
              <a:blip r:embed="rId10" cstate="print">
                <a:extLst>
                  <a:ext uri="{28A0092B-C50C-407E-A947-70E740481C1C}">
                    <a14:useLocalDpi xmlns:a14="http://schemas.microsoft.com/office/drawing/2010/main" val="0"/>
                  </a:ext>
                </a:extLst>
              </a:blip>
              <a:srcRect l="23443" r="21856"/>
              <a:stretch/>
            </p:blipFill>
            <p:spPr>
              <a:xfrm>
                <a:off x="1138062" y="871227"/>
                <a:ext cx="98472" cy="180020"/>
              </a:xfrm>
              <a:prstGeom prst="rect">
                <a:avLst/>
              </a:prstGeom>
            </p:spPr>
          </p:pic>
        </p:grpSp>
        <p:sp>
          <p:nvSpPr>
            <p:cNvPr id="190" name="Rechteck 189"/>
            <p:cNvSpPr/>
            <p:nvPr/>
          </p:nvSpPr>
          <p:spPr>
            <a:xfrm>
              <a:off x="236029" y="244749"/>
              <a:ext cx="1251794" cy="1292454"/>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grpSp>
      <p:pic>
        <p:nvPicPr>
          <p:cNvPr id="197" name="Grafik 196"/>
          <p:cNvPicPr>
            <a:picLocks noChangeAspect="1"/>
          </p:cNvPicPr>
          <p:nvPr/>
        </p:nvPicPr>
        <p:blipFill>
          <a:blip r:embed="rId11"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2701455" y="1907213"/>
            <a:ext cx="691426" cy="691426"/>
          </a:xfrm>
          <a:prstGeom prst="rect">
            <a:avLst/>
          </a:prstGeom>
        </p:spPr>
      </p:pic>
      <p:grpSp>
        <p:nvGrpSpPr>
          <p:cNvPr id="225" name="Gruppieren 224"/>
          <p:cNvGrpSpPr/>
          <p:nvPr/>
        </p:nvGrpSpPr>
        <p:grpSpPr>
          <a:xfrm>
            <a:off x="3461029" y="6074303"/>
            <a:ext cx="850616" cy="585857"/>
            <a:chOff x="1814139" y="1221303"/>
            <a:chExt cx="3731830" cy="2639745"/>
          </a:xfrm>
        </p:grpSpPr>
        <p:pic>
          <p:nvPicPr>
            <p:cNvPr id="237" name="Grafik 236"/>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38"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226" name="Gerade Verbindung mit Pfeil 11"/>
          <p:cNvCxnSpPr>
            <a:stCxn id="237" idx="3"/>
            <a:endCxn id="5" idx="2"/>
          </p:cNvCxnSpPr>
          <p:nvPr/>
        </p:nvCxnSpPr>
        <p:spPr>
          <a:xfrm flipV="1">
            <a:off x="4311645" y="6022684"/>
            <a:ext cx="854656" cy="344548"/>
          </a:xfrm>
          <a:prstGeom prst="bentConnector2">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44" name="Gruppieren 243"/>
          <p:cNvGrpSpPr/>
          <p:nvPr/>
        </p:nvGrpSpPr>
        <p:grpSpPr>
          <a:xfrm>
            <a:off x="3257426" y="5906402"/>
            <a:ext cx="850616" cy="585857"/>
            <a:chOff x="1814139" y="1221303"/>
            <a:chExt cx="3731830" cy="2639745"/>
          </a:xfrm>
        </p:grpSpPr>
        <p:pic>
          <p:nvPicPr>
            <p:cNvPr id="245" name="Grafik 244"/>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6"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7" name="Gruppieren 246"/>
          <p:cNvGrpSpPr/>
          <p:nvPr/>
        </p:nvGrpSpPr>
        <p:grpSpPr>
          <a:xfrm>
            <a:off x="3085125" y="5736155"/>
            <a:ext cx="850616" cy="585857"/>
            <a:chOff x="1814139" y="1221303"/>
            <a:chExt cx="3731830" cy="2639745"/>
          </a:xfrm>
        </p:grpSpPr>
        <p:pic>
          <p:nvPicPr>
            <p:cNvPr id="248" name="Grafik 247"/>
            <p:cNvPicPr>
              <a:picLocks noChangeAspect="1"/>
            </p:cNvPicPr>
            <p:nvPr/>
          </p:nvPicPr>
          <p:blipFill rotWithShape="1">
            <a:blip r:embed="rId7" cstate="print">
              <a:extLst>
                <a:ext uri="{28A0092B-C50C-407E-A947-70E740481C1C}">
                  <a14:useLocalDpi xmlns:a14="http://schemas.microsoft.com/office/drawing/2010/main" val="0"/>
                </a:ext>
              </a:extLst>
            </a:blip>
            <a:srcRect t="13342" b="15506"/>
            <a:stretch/>
          </p:blipFill>
          <p:spPr>
            <a:xfrm>
              <a:off x="1814139" y="1221303"/>
              <a:ext cx="3731830" cy="2639745"/>
            </a:xfrm>
            <a:prstGeom prst="rect">
              <a:avLst/>
            </a:prstGeom>
          </p:spPr>
        </p:pic>
        <p:pic>
          <p:nvPicPr>
            <p:cNvPr id="249" name="Picture 6" descr="Datei:Bbb logo.png"/>
            <p:cNvPicPr>
              <a:picLocks noChangeAspect="1" noChangeArrowheads="1"/>
            </p:cNvPicPr>
            <p:nvPr/>
          </p:nvPicPr>
          <p:blipFill rotWithShape="1">
            <a:blip r:embed="rId8" cstate="print">
              <a:clrChange>
                <a:clrFrom>
                  <a:srgbClr val="000000">
                    <a:alpha val="0"/>
                  </a:srgbClr>
                </a:clrFrom>
                <a:clrTo>
                  <a:srgbClr val="000000">
                    <a:alpha val="0"/>
                  </a:srgbClr>
                </a:clrTo>
              </a:clrChange>
              <a:extLst>
                <a:ext uri="{28A0092B-C50C-407E-A947-70E740481C1C}">
                  <a14:useLocalDpi xmlns:a14="http://schemas.microsoft.com/office/drawing/2010/main" val="0"/>
                </a:ext>
              </a:extLst>
            </a:blip>
            <a:srcRect r="75077"/>
            <a:stretch/>
          </p:blipFill>
          <p:spPr bwMode="auto">
            <a:xfrm>
              <a:off x="3048198" y="1862319"/>
              <a:ext cx="1266190" cy="124220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779472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8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7"/>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7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08"/>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7"/>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36"/>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78"/>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3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3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2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226"/>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244"/>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2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9" grpId="0" animBg="1"/>
      <p:bldP spid="10" grpId="0" animBg="1"/>
      <p:bldP spid="95" grpId="0" animBg="1"/>
      <p:bldP spid="133" grpId="0" animBg="1"/>
      <p:bldP spid="1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6176685"/>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Architektur</a:t>
            </a:r>
            <a:endParaRPr lang="de-DE" dirty="0"/>
          </a:p>
        </p:txBody>
      </p:sp>
      <p:grpSp>
        <p:nvGrpSpPr>
          <p:cNvPr id="4" name="Gruppieren 3"/>
          <p:cNvGrpSpPr/>
          <p:nvPr/>
        </p:nvGrpSpPr>
        <p:grpSpPr>
          <a:xfrm>
            <a:off x="5905743" y="1118564"/>
            <a:ext cx="1894046" cy="1339772"/>
            <a:chOff x="755576" y="1067389"/>
            <a:chExt cx="2110070" cy="1492579"/>
          </a:xfrm>
        </p:grpSpPr>
        <p:pic>
          <p:nvPicPr>
            <p:cNvPr id="5" name="Grafik 4"/>
            <p:cNvPicPr>
              <a:picLocks noChangeAspect="1"/>
            </p:cNvPicPr>
            <p:nvPr/>
          </p:nvPicPr>
          <p:blipFill rotWithShape="1">
            <a:blip r:embed="rId3" cstate="print">
              <a:extLst>
                <a:ext uri="{28A0092B-C50C-407E-A947-70E740481C1C}">
                  <a14:useLocalDpi xmlns:a14="http://schemas.microsoft.com/office/drawing/2010/main" val="0"/>
                </a:ext>
              </a:extLst>
            </a:blip>
            <a:srcRect t="13342" b="15506"/>
            <a:stretch/>
          </p:blipFill>
          <p:spPr>
            <a:xfrm>
              <a:off x="755576" y="1067389"/>
              <a:ext cx="2110070" cy="1492579"/>
            </a:xfrm>
            <a:prstGeom prst="rect">
              <a:avLst/>
            </a:prstGeom>
          </p:spPr>
        </p:pic>
        <p:pic>
          <p:nvPicPr>
            <p:cNvPr id="6" name="Grafik 5"/>
            <p:cNvPicPr>
              <a:picLocks noChangeAspect="1"/>
            </p:cNvPicPr>
            <p:nvPr/>
          </p:nvPicPr>
          <p:blipFill rotWithShape="1">
            <a:blip r:embed="rId4">
              <a:extLst>
                <a:ext uri="{28A0092B-C50C-407E-A947-70E740481C1C}">
                  <a14:useLocalDpi xmlns:a14="http://schemas.microsoft.com/office/drawing/2010/main" val="0"/>
                </a:ext>
              </a:extLst>
            </a:blip>
            <a:srcRect r="74926"/>
            <a:stretch/>
          </p:blipFill>
          <p:spPr>
            <a:xfrm>
              <a:off x="1499913" y="1448459"/>
              <a:ext cx="621395" cy="605941"/>
            </a:xfrm>
            <a:prstGeom prst="rect">
              <a:avLst/>
            </a:prstGeom>
          </p:spPr>
        </p:pic>
      </p:grpSp>
      <p:grpSp>
        <p:nvGrpSpPr>
          <p:cNvPr id="29" name="Gruppieren 28"/>
          <p:cNvGrpSpPr/>
          <p:nvPr/>
        </p:nvGrpSpPr>
        <p:grpSpPr>
          <a:xfrm>
            <a:off x="2723380" y="1243062"/>
            <a:ext cx="940804" cy="1769909"/>
            <a:chOff x="2723380" y="1243062"/>
            <a:chExt cx="940804" cy="1769909"/>
          </a:xfrm>
        </p:grpSpPr>
        <p:pic>
          <p:nvPicPr>
            <p:cNvPr id="7" name="Grafik 6"/>
            <p:cNvPicPr>
              <a:picLocks noChangeAspect="1"/>
            </p:cNvPicPr>
            <p:nvPr/>
          </p:nvPicPr>
          <p:blipFill rotWithShape="1">
            <a:blip r:embed="rId5">
              <a:extLst>
                <a:ext uri="{28A0092B-C50C-407E-A947-70E740481C1C}">
                  <a14:useLocalDpi xmlns:a14="http://schemas.microsoft.com/office/drawing/2010/main" val="0"/>
                </a:ext>
              </a:extLst>
            </a:blip>
            <a:srcRect l="23624" r="23219"/>
            <a:stretch/>
          </p:blipFill>
          <p:spPr>
            <a:xfrm>
              <a:off x="2723380" y="1243062"/>
              <a:ext cx="940804" cy="1769909"/>
            </a:xfrm>
            <a:prstGeom prst="rect">
              <a:avLst/>
            </a:prstGeom>
          </p:spPr>
        </p:pic>
        <p:sp>
          <p:nvSpPr>
            <p:cNvPr id="8" name="Textfeld 7"/>
            <p:cNvSpPr txBox="1"/>
            <p:nvPr/>
          </p:nvSpPr>
          <p:spPr>
            <a:xfrm>
              <a:off x="2749214" y="1570529"/>
              <a:ext cx="914970" cy="764889"/>
            </a:xfrm>
            <a:prstGeom prst="rect">
              <a:avLst/>
            </a:prstGeom>
            <a:noFill/>
          </p:spPr>
          <p:txBody>
            <a:bodyPr wrap="square" rtlCol="0">
              <a:spAutoFit/>
            </a:bodyPr>
            <a:lstStyle/>
            <a:p>
              <a:pPr algn="ctr">
                <a:lnSpc>
                  <a:spcPts val="1300"/>
                </a:lnSpc>
              </a:pPr>
              <a:r>
                <a:rPr lang="de-DE" sz="2800" b="1" dirty="0" smtClean="0">
                  <a:solidFill>
                    <a:srgbClr val="E20074"/>
                  </a:solidFill>
                </a:rPr>
                <a:t>DIAL</a:t>
              </a:r>
              <a:r>
                <a:rPr lang="de-DE" dirty="0" smtClean="0"/>
                <a:t/>
              </a:r>
              <a:br>
                <a:rPr lang="de-DE" dirty="0" smtClean="0"/>
              </a:br>
              <a:endParaRPr lang="de-DE" dirty="0" smtClean="0"/>
            </a:p>
            <a:p>
              <a:pPr algn="ctr">
                <a:lnSpc>
                  <a:spcPts val="1300"/>
                </a:lnSpc>
              </a:pPr>
              <a:r>
                <a:rPr lang="de-DE" sz="1400" dirty="0" err="1" smtClean="0"/>
                <a:t>powered</a:t>
              </a:r>
              <a:r>
                <a:rPr lang="de-DE" sz="1400" dirty="0" smtClean="0"/>
                <a:t> </a:t>
              </a:r>
              <a:r>
                <a:rPr lang="de-DE" sz="1400" dirty="0" err="1" smtClean="0"/>
                <a:t>by</a:t>
              </a:r>
              <a:endParaRPr lang="de-DE" sz="1200" dirty="0"/>
            </a:p>
          </p:txBody>
        </p:sp>
        <p:pic>
          <p:nvPicPr>
            <p:cNvPr id="9" name="Grafik 8"/>
            <p:cNvPicPr>
              <a:picLocks noChangeAspect="1"/>
            </p:cNvPicPr>
            <p:nvPr/>
          </p:nvPicPr>
          <p:blipFill rotWithShape="1">
            <a:blip r:embed="rId4" cstate="print">
              <a:extLst>
                <a:ext uri="{28A0092B-C50C-407E-A947-70E740481C1C}">
                  <a14:useLocalDpi xmlns:a14="http://schemas.microsoft.com/office/drawing/2010/main" val="0"/>
                </a:ext>
              </a:extLst>
            </a:blip>
            <a:srcRect r="74926"/>
            <a:stretch/>
          </p:blipFill>
          <p:spPr>
            <a:xfrm>
              <a:off x="3051305" y="2376987"/>
              <a:ext cx="346702" cy="338080"/>
            </a:xfrm>
            <a:prstGeom prst="rect">
              <a:avLst/>
            </a:prstGeom>
          </p:spPr>
        </p:pic>
      </p:grpSp>
      <p:cxnSp>
        <p:nvCxnSpPr>
          <p:cNvPr id="10" name="Gerade Verbindung mit Pfeil 18"/>
          <p:cNvCxnSpPr>
            <a:endCxn id="7" idx="1"/>
          </p:cNvCxnSpPr>
          <p:nvPr/>
        </p:nvCxnSpPr>
        <p:spPr>
          <a:xfrm rot="5400000" flipH="1" flipV="1">
            <a:off x="1652632" y="2162045"/>
            <a:ext cx="1104776" cy="1036720"/>
          </a:xfrm>
          <a:prstGeom prst="bentConnector2">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1" name="Gerade Verbindung mit Pfeil 18"/>
          <p:cNvCxnSpPr>
            <a:stCxn id="7" idx="3"/>
          </p:cNvCxnSpPr>
          <p:nvPr/>
        </p:nvCxnSpPr>
        <p:spPr>
          <a:xfrm>
            <a:off x="3664184" y="2128017"/>
            <a:ext cx="936103" cy="998328"/>
          </a:xfrm>
          <a:prstGeom prst="bentConnector2">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2" name="Gerade Verbindung mit Pfeil 18"/>
          <p:cNvCxnSpPr>
            <a:stCxn id="28" idx="3"/>
            <a:endCxn id="16" idx="0"/>
          </p:cNvCxnSpPr>
          <p:nvPr/>
        </p:nvCxnSpPr>
        <p:spPr>
          <a:xfrm>
            <a:off x="7088905" y="1723924"/>
            <a:ext cx="743584" cy="1932082"/>
          </a:xfrm>
          <a:prstGeom prst="bentConnector2">
            <a:avLst/>
          </a:prstGeom>
          <a:ln w="25400">
            <a:solidFill>
              <a:srgbClr val="66CCFF"/>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hteck 12"/>
          <p:cNvSpPr/>
          <p:nvPr/>
        </p:nvSpPr>
        <p:spPr>
          <a:xfrm>
            <a:off x="559680" y="4664118"/>
            <a:ext cx="7848873" cy="996456"/>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r>
              <a:rPr lang="de-DE" sz="2400" dirty="0" err="1" smtClean="0"/>
              <a:t>BigBlueButton</a:t>
            </a:r>
            <a:r>
              <a:rPr lang="de-DE" sz="2400" dirty="0"/>
              <a:t>-</a:t>
            </a:r>
            <a:r>
              <a:rPr lang="de-DE" sz="2400" dirty="0" smtClean="0"/>
              <a:t>Kern</a:t>
            </a:r>
            <a:endParaRPr lang="de-DE" sz="2400" dirty="0"/>
          </a:p>
        </p:txBody>
      </p:sp>
      <p:sp>
        <p:nvSpPr>
          <p:cNvPr id="14" name="Rechteck 13"/>
          <p:cNvSpPr/>
          <p:nvPr/>
        </p:nvSpPr>
        <p:spPr>
          <a:xfrm>
            <a:off x="1154957" y="4050108"/>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smtClean="0"/>
              <a:t>MongoDB</a:t>
            </a:r>
            <a:endParaRPr lang="de-DE" dirty="0"/>
          </a:p>
        </p:txBody>
      </p:sp>
      <p:sp>
        <p:nvSpPr>
          <p:cNvPr id="15" name="Rechteck 14"/>
          <p:cNvSpPr/>
          <p:nvPr/>
        </p:nvSpPr>
        <p:spPr>
          <a:xfrm>
            <a:off x="3963269" y="4050108"/>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err="1" smtClean="0"/>
              <a:t>Redis</a:t>
            </a:r>
            <a:r>
              <a:rPr lang="de-DE" dirty="0" smtClean="0"/>
              <a:t> </a:t>
            </a:r>
            <a:r>
              <a:rPr lang="de-DE" dirty="0" err="1" smtClean="0"/>
              <a:t>PubSub</a:t>
            </a:r>
            <a:endParaRPr lang="de-DE" dirty="0"/>
          </a:p>
        </p:txBody>
      </p:sp>
      <p:sp>
        <p:nvSpPr>
          <p:cNvPr id="16" name="Rechteck 15"/>
          <p:cNvSpPr/>
          <p:nvPr/>
        </p:nvSpPr>
        <p:spPr>
          <a:xfrm>
            <a:off x="7256425" y="3656006"/>
            <a:ext cx="1152128" cy="1008112"/>
          </a:xfrm>
          <a:prstGeom prst="rect">
            <a:avLst/>
          </a:prstGeom>
          <a:gradFill flip="none" rotWithShape="1">
            <a:gsLst>
              <a:gs pos="0">
                <a:srgbClr val="0070C0">
                  <a:shade val="30000"/>
                  <a:satMod val="115000"/>
                </a:srgbClr>
              </a:gs>
              <a:gs pos="50000">
                <a:srgbClr val="0070C0">
                  <a:shade val="67500"/>
                  <a:satMod val="115000"/>
                </a:srgbClr>
              </a:gs>
              <a:gs pos="100000">
                <a:srgbClr val="0070C0">
                  <a:shade val="100000"/>
                  <a:satMod val="11500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BBB Client</a:t>
            </a:r>
            <a:endParaRPr lang="de-DE" dirty="0"/>
          </a:p>
        </p:txBody>
      </p:sp>
      <p:sp>
        <p:nvSpPr>
          <p:cNvPr id="21" name="Rechteck 20"/>
          <p:cNvSpPr/>
          <p:nvPr/>
        </p:nvSpPr>
        <p:spPr>
          <a:xfrm>
            <a:off x="1174800" y="1449156"/>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Chat lesen</a:t>
            </a:r>
            <a:endParaRPr lang="de-DE" dirty="0">
              <a:solidFill>
                <a:srgbClr val="E20074"/>
              </a:solidFill>
            </a:endParaRPr>
          </a:p>
        </p:txBody>
      </p:sp>
      <p:sp>
        <p:nvSpPr>
          <p:cNvPr id="22" name="Rechteck 21"/>
          <p:cNvSpPr/>
          <p:nvPr/>
        </p:nvSpPr>
        <p:spPr>
          <a:xfrm>
            <a:off x="366176" y="2056279"/>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Abfrage von</a:t>
            </a:r>
            <a:r>
              <a:rPr lang="de-DE" dirty="0">
                <a:solidFill>
                  <a:srgbClr val="E20074"/>
                </a:solidFill>
              </a:rPr>
              <a:t/>
            </a:r>
            <a:br>
              <a:rPr lang="de-DE" dirty="0">
                <a:solidFill>
                  <a:srgbClr val="E20074"/>
                </a:solidFill>
              </a:rPr>
            </a:br>
            <a:r>
              <a:rPr lang="de-DE" dirty="0" smtClean="0">
                <a:solidFill>
                  <a:srgbClr val="E20074"/>
                </a:solidFill>
              </a:rPr>
              <a:t>Umfragen</a:t>
            </a:r>
            <a:endParaRPr lang="de-DE" dirty="0">
              <a:solidFill>
                <a:srgbClr val="E20074"/>
              </a:solidFill>
            </a:endParaRPr>
          </a:p>
        </p:txBody>
      </p:sp>
      <p:sp>
        <p:nvSpPr>
          <p:cNvPr id="23" name="Rechteck 22"/>
          <p:cNvSpPr/>
          <p:nvPr/>
        </p:nvSpPr>
        <p:spPr>
          <a:xfrm>
            <a:off x="4255251" y="2209947"/>
            <a:ext cx="1420125"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de-DE" dirty="0" smtClean="0">
                <a:solidFill>
                  <a:srgbClr val="E20074"/>
                </a:solidFill>
              </a:rPr>
              <a:t>Teilnahme</a:t>
            </a:r>
            <a:br>
              <a:rPr lang="de-DE" dirty="0" smtClean="0">
                <a:solidFill>
                  <a:srgbClr val="E20074"/>
                </a:solidFill>
              </a:rPr>
            </a:br>
            <a:r>
              <a:rPr lang="de-DE" dirty="0" smtClean="0">
                <a:solidFill>
                  <a:srgbClr val="E20074"/>
                </a:solidFill>
              </a:rPr>
              <a:t>an Umfragen</a:t>
            </a:r>
            <a:endParaRPr lang="de-DE" dirty="0">
              <a:solidFill>
                <a:srgbClr val="E20074"/>
              </a:solidFill>
            </a:endParaRPr>
          </a:p>
        </p:txBody>
      </p:sp>
      <p:sp>
        <p:nvSpPr>
          <p:cNvPr id="24" name="Rechteck 23"/>
          <p:cNvSpPr/>
          <p:nvPr/>
        </p:nvSpPr>
        <p:spPr>
          <a:xfrm>
            <a:off x="3850691" y="1387713"/>
            <a:ext cx="1332557" cy="5956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de-DE" dirty="0" smtClean="0">
                <a:solidFill>
                  <a:srgbClr val="E20074"/>
                </a:solidFill>
              </a:rPr>
              <a:t>Chat schreiben</a:t>
            </a:r>
            <a:endParaRPr lang="de-DE" dirty="0">
              <a:solidFill>
                <a:srgbClr val="E20074"/>
              </a:solidFill>
            </a:endParaRPr>
          </a:p>
        </p:txBody>
      </p:sp>
      <p:sp>
        <p:nvSpPr>
          <p:cNvPr id="25" name="Rechteck 24"/>
          <p:cNvSpPr/>
          <p:nvPr/>
        </p:nvSpPr>
        <p:spPr>
          <a:xfrm>
            <a:off x="995885" y="3193885"/>
            <a:ext cx="4392489" cy="386329"/>
          </a:xfrm>
          <a:prstGeom prst="rect">
            <a:avLst/>
          </a:prstGeom>
          <a:solidFill>
            <a:srgbClr val="E200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smtClean="0"/>
              <a:t>DIAL Serverschnittstelle</a:t>
            </a:r>
            <a:endParaRPr lang="de-DE" dirty="0"/>
          </a:p>
        </p:txBody>
      </p:sp>
      <p:cxnSp>
        <p:nvCxnSpPr>
          <p:cNvPr id="26" name="Gerade Verbindung mit Pfeil 18"/>
          <p:cNvCxnSpPr>
            <a:stCxn id="14" idx="0"/>
          </p:cNvCxnSpPr>
          <p:nvPr/>
        </p:nvCxnSpPr>
        <p:spPr>
          <a:xfrm flipH="1" flipV="1">
            <a:off x="1729243" y="3582057"/>
            <a:ext cx="1778" cy="468051"/>
          </a:xfrm>
          <a:prstGeom prst="straightConnector1">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Gerade Verbindung mit Pfeil 18"/>
          <p:cNvCxnSpPr>
            <a:endCxn id="15" idx="0"/>
          </p:cNvCxnSpPr>
          <p:nvPr/>
        </p:nvCxnSpPr>
        <p:spPr>
          <a:xfrm>
            <a:off x="4539333" y="3572341"/>
            <a:ext cx="0" cy="477767"/>
          </a:xfrm>
          <a:prstGeom prst="straightConnector1">
            <a:avLst/>
          </a:prstGeom>
          <a:ln w="38100">
            <a:solidFill>
              <a:srgbClr val="E20074"/>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Rechteck 27"/>
          <p:cNvSpPr/>
          <p:nvPr/>
        </p:nvSpPr>
        <p:spPr>
          <a:xfrm>
            <a:off x="6715082" y="1575010"/>
            <a:ext cx="373823" cy="29782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302322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21" grpId="0"/>
      <p:bldP spid="22" grpId="0"/>
      <p:bldP spid="23" grpId="0"/>
      <p:bldP spid="24" grpId="0"/>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endParaRPr lang="de-DE"/>
          </a:p>
        </p:txBody>
      </p:sp>
      <p:sp>
        <p:nvSpPr>
          <p:cNvPr id="3" name="Inhaltsplatzhalter 2"/>
          <p:cNvSpPr>
            <a:spLocks noGrp="1"/>
          </p:cNvSpPr>
          <p:nvPr>
            <p:ph idx="1"/>
          </p:nvPr>
        </p:nvSpPr>
        <p:spPr/>
        <p:txBody>
          <a:bodyPr/>
          <a:lstStyle/>
          <a:p>
            <a:endParaRPr lang="de-DE"/>
          </a:p>
        </p:txBody>
      </p:sp>
      <p:pic>
        <p:nvPicPr>
          <p:cNvPr id="4" name="Grafik 3"/>
          <p:cNvPicPr>
            <a:picLocks noChangeAspect="1"/>
          </p:cNvPicPr>
          <p:nvPr/>
        </p:nvPicPr>
        <p:blipFill>
          <a:blip r:embed="rId2"/>
          <a:stretch>
            <a:fillRect/>
          </a:stretch>
        </p:blipFill>
        <p:spPr>
          <a:xfrm>
            <a:off x="0" y="961293"/>
            <a:ext cx="9081581" cy="3900745"/>
          </a:xfrm>
          <a:prstGeom prst="rect">
            <a:avLst/>
          </a:prstGeom>
        </p:spPr>
      </p:pic>
    </p:spTree>
    <p:extLst>
      <p:ext uri="{BB962C8B-B14F-4D97-AF65-F5344CB8AC3E}">
        <p14:creationId xmlns:p14="http://schemas.microsoft.com/office/powerpoint/2010/main" val="1890652175"/>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DIAL: Web-Anwendung (Screenshots)</a:t>
            </a:r>
            <a:endParaRPr lang="de-DE" dirty="0"/>
          </a:p>
        </p:txBody>
      </p:sp>
      <p:pic>
        <p:nvPicPr>
          <p:cNvPr id="4" name="Grafik 3"/>
          <p:cNvPicPr>
            <a:picLocks noChangeAspect="1"/>
          </p:cNvPicPr>
          <p:nvPr/>
        </p:nvPicPr>
        <p:blipFill>
          <a:blip r:embed="rId2"/>
          <a:stretch>
            <a:fillRect/>
          </a:stretch>
        </p:blipFill>
        <p:spPr>
          <a:xfrm>
            <a:off x="85596" y="1013968"/>
            <a:ext cx="3181350" cy="5466662"/>
          </a:xfrm>
          <a:prstGeom prst="rect">
            <a:avLst/>
          </a:prstGeom>
        </p:spPr>
      </p:pic>
      <p:pic>
        <p:nvPicPr>
          <p:cNvPr id="5" name="Grafik 4"/>
          <p:cNvPicPr>
            <a:picLocks noChangeAspect="1"/>
          </p:cNvPicPr>
          <p:nvPr/>
        </p:nvPicPr>
        <p:blipFill>
          <a:blip r:embed="rId3"/>
          <a:stretch>
            <a:fillRect/>
          </a:stretch>
        </p:blipFill>
        <p:spPr>
          <a:xfrm>
            <a:off x="1972858" y="1022897"/>
            <a:ext cx="3191171" cy="5485853"/>
          </a:xfrm>
          <a:prstGeom prst="rect">
            <a:avLst/>
          </a:prstGeom>
        </p:spPr>
      </p:pic>
      <p:pic>
        <p:nvPicPr>
          <p:cNvPr id="6" name="Grafik 5"/>
          <p:cNvPicPr>
            <a:picLocks noChangeAspect="1"/>
          </p:cNvPicPr>
          <p:nvPr/>
        </p:nvPicPr>
        <p:blipFill>
          <a:blip r:embed="rId4"/>
          <a:stretch>
            <a:fillRect/>
          </a:stretch>
        </p:blipFill>
        <p:spPr>
          <a:xfrm>
            <a:off x="3869941" y="1017847"/>
            <a:ext cx="3244616" cy="5484553"/>
          </a:xfrm>
          <a:prstGeom prst="rect">
            <a:avLst/>
          </a:prstGeom>
        </p:spPr>
      </p:pic>
      <p:pic>
        <p:nvPicPr>
          <p:cNvPr id="7" name="Grafik 6"/>
          <p:cNvPicPr>
            <a:picLocks noChangeAspect="1"/>
          </p:cNvPicPr>
          <p:nvPr/>
        </p:nvPicPr>
        <p:blipFill>
          <a:blip r:embed="rId5"/>
          <a:stretch>
            <a:fillRect/>
          </a:stretch>
        </p:blipFill>
        <p:spPr>
          <a:xfrm>
            <a:off x="5820468" y="1018829"/>
            <a:ext cx="3229485" cy="5528022"/>
          </a:xfrm>
          <a:prstGeom prst="rect">
            <a:avLst/>
          </a:prstGeom>
        </p:spPr>
      </p:pic>
    </p:spTree>
    <p:extLst>
      <p:ext uri="{BB962C8B-B14F-4D97-AF65-F5344CB8AC3E}">
        <p14:creationId xmlns:p14="http://schemas.microsoft.com/office/powerpoint/2010/main" val="209267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dirty="0" smtClean="0"/>
              <a:t>Zusammenfassung</a:t>
            </a:r>
            <a:endParaRPr lang="de-DE" dirty="0"/>
          </a:p>
        </p:txBody>
      </p:sp>
      <p:sp>
        <p:nvSpPr>
          <p:cNvPr id="3" name="Inhaltsplatzhalter 2"/>
          <p:cNvSpPr>
            <a:spLocks noGrp="1"/>
          </p:cNvSpPr>
          <p:nvPr>
            <p:ph idx="1"/>
          </p:nvPr>
        </p:nvSpPr>
        <p:spPr/>
        <p:txBody>
          <a:bodyPr>
            <a:normAutofit/>
          </a:bodyPr>
          <a:lstStyle/>
          <a:p>
            <a:endParaRPr lang="de-DE" dirty="0" smtClean="0"/>
          </a:p>
          <a:p>
            <a:endParaRPr lang="de-DE" dirty="0"/>
          </a:p>
        </p:txBody>
      </p:sp>
      <p:sp>
        <p:nvSpPr>
          <p:cNvPr id="4" name="Rechtwinkliges Dreieck 3"/>
          <p:cNvSpPr/>
          <p:nvPr/>
        </p:nvSpPr>
        <p:spPr>
          <a:xfrm rot="16200000">
            <a:off x="6264000" y="3978000"/>
            <a:ext cx="2880000" cy="2880000"/>
          </a:xfrm>
          <a:prstGeom prst="r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 name="Textfeld 4"/>
          <p:cNvSpPr txBox="1"/>
          <p:nvPr/>
        </p:nvSpPr>
        <p:spPr>
          <a:xfrm rot="-2700000">
            <a:off x="6928760" y="5469116"/>
            <a:ext cx="2364750" cy="584775"/>
          </a:xfrm>
          <a:prstGeom prst="rect">
            <a:avLst/>
          </a:prstGeom>
          <a:noFill/>
        </p:spPr>
        <p:txBody>
          <a:bodyPr wrap="none" rtlCol="0">
            <a:spAutoFit/>
          </a:bodyPr>
          <a:lstStyle/>
          <a:p>
            <a:r>
              <a:rPr lang="de-DE" sz="3200" b="1" dirty="0" smtClean="0">
                <a:solidFill>
                  <a:schemeClr val="bg1"/>
                </a:solidFill>
              </a:rPr>
              <a:t>Vielen Dank!</a:t>
            </a:r>
            <a:endParaRPr lang="de-DE" sz="3200" b="1" dirty="0">
              <a:solidFill>
                <a:schemeClr val="bg1"/>
              </a:solidFill>
            </a:endParaRPr>
          </a:p>
        </p:txBody>
      </p:sp>
    </p:spTree>
    <p:extLst>
      <p:ext uri="{BB962C8B-B14F-4D97-AF65-F5344CB8AC3E}">
        <p14:creationId xmlns:p14="http://schemas.microsoft.com/office/powerpoint/2010/main" val="409324882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512</Words>
  <Application>Microsoft Office PowerPoint</Application>
  <PresentationFormat>Bildschirmpräsentation (4:3)</PresentationFormat>
  <Paragraphs>72</Paragraphs>
  <Slides>11</Slides>
  <Notes>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11</vt:i4>
      </vt:variant>
    </vt:vector>
  </HeadingPairs>
  <TitlesOfParts>
    <vt:vector size="17" baseType="lpstr">
      <vt:lpstr>Arial</vt:lpstr>
      <vt:lpstr>Calibri</vt:lpstr>
      <vt:lpstr>Calibri Light</vt:lpstr>
      <vt:lpstr>Times New Roman</vt:lpstr>
      <vt:lpstr>Wingdings</vt:lpstr>
      <vt:lpstr>Office Theme</vt:lpstr>
      <vt:lpstr>DIAL – Ein BigBlueButton-basiertes System für interaktive  Live-Übertragungen von Vorlesungen</vt:lpstr>
      <vt:lpstr>Motivation</vt:lpstr>
      <vt:lpstr>Live-Übertragung von Vorlesungen</vt:lpstr>
      <vt:lpstr>Agenda</vt:lpstr>
      <vt:lpstr>DIAL: Übersicht</vt:lpstr>
      <vt:lpstr>Aufbau</vt:lpstr>
      <vt:lpstr>PowerPoint-Präsentation</vt:lpstr>
      <vt:lpstr>Architektur</vt:lpstr>
      <vt:lpstr>PowerPoint-Präsentation</vt:lpstr>
      <vt:lpstr>DIAL: Web-Anwendung (Screenshots)</vt:lpstr>
      <vt:lpstr>Zusammenfassung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thor@informatik.uni-leipzig.de</dc:creator>
  <cp:lastModifiedBy>thor@informatik.uni-leipzig.de</cp:lastModifiedBy>
  <cp:revision>88</cp:revision>
  <dcterms:created xsi:type="dcterms:W3CDTF">2017-06-06T12:41:48Z</dcterms:created>
  <dcterms:modified xsi:type="dcterms:W3CDTF">2017-08-30T16:20:49Z</dcterms:modified>
</cp:coreProperties>
</file>