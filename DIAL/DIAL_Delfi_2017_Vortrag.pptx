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0" r:id="rId2"/>
    <p:sldId id="284" r:id="rId3"/>
    <p:sldId id="288" r:id="rId4"/>
    <p:sldId id="282" r:id="rId5"/>
    <p:sldId id="293" r:id="rId6"/>
    <p:sldId id="291" r:id="rId7"/>
    <p:sldId id="289" r:id="rId8"/>
    <p:sldId id="281" r:id="rId9"/>
    <p:sldId id="283" r:id="rId10"/>
    <p:sldId id="274" r:id="rId11"/>
    <p:sldId id="294" r:id="rId12"/>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0074"/>
    <a:srgbClr val="FF7C80"/>
    <a:srgbClr val="66CCFF"/>
    <a:srgbClr val="FFFF99"/>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3" autoAdjust="0"/>
    <p:restoredTop sz="92621" autoAdjust="0"/>
  </p:normalViewPr>
  <p:slideViewPr>
    <p:cSldViewPr snapToGrid="0">
      <p:cViewPr varScale="1">
        <p:scale>
          <a:sx n="113" d="100"/>
          <a:sy n="113" d="100"/>
        </p:scale>
        <p:origin x="690"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98601-B567-4418-90E6-6A3C1F1D0B26}" type="datetimeFigureOut">
              <a:rPr lang="de-DE" smtClean="0"/>
              <a:t>31.08.2017</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7080C-DF5D-4508-8D57-52E64401F1ED}" type="slidenum">
              <a:rPr lang="de-DE" smtClean="0"/>
              <a:t>‹Nr.›</a:t>
            </a:fld>
            <a:endParaRPr lang="de-DE"/>
          </a:p>
        </p:txBody>
      </p:sp>
    </p:spTree>
    <p:extLst>
      <p:ext uri="{BB962C8B-B14F-4D97-AF65-F5344CB8AC3E}">
        <p14:creationId xmlns:p14="http://schemas.microsoft.com/office/powerpoint/2010/main" val="3001884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redis.io/commands/unsubscribe" TargetMode="External"/><Relationship Id="rId3" Type="http://schemas.openxmlformats.org/officeDocument/2006/relationships/hyperlink" Target="https://de.wikipedia.org/wiki/In-Memory-Datenbank" TargetMode="External"/><Relationship Id="rId7" Type="http://schemas.openxmlformats.org/officeDocument/2006/relationships/hyperlink" Target="https://redis.io/commands/subscribe"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de.wikipedia.org/wiki/Redis#cite_note-DB-Engines-Ranking-von-Key-Value-Stores-3" TargetMode="External"/><Relationship Id="rId5" Type="http://schemas.openxmlformats.org/officeDocument/2006/relationships/hyperlink" Target="https://de.wikipedia.org/wiki/Relationale_Datenbank" TargetMode="External"/><Relationship Id="rId10" Type="http://schemas.openxmlformats.org/officeDocument/2006/relationships/hyperlink" Target="http://en.wikipedia.org/wiki/Publish/subscribe" TargetMode="External"/><Relationship Id="rId4" Type="http://schemas.openxmlformats.org/officeDocument/2006/relationships/hyperlink" Target="https://de.wikipedia.org/wiki/NoSQL" TargetMode="External"/><Relationship Id="rId9" Type="http://schemas.openxmlformats.org/officeDocument/2006/relationships/hyperlink" Target="https://redis.io/commands/publish"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Trennung von Medien-Daten</a:t>
            </a:r>
            <a:r>
              <a:rPr lang="de-DE" baseline="0" dirty="0" smtClean="0"/>
              <a:t> und Interaktions-Daten</a:t>
            </a:r>
          </a:p>
          <a:p>
            <a:endParaRPr lang="de-DE" dirty="0" smtClean="0"/>
          </a:p>
          <a:p>
            <a:endParaRPr lang="de-DE" dirty="0" smtClean="0"/>
          </a:p>
          <a:p>
            <a:r>
              <a:rPr lang="de-DE" dirty="0" smtClean="0"/>
              <a:t>Das prinzipielle Schema einer Live-Übertragung einer Vorlesung sieht vor, dass sich die </a:t>
            </a:r>
          </a:p>
          <a:p>
            <a:r>
              <a:rPr lang="de-DE" dirty="0" smtClean="0"/>
              <a:t>Teilnehmergruppen in mehreren Räumen verteilt befinden (siehe Abb. 1). </a:t>
            </a:r>
          </a:p>
          <a:p>
            <a:endParaRPr lang="de-DE" dirty="0" smtClean="0"/>
          </a:p>
          <a:p>
            <a:r>
              <a:rPr lang="de-DE" dirty="0" smtClean="0"/>
              <a:t>DIAL basiert </a:t>
            </a:r>
          </a:p>
          <a:p>
            <a:r>
              <a:rPr lang="de-DE" dirty="0" smtClean="0"/>
              <a:t>dazu  auf  einem  Webkonferenzsystem,  welches  die  Verarbeitung  der  </a:t>
            </a:r>
            <a:r>
              <a:rPr lang="de-DE" dirty="0" err="1" smtClean="0"/>
              <a:t>Medienstreams</a:t>
            </a:r>
            <a:r>
              <a:rPr lang="de-DE" dirty="0" smtClean="0"/>
              <a:t> </a:t>
            </a:r>
          </a:p>
          <a:p>
            <a:r>
              <a:rPr lang="de-DE" dirty="0" smtClean="0"/>
              <a:t>(Audio- und Videosignale) sowie die Kommunikation aller Teilnehmer steuert. In jedem </a:t>
            </a:r>
          </a:p>
          <a:p>
            <a:r>
              <a:rPr lang="de-DE" dirty="0" smtClean="0"/>
              <a:t>Veranstaltungsraum tritt ein technischer Supportmitarbeiter der initiierten </a:t>
            </a:r>
            <a:r>
              <a:rPr lang="de-DE" dirty="0" err="1" smtClean="0"/>
              <a:t>Konferenzsit</a:t>
            </a:r>
            <a:r>
              <a:rPr lang="de-DE" dirty="0" smtClean="0"/>
              <a:t>-</a:t>
            </a:r>
          </a:p>
          <a:p>
            <a:r>
              <a:rPr lang="de-DE" dirty="0" err="1" smtClean="0"/>
              <a:t>zung</a:t>
            </a:r>
            <a:r>
              <a:rPr lang="de-DE" dirty="0" smtClean="0"/>
              <a:t> bei und </a:t>
            </a:r>
            <a:r>
              <a:rPr lang="de-DE" dirty="0" err="1" smtClean="0"/>
              <a:t>streamt</a:t>
            </a:r>
            <a:r>
              <a:rPr lang="de-DE" dirty="0" smtClean="0"/>
              <a:t> die übertragenen Sitzungsdaten über einen </a:t>
            </a:r>
            <a:r>
              <a:rPr lang="de-DE" dirty="0" err="1" smtClean="0"/>
              <a:t>Beamer</a:t>
            </a:r>
            <a:r>
              <a:rPr lang="de-DE" dirty="0" smtClean="0"/>
              <a:t> und </a:t>
            </a:r>
            <a:r>
              <a:rPr lang="de-DE" dirty="0" err="1" smtClean="0"/>
              <a:t>Lautspre</a:t>
            </a:r>
            <a:r>
              <a:rPr lang="de-DE" dirty="0" smtClean="0"/>
              <a:t>-</a:t>
            </a:r>
          </a:p>
          <a:p>
            <a:r>
              <a:rPr lang="de-DE" dirty="0" err="1" smtClean="0"/>
              <a:t>cher</a:t>
            </a:r>
            <a:r>
              <a:rPr lang="de-DE" dirty="0" smtClean="0"/>
              <a:t>  zum  Auditorium.  Die  Nutzer  im  Veranstaltungsraum  hören  den  Audiostrom  der </a:t>
            </a:r>
          </a:p>
          <a:p>
            <a:r>
              <a:rPr lang="de-DE" dirty="0" smtClean="0"/>
              <a:t>Dozierenden  und  können  über  die  Projektion  das  Whiteboard,  die Präsentationsfolien, </a:t>
            </a:r>
          </a:p>
          <a:p>
            <a:r>
              <a:rPr lang="de-DE" dirty="0" smtClean="0"/>
              <a:t>die geteilten Anwendungen, den Chat, das Videobild der Dozierenden und die Ergebnis-</a:t>
            </a:r>
          </a:p>
          <a:p>
            <a:r>
              <a:rPr lang="de-DE" dirty="0" smtClean="0"/>
              <a:t>se von Umfragen sehen. Ob und wann diese Inhalte geteilt werden, entscheiden die Do-</a:t>
            </a:r>
          </a:p>
          <a:p>
            <a:r>
              <a:rPr lang="de-DE" dirty="0" smtClean="0"/>
              <a:t>zierenden, die der Sitzung mit Moderationsrechten beitreten. Die Lehrveranstaltung wird </a:t>
            </a:r>
          </a:p>
          <a:p>
            <a:r>
              <a:rPr lang="de-DE" dirty="0" smtClean="0"/>
              <a:t>entweder in einem der Veranstaltungsräume oder dezentral gehalten. </a:t>
            </a:r>
          </a:p>
          <a:p>
            <a:r>
              <a:rPr lang="de-DE" dirty="0" smtClean="0"/>
              <a:t>Damit eine Übertragung von  Informationen von Studierenden zu Dozierenden </a:t>
            </a:r>
            <a:r>
              <a:rPr lang="de-DE" dirty="0" err="1" smtClean="0"/>
              <a:t>stattfin</a:t>
            </a:r>
            <a:r>
              <a:rPr lang="de-DE" dirty="0" smtClean="0"/>
              <a:t>-</a:t>
            </a:r>
          </a:p>
          <a:p>
            <a:r>
              <a:rPr lang="de-DE" dirty="0" err="1" smtClean="0"/>
              <a:t>det</a:t>
            </a:r>
            <a:r>
              <a:rPr lang="de-DE" dirty="0" smtClean="0"/>
              <a:t>, wird die Kommunikation durch DIAL erweitert. Hierbei nutzen die Studierenden im </a:t>
            </a:r>
          </a:p>
          <a:p>
            <a:r>
              <a:rPr lang="de-DE" dirty="0" smtClean="0"/>
              <a:t>Auditorium ihre privaten Endgeräte (z.B. Smartphones oder Tablets), um </a:t>
            </a:r>
            <a:r>
              <a:rPr lang="de-DE" dirty="0" err="1" smtClean="0"/>
              <a:t>Chatnachrich</a:t>
            </a:r>
            <a:r>
              <a:rPr lang="de-DE" dirty="0" smtClean="0"/>
              <a:t>-</a:t>
            </a:r>
          </a:p>
          <a:p>
            <a:r>
              <a:rPr lang="de-DE" dirty="0" err="1" smtClean="0"/>
              <a:t>ten</a:t>
            </a:r>
            <a:r>
              <a:rPr lang="de-DE" dirty="0" smtClean="0"/>
              <a:t> zu lesen bzw. zu schreiben oder an Umfragen teilzunehmen. Diese </a:t>
            </a:r>
            <a:r>
              <a:rPr lang="de-DE" dirty="0" err="1" smtClean="0"/>
              <a:t>Nutzerinteraktio</a:t>
            </a:r>
            <a:r>
              <a:rPr lang="de-DE" dirty="0" smtClean="0"/>
              <a:t>-</a:t>
            </a:r>
          </a:p>
          <a:p>
            <a:r>
              <a:rPr lang="de-DE" dirty="0" err="1" smtClean="0"/>
              <a:t>nen</a:t>
            </a:r>
            <a:r>
              <a:rPr lang="de-DE" dirty="0" smtClean="0"/>
              <a:t> umfassen i. Allg. nur wenige Kilobyte und belasten das Mobilfunknetz oder Hoch-</a:t>
            </a:r>
          </a:p>
          <a:p>
            <a:r>
              <a:rPr lang="de-DE" dirty="0" smtClean="0"/>
              <a:t>schul-WLAN nur gering. Im Vorfeld durchgeführte Skalierungs- und Lasttests mit </a:t>
            </a:r>
            <a:r>
              <a:rPr lang="de-DE" dirty="0" err="1" smtClean="0"/>
              <a:t>simu</a:t>
            </a:r>
            <a:r>
              <a:rPr lang="de-DE" dirty="0" smtClean="0"/>
              <a:t>-</a:t>
            </a:r>
          </a:p>
          <a:p>
            <a:r>
              <a:rPr lang="de-DE" dirty="0" err="1" smtClean="0"/>
              <a:t>lierten</a:t>
            </a:r>
            <a:r>
              <a:rPr lang="de-DE" dirty="0" smtClean="0"/>
              <a:t> Nutzen ließen außerdem erkennen, dass eine Teilnahme mehrerer Hundert Studie-</a:t>
            </a:r>
          </a:p>
          <a:p>
            <a:r>
              <a:rPr lang="de-DE" dirty="0" err="1" smtClean="0"/>
              <a:t>render</a:t>
            </a:r>
            <a:r>
              <a:rPr lang="de-DE" dirty="0" smtClean="0"/>
              <a:t> mit vorhandener Infrastruktur problemlos möglich ist (vgl. [Ka16] Kapitel 7). </a:t>
            </a:r>
            <a:endParaRPr lang="de-DE" dirty="0"/>
          </a:p>
        </p:txBody>
      </p:sp>
      <p:sp>
        <p:nvSpPr>
          <p:cNvPr id="4" name="Foliennummernplatzhalter 3"/>
          <p:cNvSpPr>
            <a:spLocks noGrp="1"/>
          </p:cNvSpPr>
          <p:nvPr>
            <p:ph type="sldNum" sz="quarter" idx="10"/>
          </p:nvPr>
        </p:nvSpPr>
        <p:spPr/>
        <p:txBody>
          <a:bodyPr/>
          <a:lstStyle/>
          <a:p>
            <a:fld id="{FD87080C-DF5D-4508-8D57-52E64401F1ED}" type="slidenum">
              <a:rPr lang="de-DE" smtClean="0"/>
              <a:t>4</a:t>
            </a:fld>
            <a:endParaRPr lang="de-DE"/>
          </a:p>
        </p:txBody>
      </p:sp>
    </p:spTree>
    <p:extLst>
      <p:ext uri="{BB962C8B-B14F-4D97-AF65-F5344CB8AC3E}">
        <p14:creationId xmlns:p14="http://schemas.microsoft.com/office/powerpoint/2010/main" val="227762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smtClean="0"/>
              <a:t>Trennung von Medien-Daten</a:t>
            </a:r>
            <a:r>
              <a:rPr lang="de-DE" baseline="0" dirty="0" smtClean="0"/>
              <a:t> und Interaktions-Daten</a:t>
            </a:r>
          </a:p>
          <a:p>
            <a:endParaRPr lang="de-DE" dirty="0" smtClean="0"/>
          </a:p>
          <a:p>
            <a:endParaRPr lang="de-DE" dirty="0" smtClean="0"/>
          </a:p>
          <a:p>
            <a:r>
              <a:rPr lang="de-DE" dirty="0" smtClean="0"/>
              <a:t>Das prinzipielle Schema einer Live-Übertragung einer Vorlesung sieht vor, dass sich die </a:t>
            </a:r>
          </a:p>
          <a:p>
            <a:r>
              <a:rPr lang="de-DE" dirty="0" smtClean="0"/>
              <a:t>Teilnehmergruppen in mehreren Räumen verteilt befinden (siehe Abb. 1). </a:t>
            </a:r>
          </a:p>
          <a:p>
            <a:endParaRPr lang="de-DE" dirty="0" smtClean="0"/>
          </a:p>
          <a:p>
            <a:r>
              <a:rPr lang="de-DE" dirty="0" smtClean="0"/>
              <a:t>DIAL basiert </a:t>
            </a:r>
          </a:p>
          <a:p>
            <a:r>
              <a:rPr lang="de-DE" dirty="0" smtClean="0"/>
              <a:t>dazu  auf  einem  Webkonferenzsystem,  welches  die  Verarbeitung  der  </a:t>
            </a:r>
            <a:r>
              <a:rPr lang="de-DE" dirty="0" err="1" smtClean="0"/>
              <a:t>Medienstreams</a:t>
            </a:r>
            <a:r>
              <a:rPr lang="de-DE" dirty="0" smtClean="0"/>
              <a:t> </a:t>
            </a:r>
          </a:p>
          <a:p>
            <a:r>
              <a:rPr lang="de-DE" dirty="0" smtClean="0"/>
              <a:t>(Audio- und Videosignale) sowie die Kommunikation aller Teilnehmer steuert. In jedem </a:t>
            </a:r>
          </a:p>
          <a:p>
            <a:r>
              <a:rPr lang="de-DE" dirty="0" smtClean="0"/>
              <a:t>Veranstaltungsraum tritt ein technischer Supportmitarbeiter der initiierten </a:t>
            </a:r>
            <a:r>
              <a:rPr lang="de-DE" dirty="0" err="1" smtClean="0"/>
              <a:t>Konferenzsit</a:t>
            </a:r>
            <a:r>
              <a:rPr lang="de-DE" dirty="0" smtClean="0"/>
              <a:t>-</a:t>
            </a:r>
          </a:p>
          <a:p>
            <a:r>
              <a:rPr lang="de-DE" dirty="0" err="1" smtClean="0"/>
              <a:t>zung</a:t>
            </a:r>
            <a:r>
              <a:rPr lang="de-DE" dirty="0" smtClean="0"/>
              <a:t> bei und </a:t>
            </a:r>
            <a:r>
              <a:rPr lang="de-DE" dirty="0" err="1" smtClean="0"/>
              <a:t>streamt</a:t>
            </a:r>
            <a:r>
              <a:rPr lang="de-DE" dirty="0" smtClean="0"/>
              <a:t> die übertragenen Sitzungsdaten über einen </a:t>
            </a:r>
            <a:r>
              <a:rPr lang="de-DE" dirty="0" err="1" smtClean="0"/>
              <a:t>Beamer</a:t>
            </a:r>
            <a:r>
              <a:rPr lang="de-DE" dirty="0" smtClean="0"/>
              <a:t> und </a:t>
            </a:r>
            <a:r>
              <a:rPr lang="de-DE" dirty="0" err="1" smtClean="0"/>
              <a:t>Lautspre</a:t>
            </a:r>
            <a:r>
              <a:rPr lang="de-DE" dirty="0" smtClean="0"/>
              <a:t>-</a:t>
            </a:r>
          </a:p>
          <a:p>
            <a:r>
              <a:rPr lang="de-DE" dirty="0" err="1" smtClean="0"/>
              <a:t>cher</a:t>
            </a:r>
            <a:r>
              <a:rPr lang="de-DE" dirty="0" smtClean="0"/>
              <a:t>  zum  Auditorium.  Die  Nutzer  im  Veranstaltungsraum  hören  den  Audiostrom  der </a:t>
            </a:r>
          </a:p>
          <a:p>
            <a:r>
              <a:rPr lang="de-DE" dirty="0" smtClean="0"/>
              <a:t>Dozierenden  und  können  über  die  Projektion  das  Whiteboard,  die Präsentationsfolien, </a:t>
            </a:r>
          </a:p>
          <a:p>
            <a:r>
              <a:rPr lang="de-DE" dirty="0" smtClean="0"/>
              <a:t>die geteilten Anwendungen, den Chat, das Videobild der Dozierenden und die Ergebnis-</a:t>
            </a:r>
          </a:p>
          <a:p>
            <a:r>
              <a:rPr lang="de-DE" dirty="0" smtClean="0"/>
              <a:t>se von Umfragen sehen. Ob und wann diese Inhalte geteilt werden, entscheiden die Do-</a:t>
            </a:r>
          </a:p>
          <a:p>
            <a:r>
              <a:rPr lang="de-DE" dirty="0" smtClean="0"/>
              <a:t>zierenden, die der Sitzung mit Moderationsrechten beitreten. Die Lehrveranstaltung wird </a:t>
            </a:r>
          </a:p>
          <a:p>
            <a:r>
              <a:rPr lang="de-DE" dirty="0" smtClean="0"/>
              <a:t>entweder in einem der Veranstaltungsräume oder dezentral gehalten. </a:t>
            </a:r>
          </a:p>
          <a:p>
            <a:r>
              <a:rPr lang="de-DE" dirty="0" smtClean="0"/>
              <a:t>Damit eine Übertragung von  Informationen von Studierenden zu Dozierenden </a:t>
            </a:r>
            <a:r>
              <a:rPr lang="de-DE" dirty="0" err="1" smtClean="0"/>
              <a:t>stattfin</a:t>
            </a:r>
            <a:r>
              <a:rPr lang="de-DE" dirty="0" smtClean="0"/>
              <a:t>-</a:t>
            </a:r>
          </a:p>
          <a:p>
            <a:r>
              <a:rPr lang="de-DE" dirty="0" err="1" smtClean="0"/>
              <a:t>det</a:t>
            </a:r>
            <a:r>
              <a:rPr lang="de-DE" dirty="0" smtClean="0"/>
              <a:t>, wird die Kommunikation durch DIAL erweitert. Hierbei nutzen die Studierenden im </a:t>
            </a:r>
          </a:p>
          <a:p>
            <a:r>
              <a:rPr lang="de-DE" dirty="0" smtClean="0"/>
              <a:t>Auditorium ihre privaten Endgeräte (z.B. Smartphones oder Tablets), um </a:t>
            </a:r>
            <a:r>
              <a:rPr lang="de-DE" dirty="0" err="1" smtClean="0"/>
              <a:t>Chatnachrich</a:t>
            </a:r>
            <a:r>
              <a:rPr lang="de-DE" dirty="0" smtClean="0"/>
              <a:t>-</a:t>
            </a:r>
          </a:p>
          <a:p>
            <a:r>
              <a:rPr lang="de-DE" dirty="0" err="1" smtClean="0"/>
              <a:t>ten</a:t>
            </a:r>
            <a:r>
              <a:rPr lang="de-DE" dirty="0" smtClean="0"/>
              <a:t> zu lesen bzw. zu schreiben oder an Umfragen teilzunehmen. Diese </a:t>
            </a:r>
            <a:r>
              <a:rPr lang="de-DE" dirty="0" err="1" smtClean="0"/>
              <a:t>Nutzerinteraktio</a:t>
            </a:r>
            <a:r>
              <a:rPr lang="de-DE" dirty="0" smtClean="0"/>
              <a:t>-</a:t>
            </a:r>
          </a:p>
          <a:p>
            <a:r>
              <a:rPr lang="de-DE" dirty="0" err="1" smtClean="0"/>
              <a:t>nen</a:t>
            </a:r>
            <a:r>
              <a:rPr lang="de-DE" dirty="0" smtClean="0"/>
              <a:t> umfassen i. Allg. nur wenige Kilobyte und belasten das Mobilfunknetz oder Hoch-</a:t>
            </a:r>
          </a:p>
          <a:p>
            <a:r>
              <a:rPr lang="de-DE" dirty="0" smtClean="0"/>
              <a:t>schul-WLAN nur gering. Im Vorfeld durchgeführte Skalierungs- und Lasttests mit </a:t>
            </a:r>
            <a:r>
              <a:rPr lang="de-DE" dirty="0" err="1" smtClean="0"/>
              <a:t>simu</a:t>
            </a:r>
            <a:r>
              <a:rPr lang="de-DE" dirty="0" smtClean="0"/>
              <a:t>-</a:t>
            </a:r>
          </a:p>
          <a:p>
            <a:r>
              <a:rPr lang="de-DE" dirty="0" err="1" smtClean="0"/>
              <a:t>lierten</a:t>
            </a:r>
            <a:r>
              <a:rPr lang="de-DE" dirty="0" smtClean="0"/>
              <a:t> Nutzen ließen außerdem erkennen, dass eine Teilnahme mehrerer Hundert Studie-</a:t>
            </a:r>
          </a:p>
          <a:p>
            <a:r>
              <a:rPr lang="de-DE" dirty="0" err="1" smtClean="0"/>
              <a:t>render</a:t>
            </a:r>
            <a:r>
              <a:rPr lang="de-DE" dirty="0" smtClean="0"/>
              <a:t> mit vorhandener Infrastruktur problemlos möglich ist (vgl. [Ka16] Kapitel 7). </a:t>
            </a:r>
            <a:endParaRPr lang="de-DE" dirty="0"/>
          </a:p>
        </p:txBody>
      </p:sp>
      <p:sp>
        <p:nvSpPr>
          <p:cNvPr id="4" name="Foliennummernplatzhalter 3"/>
          <p:cNvSpPr>
            <a:spLocks noGrp="1"/>
          </p:cNvSpPr>
          <p:nvPr>
            <p:ph type="sldNum" sz="quarter" idx="10"/>
          </p:nvPr>
        </p:nvSpPr>
        <p:spPr/>
        <p:txBody>
          <a:bodyPr/>
          <a:lstStyle/>
          <a:p>
            <a:fld id="{FD87080C-DF5D-4508-8D57-52E64401F1ED}" type="slidenum">
              <a:rPr lang="de-DE" smtClean="0"/>
              <a:t>5</a:t>
            </a:fld>
            <a:endParaRPr lang="de-DE"/>
          </a:p>
        </p:txBody>
      </p:sp>
    </p:spTree>
    <p:extLst>
      <p:ext uri="{BB962C8B-B14F-4D97-AF65-F5344CB8AC3E}">
        <p14:creationId xmlns:p14="http://schemas.microsoft.com/office/powerpoint/2010/main" val="8837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err="1" smtClean="0"/>
              <a:t>Redis</a:t>
            </a:r>
            <a:r>
              <a:rPr lang="de-DE" b="1" dirty="0" smtClean="0"/>
              <a:t> Pub/Sub </a:t>
            </a:r>
            <a:r>
              <a:rPr lang="de-DE" b="1" dirty="0" smtClean="0">
                <a:sym typeface="Wingdings" panose="05000000000000000000" pitchFamily="2" charset="2"/>
              </a:rPr>
              <a:t> DIAL ist ein Publisher</a:t>
            </a:r>
            <a:r>
              <a:rPr lang="de-DE" b="1" baseline="0" dirty="0" smtClean="0">
                <a:sym typeface="Wingdings" panose="05000000000000000000" pitchFamily="2" charset="2"/>
              </a:rPr>
              <a:t>  wird sofort in normalem BBB Client sichtbar</a:t>
            </a:r>
            <a:endParaRPr lang="de-DE" b="1" dirty="0" smtClean="0"/>
          </a:p>
          <a:p>
            <a:r>
              <a:rPr lang="de-DE" b="1" dirty="0" smtClean="0"/>
              <a:t>Zugriff auf </a:t>
            </a:r>
            <a:r>
              <a:rPr lang="de-DE" b="1" dirty="0" err="1" smtClean="0"/>
              <a:t>MongoDB</a:t>
            </a:r>
            <a:r>
              <a:rPr lang="de-DE" b="1" dirty="0" smtClean="0"/>
              <a:t>: On-Demand Pull, d.h.</a:t>
            </a:r>
            <a:r>
              <a:rPr lang="de-DE" b="1" baseline="0" dirty="0" smtClean="0"/>
              <a:t> DIAL ist *kein* Subscriber</a:t>
            </a:r>
            <a:r>
              <a:rPr lang="de-DE" b="1" dirty="0" smtClean="0"/>
              <a:t> </a:t>
            </a:r>
            <a:r>
              <a:rPr lang="de-DE" b="1" dirty="0" smtClean="0">
                <a:sym typeface="Wingdings" panose="05000000000000000000" pitchFamily="2" charset="2"/>
              </a:rPr>
              <a:t> Änderungen *nicht* synchron auf Handy</a:t>
            </a:r>
            <a:endParaRPr lang="de-DE" b="1" dirty="0" smtClean="0"/>
          </a:p>
          <a:p>
            <a:endParaRPr lang="de-DE" b="1" dirty="0" smtClean="0"/>
          </a:p>
          <a:p>
            <a:r>
              <a:rPr lang="de-DE" b="1" dirty="0" err="1" smtClean="0"/>
              <a:t>Redis</a:t>
            </a:r>
            <a:r>
              <a:rPr lang="de-DE" dirty="0" smtClean="0"/>
              <a:t> ist eine </a:t>
            </a:r>
            <a:r>
              <a:rPr lang="de-DE" dirty="0" smtClean="0">
                <a:hlinkClick r:id="rId3" tooltip="In-Memory-Datenbank"/>
              </a:rPr>
              <a:t>In-Memory-Datenbank</a:t>
            </a:r>
            <a:r>
              <a:rPr lang="de-DE" dirty="0" smtClean="0"/>
              <a:t> mit einer einfachen Schlüssel-Werte-Datenstruktur (englisch: </a:t>
            </a:r>
            <a:r>
              <a:rPr lang="de-DE" i="1" dirty="0" err="1" smtClean="0"/>
              <a:t>key</a:t>
            </a:r>
            <a:r>
              <a:rPr lang="de-DE" i="1" dirty="0" smtClean="0"/>
              <a:t> </a:t>
            </a:r>
            <a:r>
              <a:rPr lang="de-DE" i="1" dirty="0" err="1" smtClean="0"/>
              <a:t>value</a:t>
            </a:r>
            <a:r>
              <a:rPr lang="de-DE" i="1" dirty="0" smtClean="0"/>
              <a:t> </a:t>
            </a:r>
            <a:r>
              <a:rPr lang="de-DE" i="1" dirty="0" err="1" smtClean="0"/>
              <a:t>store</a:t>
            </a:r>
            <a:r>
              <a:rPr lang="de-DE" dirty="0" smtClean="0"/>
              <a:t>) und gehört zur Familie der </a:t>
            </a:r>
            <a:r>
              <a:rPr lang="de-DE" dirty="0" err="1" smtClean="0">
                <a:hlinkClick r:id="rId4" tooltip="NoSQL"/>
              </a:rPr>
              <a:t>NoSQL</a:t>
            </a:r>
            <a:r>
              <a:rPr lang="de-DE" dirty="0" smtClean="0"/>
              <a:t>-Datenbanken (ist also nicht </a:t>
            </a:r>
            <a:r>
              <a:rPr lang="de-DE" dirty="0" smtClean="0">
                <a:hlinkClick r:id="rId5" tooltip="Relationale Datenbank"/>
              </a:rPr>
              <a:t>relational</a:t>
            </a:r>
            <a:r>
              <a:rPr lang="de-DE" dirty="0" smtClean="0"/>
              <a:t>). Nach einer Erhebung von </a:t>
            </a:r>
            <a:r>
              <a:rPr lang="de-DE" i="1" dirty="0" smtClean="0"/>
              <a:t>DB-Engines.com</a:t>
            </a:r>
            <a:r>
              <a:rPr lang="de-DE" dirty="0" smtClean="0"/>
              <a:t> ist </a:t>
            </a:r>
            <a:r>
              <a:rPr lang="de-DE" dirty="0" err="1" smtClean="0"/>
              <a:t>Redis</a:t>
            </a:r>
            <a:r>
              <a:rPr lang="de-DE" dirty="0" smtClean="0"/>
              <a:t> der verbreitetste Schlüssel-Werte-Speicher.</a:t>
            </a:r>
            <a:r>
              <a:rPr lang="de-DE" baseline="30000" dirty="0" smtClean="0">
                <a:hlinkClick r:id="rId6"/>
              </a:rPr>
              <a:t>[3]</a:t>
            </a:r>
            <a:endParaRPr lang="de-DE" baseline="30000" dirty="0" smtClean="0"/>
          </a:p>
          <a:p>
            <a:endParaRPr lang="de-DE" baseline="30000" dirty="0" smtClean="0"/>
          </a:p>
          <a:p>
            <a:r>
              <a:rPr lang="en-US" dirty="0" smtClean="0">
                <a:hlinkClick r:id="rId7"/>
              </a:rPr>
              <a:t>SUBSCRIBE</a:t>
            </a:r>
            <a:r>
              <a:rPr lang="en-US" dirty="0" smtClean="0"/>
              <a:t>, </a:t>
            </a:r>
            <a:r>
              <a:rPr lang="en-US" dirty="0" smtClean="0">
                <a:hlinkClick r:id="rId8"/>
              </a:rPr>
              <a:t>UNSUBSCRIBE</a:t>
            </a:r>
            <a:r>
              <a:rPr lang="en-US" dirty="0" smtClean="0"/>
              <a:t> and </a:t>
            </a:r>
            <a:r>
              <a:rPr lang="en-US" dirty="0" smtClean="0">
                <a:hlinkClick r:id="rId9"/>
              </a:rPr>
              <a:t>PUBLISH</a:t>
            </a:r>
            <a:r>
              <a:rPr lang="en-US" dirty="0" smtClean="0"/>
              <a:t> implement the </a:t>
            </a:r>
            <a:r>
              <a:rPr lang="en-US" dirty="0" smtClean="0">
                <a:hlinkClick r:id="rId10"/>
              </a:rPr>
              <a:t>Publish/Subscribe messaging paradigm</a:t>
            </a:r>
            <a:r>
              <a:rPr lang="en-US" dirty="0" smtClean="0"/>
              <a:t> where (citing Wikipedia) senders (publishers) are not programmed to send their messages to specific receivers (subscribers). Rather, published messages are characterized into channels, without knowledge of what (if any) subscribers there may be. Subscribers express interest in one or more channels, and only receive messages that are of interest, without knowledge of what (if any) publishers there are. This decoupling of publishers and subscribers can allow for greater scalability and a more dynamic network topology.</a:t>
            </a:r>
            <a:endParaRPr lang="de-DE" dirty="0"/>
          </a:p>
        </p:txBody>
      </p:sp>
      <p:sp>
        <p:nvSpPr>
          <p:cNvPr id="4" name="Foliennummernplatzhalter 3"/>
          <p:cNvSpPr>
            <a:spLocks noGrp="1"/>
          </p:cNvSpPr>
          <p:nvPr>
            <p:ph type="sldNum" sz="quarter" idx="10"/>
          </p:nvPr>
        </p:nvSpPr>
        <p:spPr/>
        <p:txBody>
          <a:bodyPr/>
          <a:lstStyle/>
          <a:p>
            <a:fld id="{FD87080C-DF5D-4508-8D57-52E64401F1ED}" type="slidenum">
              <a:rPr lang="de-DE" smtClean="0"/>
              <a:t>8</a:t>
            </a:fld>
            <a:endParaRPr lang="de-DE"/>
          </a:p>
        </p:txBody>
      </p:sp>
    </p:spTree>
    <p:extLst>
      <p:ext uri="{BB962C8B-B14F-4D97-AF65-F5344CB8AC3E}">
        <p14:creationId xmlns:p14="http://schemas.microsoft.com/office/powerpoint/2010/main" val="69653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de-DE" smtClean="0"/>
              <a:t>Titelmasterformat durch Klicken bearbeiten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en-US" dirty="0"/>
          </a:p>
        </p:txBody>
      </p:sp>
      <p:sp>
        <p:nvSpPr>
          <p:cNvPr id="4" name="Date Placeholder 3"/>
          <p:cNvSpPr>
            <a:spLocks noGrp="1"/>
          </p:cNvSpPr>
          <p:nvPr>
            <p:ph type="dt" sz="half" idx="10"/>
          </p:nvPr>
        </p:nvSpPr>
        <p:spPr/>
        <p:txBody>
          <a:bodyPr/>
          <a:lstStyle/>
          <a:p>
            <a:fld id="{1E13E174-3914-4D58-9E24-2A0CC84D465E}" type="datetimeFigureOut">
              <a:rPr lang="de-DE" smtClean="0"/>
              <a:t>31.08.2017</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42327338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96166"/>
          </a:xfrm>
        </p:spPr>
        <p:txBody>
          <a:bodyPr>
            <a:normAutofit/>
          </a:bodyPr>
          <a:lstStyle>
            <a:lvl1pPr>
              <a:defRPr sz="3200">
                <a:latin typeface="Times New Roman" panose="02020603050405020304" pitchFamily="18" charset="0"/>
                <a:cs typeface="Times New Roman" panose="02020603050405020304" pitchFamily="18" charset="0"/>
              </a:defRPr>
            </a:lvl1pPr>
          </a:lstStyle>
          <a:p>
            <a:r>
              <a:rPr lang="de-DE" dirty="0" smtClean="0"/>
              <a:t>Titelmasterformat durch Klicken bearbeiten</a:t>
            </a:r>
            <a:endParaRPr lang="en-US" dirty="0"/>
          </a:p>
        </p:txBody>
      </p:sp>
      <p:sp>
        <p:nvSpPr>
          <p:cNvPr id="3" name="Content Placeholder 2"/>
          <p:cNvSpPr>
            <a:spLocks noGrp="1"/>
          </p:cNvSpPr>
          <p:nvPr>
            <p:ph idx="1"/>
          </p:nvPr>
        </p:nvSpPr>
        <p:spPr>
          <a:xfrm>
            <a:off x="628650" y="1273908"/>
            <a:ext cx="7886700" cy="4903055"/>
          </a:xfrm>
        </p:spPr>
        <p:txBody>
          <a:bodyPr/>
          <a:lstStyle>
            <a:lvl1pPr>
              <a:defRPr sz="2400"/>
            </a:lvl1pPr>
            <a:lvl2pPr>
              <a:defRPr sz="2000"/>
            </a:lvl2pPr>
            <a:lvl3pPr>
              <a:defRPr sz="2000"/>
            </a:lvl3pPr>
            <a:lvl4pPr>
              <a:defRPr sz="2000"/>
            </a:lvl4pPr>
            <a:lvl5pPr>
              <a:defRPr sz="20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7" name="Rechteck 6"/>
          <p:cNvSpPr/>
          <p:nvPr userDrawn="1"/>
        </p:nvSpPr>
        <p:spPr>
          <a:xfrm>
            <a:off x="0" y="6494585"/>
            <a:ext cx="9144000" cy="3634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Textfeld 7"/>
          <p:cNvSpPr txBox="1"/>
          <p:nvPr userDrawn="1"/>
        </p:nvSpPr>
        <p:spPr>
          <a:xfrm>
            <a:off x="8619241" y="6522403"/>
            <a:ext cx="524759" cy="307777"/>
          </a:xfrm>
          <a:prstGeom prst="rect">
            <a:avLst/>
          </a:prstGeom>
          <a:noFill/>
        </p:spPr>
        <p:txBody>
          <a:bodyPr wrap="none" rtlCol="0">
            <a:spAutoFit/>
          </a:bodyPr>
          <a:lstStyle/>
          <a:p>
            <a:fld id="{074E0E45-9C98-4C53-BF9B-4F4E7C25250F}" type="slidenum">
              <a:rPr lang="de-DE" sz="1400" b="1" smtClean="0">
                <a:latin typeface="+mn-lt"/>
              </a:rPr>
              <a:t>‹Nr.›</a:t>
            </a:fld>
            <a:endParaRPr lang="de-DE" sz="1400" b="1" dirty="0">
              <a:latin typeface="+mn-lt"/>
            </a:endParaRPr>
          </a:p>
        </p:txBody>
      </p:sp>
      <p:sp>
        <p:nvSpPr>
          <p:cNvPr id="9" name="Textfeld 8"/>
          <p:cNvSpPr txBox="1"/>
          <p:nvPr userDrawn="1"/>
        </p:nvSpPr>
        <p:spPr>
          <a:xfrm>
            <a:off x="132862" y="6522403"/>
            <a:ext cx="2070695" cy="307777"/>
          </a:xfrm>
          <a:prstGeom prst="rect">
            <a:avLst/>
          </a:prstGeom>
          <a:noFill/>
        </p:spPr>
        <p:txBody>
          <a:bodyPr wrap="none" rtlCol="0">
            <a:spAutoFit/>
          </a:bodyPr>
          <a:lstStyle/>
          <a:p>
            <a:r>
              <a:rPr lang="de-DE" sz="1400" b="1" dirty="0" smtClean="0"/>
              <a:t>Andreas Thor, </a:t>
            </a:r>
            <a:r>
              <a:rPr lang="de-DE" sz="1400" b="1" dirty="0" err="1" smtClean="0"/>
              <a:t>DeLFI</a:t>
            </a:r>
            <a:r>
              <a:rPr lang="de-DE" sz="1400" b="1" dirty="0" smtClean="0"/>
              <a:t> 2017</a:t>
            </a:r>
            <a:endParaRPr lang="de-DE" sz="1400" b="1" dirty="0"/>
          </a:p>
        </p:txBody>
      </p:sp>
    </p:spTree>
    <p:extLst>
      <p:ext uri="{BB962C8B-B14F-4D97-AF65-F5344CB8AC3E}">
        <p14:creationId xmlns:p14="http://schemas.microsoft.com/office/powerpoint/2010/main" val="266947299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de-DE" smtClean="0"/>
              <a:t>Titelmasterformat durch Klicken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1E13E174-3914-4D58-9E24-2A0CC84D465E}" type="datetimeFigureOut">
              <a:rPr lang="de-DE" smtClean="0"/>
              <a:t>31.08.2017</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331622120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Date Placeholder 4"/>
          <p:cNvSpPr>
            <a:spLocks noGrp="1"/>
          </p:cNvSpPr>
          <p:nvPr>
            <p:ph type="dt" sz="half" idx="10"/>
          </p:nvPr>
        </p:nvSpPr>
        <p:spPr/>
        <p:txBody>
          <a:bodyPr/>
          <a:lstStyle/>
          <a:p>
            <a:fld id="{1E13E174-3914-4D58-9E24-2A0CC84D465E}" type="datetimeFigureOut">
              <a:rPr lang="de-DE" smtClean="0"/>
              <a:t>31.08.2017</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1532831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de-DE" smtClean="0"/>
              <a:t>Titelmasterformat durch Klicken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Content Placeholder 3"/>
          <p:cNvSpPr>
            <a:spLocks noGrp="1"/>
          </p:cNvSpPr>
          <p:nvPr>
            <p:ph sz="half" idx="2"/>
          </p:nvPr>
        </p:nvSpPr>
        <p:spPr>
          <a:xfrm>
            <a:off x="629842" y="2505075"/>
            <a:ext cx="3868340" cy="368458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Content Placeholder 5"/>
          <p:cNvSpPr>
            <a:spLocks noGrp="1"/>
          </p:cNvSpPr>
          <p:nvPr>
            <p:ph sz="quarter" idx="4"/>
          </p:nvPr>
        </p:nvSpPr>
        <p:spPr>
          <a:xfrm>
            <a:off x="4629150" y="2505075"/>
            <a:ext cx="3887391" cy="368458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7" name="Date Placeholder 6"/>
          <p:cNvSpPr>
            <a:spLocks noGrp="1"/>
          </p:cNvSpPr>
          <p:nvPr>
            <p:ph type="dt" sz="half" idx="10"/>
          </p:nvPr>
        </p:nvSpPr>
        <p:spPr/>
        <p:txBody>
          <a:bodyPr/>
          <a:lstStyle/>
          <a:p>
            <a:fld id="{1E13E174-3914-4D58-9E24-2A0CC84D465E}" type="datetimeFigureOut">
              <a:rPr lang="de-DE" smtClean="0"/>
              <a:t>31.08.2017</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1448579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13E174-3914-4D58-9E24-2A0CC84D465E}" type="datetimeFigureOut">
              <a:rPr lang="de-DE" smtClean="0"/>
              <a:t>31.08.2017</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2105203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3E174-3914-4D58-9E24-2A0CC84D465E}" type="datetimeFigureOut">
              <a:rPr lang="de-DE" smtClean="0"/>
              <a:t>31.08.2017</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352854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smtClean="0"/>
              <a:t>Titelmasterformat durch Klicken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Textmasterformat bearbeiten</a:t>
            </a:r>
          </a:p>
        </p:txBody>
      </p:sp>
      <p:sp>
        <p:nvSpPr>
          <p:cNvPr id="5" name="Date Placeholder 4"/>
          <p:cNvSpPr>
            <a:spLocks noGrp="1"/>
          </p:cNvSpPr>
          <p:nvPr>
            <p:ph type="dt" sz="half" idx="10"/>
          </p:nvPr>
        </p:nvSpPr>
        <p:spPr/>
        <p:txBody>
          <a:bodyPr/>
          <a:lstStyle/>
          <a:p>
            <a:fld id="{1E13E174-3914-4D58-9E24-2A0CC84D465E}" type="datetimeFigureOut">
              <a:rPr lang="de-DE" smtClean="0"/>
              <a:t>31.08.2017</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263931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smtClean="0"/>
              <a:t>Titelmasterformat durch Klicken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Textmasterformat bearbeiten</a:t>
            </a:r>
          </a:p>
        </p:txBody>
      </p:sp>
      <p:sp>
        <p:nvSpPr>
          <p:cNvPr id="5" name="Date Placeholder 4"/>
          <p:cNvSpPr>
            <a:spLocks noGrp="1"/>
          </p:cNvSpPr>
          <p:nvPr>
            <p:ph type="dt" sz="half" idx="10"/>
          </p:nvPr>
        </p:nvSpPr>
        <p:spPr/>
        <p:txBody>
          <a:bodyPr/>
          <a:lstStyle/>
          <a:p>
            <a:fld id="{1E13E174-3914-4D58-9E24-2A0CC84D465E}" type="datetimeFigureOut">
              <a:rPr lang="de-DE" smtClean="0"/>
              <a:t>31.08.2017</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1545709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10"/>
          </p:nvPr>
        </p:nvSpPr>
        <p:spPr/>
        <p:txBody>
          <a:bodyPr/>
          <a:lstStyle/>
          <a:p>
            <a:fld id="{1E13E174-3914-4D58-9E24-2A0CC84D465E}" type="datetimeFigureOut">
              <a:rPr lang="de-DE" smtClean="0"/>
              <a:t>31.08.2017</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197655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10"/>
          </p:nvPr>
        </p:nvSpPr>
        <p:spPr/>
        <p:txBody>
          <a:bodyPr/>
          <a:lstStyle/>
          <a:p>
            <a:fld id="{1E13E174-3914-4D58-9E24-2A0CC84D465E}" type="datetimeFigureOut">
              <a:rPr lang="de-DE" smtClean="0"/>
              <a:t>31.08.2017</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5C3129D-1438-4D7E-935C-E8FBDC27C299}" type="slidenum">
              <a:rPr lang="de-DE" smtClean="0"/>
              <a:t>‹Nr.›</a:t>
            </a:fld>
            <a:endParaRPr lang="de-DE"/>
          </a:p>
        </p:txBody>
      </p:sp>
    </p:spTree>
    <p:extLst>
      <p:ext uri="{BB962C8B-B14F-4D97-AF65-F5344CB8AC3E}">
        <p14:creationId xmlns:p14="http://schemas.microsoft.com/office/powerpoint/2010/main" val="112015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3E174-3914-4D58-9E24-2A0CC84D465E}" type="datetimeFigureOut">
              <a:rPr lang="de-DE" smtClean="0"/>
              <a:t>31.08.2017</a:t>
            </a:fld>
            <a:endParaRPr lang="de-D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3129D-1438-4D7E-935C-E8FBDC27C299}" type="slidenum">
              <a:rPr lang="de-DE" smtClean="0"/>
              <a:t>‹Nr.›</a:t>
            </a:fld>
            <a:endParaRPr lang="de-DE"/>
          </a:p>
        </p:txBody>
      </p:sp>
    </p:spTree>
    <p:extLst>
      <p:ext uri="{BB962C8B-B14F-4D97-AF65-F5344CB8AC3E}">
        <p14:creationId xmlns:p14="http://schemas.microsoft.com/office/powerpoint/2010/main" val="4046959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png"/><Relationship Id="rId7"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0.jpeg"/><Relationship Id="rId5" Type="http://schemas.openxmlformats.org/officeDocument/2006/relationships/image" Target="../media/image12.jpeg"/><Relationship Id="rId10" Type="http://schemas.openxmlformats.org/officeDocument/2006/relationships/image" Target="../media/image13.jpeg"/><Relationship Id="rId4" Type="http://schemas.openxmlformats.org/officeDocument/2006/relationships/image" Target="../media/image5.png"/><Relationship Id="rId9"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0" y="889001"/>
            <a:ext cx="9144000" cy="3139357"/>
          </a:xfrm>
          <a:solidFill>
            <a:schemeClr val="bg1">
              <a:lumMod val="95000"/>
            </a:schemeClr>
          </a:solidFill>
        </p:spPr>
        <p:txBody>
          <a:bodyPr lIns="0" rIns="0" anchor="ctr">
            <a:normAutofit/>
          </a:bodyPr>
          <a:lstStyle/>
          <a:p>
            <a:r>
              <a:rPr lang="de-DE" sz="4600" dirty="0">
                <a:latin typeface="+mn-lt"/>
                <a:cs typeface="Times New Roman" panose="02020603050405020304" pitchFamily="18" charset="0"/>
              </a:rPr>
              <a:t>DIAL – Ein </a:t>
            </a:r>
            <a:r>
              <a:rPr lang="de-DE" sz="4600" dirty="0" err="1">
                <a:latin typeface="+mn-lt"/>
                <a:cs typeface="Times New Roman" panose="02020603050405020304" pitchFamily="18" charset="0"/>
              </a:rPr>
              <a:t>BigBlueButton</a:t>
            </a:r>
            <a:r>
              <a:rPr lang="de-DE" sz="4600" dirty="0">
                <a:latin typeface="+mn-lt"/>
                <a:cs typeface="Times New Roman" panose="02020603050405020304" pitchFamily="18" charset="0"/>
              </a:rPr>
              <a:t>-basiertes System für interaktive </a:t>
            </a:r>
            <a:br>
              <a:rPr lang="de-DE" sz="4600" dirty="0">
                <a:latin typeface="+mn-lt"/>
                <a:cs typeface="Times New Roman" panose="02020603050405020304" pitchFamily="18" charset="0"/>
              </a:rPr>
            </a:br>
            <a:r>
              <a:rPr lang="de-DE" sz="4600" dirty="0">
                <a:latin typeface="+mn-lt"/>
                <a:cs typeface="Times New Roman" panose="02020603050405020304" pitchFamily="18" charset="0"/>
              </a:rPr>
              <a:t>Live-Übertragungen von Vorlesungen</a:t>
            </a:r>
          </a:p>
        </p:txBody>
      </p:sp>
      <p:sp>
        <p:nvSpPr>
          <p:cNvPr id="3" name="Untertitel 2"/>
          <p:cNvSpPr>
            <a:spLocks noGrp="1"/>
          </p:cNvSpPr>
          <p:nvPr>
            <p:ph type="subTitle" idx="1"/>
          </p:nvPr>
        </p:nvSpPr>
        <p:spPr>
          <a:xfrm>
            <a:off x="0" y="4406900"/>
            <a:ext cx="9144000" cy="2214187"/>
          </a:xfrm>
        </p:spPr>
        <p:txBody>
          <a:bodyPr/>
          <a:lstStyle/>
          <a:p>
            <a:r>
              <a:rPr lang="de-DE" dirty="0" smtClean="0"/>
              <a:t>Luise Kaufmann</a:t>
            </a:r>
            <a:r>
              <a:rPr lang="de-DE" baseline="30000" dirty="0" smtClean="0"/>
              <a:t>1</a:t>
            </a:r>
            <a:r>
              <a:rPr lang="de-DE" dirty="0" smtClean="0"/>
              <a:t>, Tobias Welz</a:t>
            </a:r>
            <a:r>
              <a:rPr lang="de-DE" baseline="30000" dirty="0" smtClean="0"/>
              <a:t>2</a:t>
            </a:r>
            <a:r>
              <a:rPr lang="de-DE" dirty="0" smtClean="0"/>
              <a:t>, </a:t>
            </a:r>
            <a:r>
              <a:rPr lang="de-DE" u="sng" dirty="0" smtClean="0"/>
              <a:t>Andreas Thor</a:t>
            </a:r>
            <a:r>
              <a:rPr lang="de-DE" baseline="30000" dirty="0" smtClean="0"/>
              <a:t>2</a:t>
            </a:r>
            <a:r>
              <a:rPr lang="de-DE" dirty="0" smtClean="0"/>
              <a:t> </a:t>
            </a:r>
            <a:endParaRPr lang="de-DE" baseline="30000" dirty="0" smtClean="0"/>
          </a:p>
          <a:p>
            <a:endParaRPr lang="de-DE" dirty="0" smtClean="0"/>
          </a:p>
          <a:p>
            <a:endParaRPr lang="de-DE" dirty="0" smtClean="0"/>
          </a:p>
          <a:p>
            <a:endParaRPr lang="de-DE" dirty="0"/>
          </a:p>
        </p:txBody>
      </p:sp>
      <p:pic>
        <p:nvPicPr>
          <p:cNvPr id="6" name="Grafik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2197" y="5708713"/>
            <a:ext cx="2288271" cy="1063135"/>
          </a:xfrm>
          <a:prstGeom prst="rect">
            <a:avLst/>
          </a:prstGeom>
        </p:spPr>
      </p:pic>
      <p:sp>
        <p:nvSpPr>
          <p:cNvPr id="7" name="Rechteck 6"/>
          <p:cNvSpPr/>
          <p:nvPr/>
        </p:nvSpPr>
        <p:spPr>
          <a:xfrm>
            <a:off x="670435" y="5186749"/>
            <a:ext cx="4572000" cy="923330"/>
          </a:xfrm>
          <a:prstGeom prst="rect">
            <a:avLst/>
          </a:prstGeom>
        </p:spPr>
        <p:txBody>
          <a:bodyPr>
            <a:spAutoFit/>
          </a:bodyPr>
          <a:lstStyle/>
          <a:p>
            <a:r>
              <a:rPr lang="de-DE" baseline="30000" dirty="0" smtClean="0"/>
              <a:t>1 </a:t>
            </a:r>
            <a:r>
              <a:rPr lang="de-DE" dirty="0"/>
              <a:t>T-Systems </a:t>
            </a:r>
            <a:r>
              <a:rPr lang="de-DE" dirty="0" smtClean="0"/>
              <a:t>International GmbH</a:t>
            </a:r>
          </a:p>
          <a:p>
            <a:r>
              <a:rPr lang="de-DE" baseline="30000" dirty="0" smtClean="0"/>
              <a:t>2 </a:t>
            </a:r>
            <a:r>
              <a:rPr lang="de-DE" dirty="0" smtClean="0"/>
              <a:t>Hochschule </a:t>
            </a:r>
            <a:r>
              <a:rPr lang="de-DE" dirty="0"/>
              <a:t>für Telekommunikation Leipzig</a:t>
            </a:r>
            <a:br>
              <a:rPr lang="de-DE" dirty="0"/>
            </a:br>
            <a:endParaRPr lang="de-DE" dirty="0"/>
          </a:p>
        </p:txBody>
      </p:sp>
      <p:pic>
        <p:nvPicPr>
          <p:cNvPr id="8" name="Grafik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2870" y="5169918"/>
            <a:ext cx="2147598" cy="393539"/>
          </a:xfrm>
          <a:prstGeom prst="rect">
            <a:avLst/>
          </a:prstGeom>
        </p:spPr>
      </p:pic>
    </p:spTree>
    <p:extLst>
      <p:ext uri="{BB962C8B-B14F-4D97-AF65-F5344CB8AC3E}">
        <p14:creationId xmlns:p14="http://schemas.microsoft.com/office/powerpoint/2010/main" val="3744607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Motivation</a:t>
            </a:r>
            <a:endParaRPr lang="de-DE" dirty="0"/>
          </a:p>
        </p:txBody>
      </p:sp>
      <p:sp>
        <p:nvSpPr>
          <p:cNvPr id="3" name="Inhaltsplatzhalter 2"/>
          <p:cNvSpPr>
            <a:spLocks noGrp="1"/>
          </p:cNvSpPr>
          <p:nvPr>
            <p:ph idx="1"/>
          </p:nvPr>
        </p:nvSpPr>
        <p:spPr>
          <a:xfrm>
            <a:off x="628650" y="1273908"/>
            <a:ext cx="8402250" cy="4903055"/>
          </a:xfrm>
        </p:spPr>
        <p:txBody>
          <a:bodyPr>
            <a:normAutofit/>
          </a:bodyPr>
          <a:lstStyle/>
          <a:p>
            <a:pPr marL="0" indent="0">
              <a:buNone/>
            </a:pPr>
            <a:r>
              <a:rPr lang="de-DE" dirty="0" smtClean="0"/>
              <a:t>Problem: Studierendenzahlen</a:t>
            </a:r>
            <a:br>
              <a:rPr lang="de-DE" dirty="0" smtClean="0"/>
            </a:br>
            <a:r>
              <a:rPr lang="de-DE" dirty="0" smtClean="0"/>
              <a:t>übersteigen Hörsaalkapazität</a:t>
            </a:r>
            <a:br>
              <a:rPr lang="de-DE" dirty="0" smtClean="0"/>
            </a:br>
            <a:endParaRPr lang="de-DE" dirty="0" smtClean="0"/>
          </a:p>
          <a:p>
            <a:pPr marL="0" indent="0">
              <a:buNone/>
            </a:pPr>
            <a:r>
              <a:rPr lang="de-DE" dirty="0" smtClean="0"/>
              <a:t>Lösungen</a:t>
            </a:r>
          </a:p>
          <a:p>
            <a:r>
              <a:rPr lang="de-DE" dirty="0" smtClean="0"/>
              <a:t>Größeren Hörsaal bauen / anmieten</a:t>
            </a:r>
          </a:p>
          <a:p>
            <a:r>
              <a:rPr lang="de-DE" dirty="0" smtClean="0"/>
              <a:t>„Kommen sowie nicht alle zur Vorlesung“</a:t>
            </a:r>
          </a:p>
          <a:p>
            <a:r>
              <a:rPr lang="de-DE" dirty="0" smtClean="0"/>
              <a:t>Aufteilung in Gruppen </a:t>
            </a:r>
            <a:r>
              <a:rPr lang="de-DE" dirty="0" smtClean="0">
                <a:sym typeface="Wingdings" panose="05000000000000000000" pitchFamily="2" charset="2"/>
              </a:rPr>
              <a:t> Vorlesung mehrfach halten</a:t>
            </a:r>
            <a:br>
              <a:rPr lang="de-DE" dirty="0" smtClean="0">
                <a:sym typeface="Wingdings" panose="05000000000000000000" pitchFamily="2" charset="2"/>
              </a:rPr>
            </a:br>
            <a:endParaRPr lang="de-DE" dirty="0" smtClean="0">
              <a:sym typeface="Wingdings" panose="05000000000000000000" pitchFamily="2" charset="2"/>
            </a:endParaRPr>
          </a:p>
          <a:p>
            <a:r>
              <a:rPr lang="de-DE" dirty="0" smtClean="0">
                <a:sym typeface="Wingdings" panose="05000000000000000000" pitchFamily="2" charset="2"/>
              </a:rPr>
              <a:t>Live-Übertragung der Vorlesung in mehrere </a:t>
            </a:r>
            <a:r>
              <a:rPr lang="de-DE" dirty="0" smtClean="0">
                <a:sym typeface="Wingdings" panose="05000000000000000000" pitchFamily="2" charset="2"/>
              </a:rPr>
              <a:t>Hörsäle</a:t>
            </a:r>
          </a:p>
          <a:p>
            <a:pPr lvl="1"/>
            <a:r>
              <a:rPr lang="de-DE" dirty="0" smtClean="0">
                <a:sym typeface="Wingdings" panose="05000000000000000000" pitchFamily="2" charset="2"/>
              </a:rPr>
              <a:t>Audio- und Video-Übertragung</a:t>
            </a:r>
          </a:p>
          <a:p>
            <a:pPr lvl="1"/>
            <a:r>
              <a:rPr lang="de-DE" dirty="0" smtClean="0">
                <a:sym typeface="Wingdings" panose="05000000000000000000" pitchFamily="2" charset="2"/>
              </a:rPr>
              <a:t>Folien, Annotation, …</a:t>
            </a:r>
          </a:p>
          <a:p>
            <a:pPr lvl="1"/>
            <a:r>
              <a:rPr lang="de-DE" dirty="0" smtClean="0">
                <a:sym typeface="Wingdings" panose="05000000000000000000" pitchFamily="2" charset="2"/>
              </a:rPr>
              <a:t>Interaktion: Fragen stellen (Chat), Abstimmungen</a:t>
            </a:r>
            <a:endParaRPr lang="de-DE" dirty="0"/>
          </a:p>
        </p:txBody>
      </p:sp>
      <p:pic>
        <p:nvPicPr>
          <p:cNvPr id="4" name="Grafik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9750" y="42248"/>
            <a:ext cx="3911150" cy="2607433"/>
          </a:xfrm>
          <a:prstGeom prst="rect">
            <a:avLst/>
          </a:prstGeom>
        </p:spPr>
      </p:pic>
      <p:sp>
        <p:nvSpPr>
          <p:cNvPr id="5" name="Wolkenförmige Legende 4"/>
          <p:cNvSpPr/>
          <p:nvPr/>
        </p:nvSpPr>
        <p:spPr>
          <a:xfrm>
            <a:off x="6693399" y="4868333"/>
            <a:ext cx="2202294" cy="1487244"/>
          </a:xfrm>
          <a:prstGeom prst="cloudCallout">
            <a:avLst>
              <a:gd name="adj1" fmla="val -61051"/>
              <a:gd name="adj2" fmla="val -39894"/>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2400" b="1" dirty="0" smtClean="0"/>
              <a:t>Web-Konferenz-System?</a:t>
            </a:r>
            <a:endParaRPr lang="de-DE" sz="2400" b="1" dirty="0"/>
          </a:p>
        </p:txBody>
      </p:sp>
    </p:spTree>
    <p:extLst>
      <p:ext uri="{BB962C8B-B14F-4D97-AF65-F5344CB8AC3E}">
        <p14:creationId xmlns:p14="http://schemas.microsoft.com/office/powerpoint/2010/main" val="153825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smtClean="0"/>
              <a:t>Web-Konferenz-System (</a:t>
            </a:r>
            <a:r>
              <a:rPr lang="de-DE" dirty="0" err="1" smtClean="0"/>
              <a:t>Bsp</a:t>
            </a:r>
            <a:r>
              <a:rPr lang="de-DE" dirty="0" smtClean="0"/>
              <a:t>: </a:t>
            </a:r>
            <a:r>
              <a:rPr lang="de-DE" dirty="0" err="1" smtClean="0"/>
              <a:t>BigBlueButton</a:t>
            </a:r>
            <a:r>
              <a:rPr lang="de-DE" dirty="0" smtClean="0"/>
              <a:t>)</a:t>
            </a:r>
            <a:endParaRPr lang="de-DE" dirty="0"/>
          </a:p>
        </p:txBody>
      </p:sp>
      <p:pic>
        <p:nvPicPr>
          <p:cNvPr id="4" name="Inhaltsplatzhalt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9340" y="1109440"/>
            <a:ext cx="8965319" cy="5003493"/>
          </a:xfrm>
        </p:spPr>
      </p:pic>
      <p:sp>
        <p:nvSpPr>
          <p:cNvPr id="5" name="Abgerundete rechteckige Legende 4"/>
          <p:cNvSpPr/>
          <p:nvPr/>
        </p:nvSpPr>
        <p:spPr>
          <a:xfrm>
            <a:off x="406400" y="2976186"/>
            <a:ext cx="1490133" cy="635000"/>
          </a:xfrm>
          <a:prstGeom prst="wedgeRoundRectCallout">
            <a:avLst>
              <a:gd name="adj1" fmla="val -33901"/>
              <a:gd name="adj2" fmla="val -92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Liste der Teilnehmer</a:t>
            </a:r>
            <a:endParaRPr lang="de-DE" dirty="0"/>
          </a:p>
        </p:txBody>
      </p:sp>
      <p:sp>
        <p:nvSpPr>
          <p:cNvPr id="6" name="Abgerundete rechteckige Legende 5"/>
          <p:cNvSpPr/>
          <p:nvPr/>
        </p:nvSpPr>
        <p:spPr>
          <a:xfrm>
            <a:off x="1532466" y="4749797"/>
            <a:ext cx="1540933" cy="635000"/>
          </a:xfrm>
          <a:prstGeom prst="wedgeRoundRectCallout">
            <a:avLst>
              <a:gd name="adj1" fmla="val -64402"/>
              <a:gd name="adj2" fmla="val -9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Video / Audio</a:t>
            </a:r>
            <a:br>
              <a:rPr lang="de-DE" dirty="0" smtClean="0"/>
            </a:br>
            <a:r>
              <a:rPr lang="de-DE" dirty="0" smtClean="0"/>
              <a:t> (Dozent)</a:t>
            </a:r>
            <a:endParaRPr lang="de-DE" dirty="0"/>
          </a:p>
        </p:txBody>
      </p:sp>
      <p:sp>
        <p:nvSpPr>
          <p:cNvPr id="7" name="Abgerundete rechteckige Legende 6"/>
          <p:cNvSpPr/>
          <p:nvPr/>
        </p:nvSpPr>
        <p:spPr>
          <a:xfrm>
            <a:off x="4673600" y="2243819"/>
            <a:ext cx="1540933" cy="635000"/>
          </a:xfrm>
          <a:prstGeom prst="wedgeRoundRectCallout">
            <a:avLst>
              <a:gd name="adj1" fmla="val -42424"/>
              <a:gd name="adj2" fmla="val 998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Folien mit</a:t>
            </a:r>
            <a:br>
              <a:rPr lang="de-DE" dirty="0" smtClean="0"/>
            </a:br>
            <a:r>
              <a:rPr lang="de-DE" dirty="0" smtClean="0"/>
              <a:t>Annotationen</a:t>
            </a:r>
            <a:endParaRPr lang="de-DE" dirty="0"/>
          </a:p>
        </p:txBody>
      </p:sp>
      <p:sp>
        <p:nvSpPr>
          <p:cNvPr id="8" name="Abgerundete rechteckige Legende 7"/>
          <p:cNvSpPr/>
          <p:nvPr/>
        </p:nvSpPr>
        <p:spPr>
          <a:xfrm>
            <a:off x="3547534" y="4656665"/>
            <a:ext cx="1540933" cy="635000"/>
          </a:xfrm>
          <a:prstGeom prst="wedgeRoundRectCallout">
            <a:avLst>
              <a:gd name="adj1" fmla="val -42424"/>
              <a:gd name="adj2" fmla="val 998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Umfragen</a:t>
            </a:r>
            <a:endParaRPr lang="de-DE" dirty="0"/>
          </a:p>
        </p:txBody>
      </p:sp>
      <p:sp>
        <p:nvSpPr>
          <p:cNvPr id="9" name="Abgerundete rechteckige Legende 8"/>
          <p:cNvSpPr/>
          <p:nvPr/>
        </p:nvSpPr>
        <p:spPr>
          <a:xfrm>
            <a:off x="6974417" y="3911599"/>
            <a:ext cx="1540933" cy="635000"/>
          </a:xfrm>
          <a:prstGeom prst="wedgeRoundRectCallout">
            <a:avLst>
              <a:gd name="adj1" fmla="val -30886"/>
              <a:gd name="adj2" fmla="val -92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Chat</a:t>
            </a:r>
            <a:endParaRPr lang="de-DE" dirty="0"/>
          </a:p>
        </p:txBody>
      </p:sp>
      <p:sp>
        <p:nvSpPr>
          <p:cNvPr id="10" name="Textfeld 9"/>
          <p:cNvSpPr txBox="1"/>
          <p:nvPr/>
        </p:nvSpPr>
        <p:spPr>
          <a:xfrm>
            <a:off x="4258733" y="6250801"/>
            <a:ext cx="4428713" cy="276999"/>
          </a:xfrm>
          <a:prstGeom prst="rect">
            <a:avLst/>
          </a:prstGeom>
          <a:noFill/>
        </p:spPr>
        <p:txBody>
          <a:bodyPr wrap="none" rtlCol="0">
            <a:spAutoFit/>
          </a:bodyPr>
          <a:lstStyle/>
          <a:p>
            <a:r>
              <a:rPr lang="de-DE" sz="1200" dirty="0"/>
              <a:t>https://bigbluebutton.org/2017/05/25/bigbluebutton-1-1-released/</a:t>
            </a:r>
          </a:p>
        </p:txBody>
      </p:sp>
      <p:pic>
        <p:nvPicPr>
          <p:cNvPr id="13" name="Picture 6" descr="Datei:Bbb logo.png"/>
          <p:cNvPicPr>
            <a:picLocks noChangeAspect="1" noChangeArrowheads="1"/>
          </p:cNvPicPr>
          <p:nvPr/>
        </p:nvPicPr>
        <p:blipFill rotWithShape="1">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8398198" y="319888"/>
            <a:ext cx="614125" cy="602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35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hteck 134"/>
          <p:cNvSpPr/>
          <p:nvPr/>
        </p:nvSpPr>
        <p:spPr>
          <a:xfrm>
            <a:off x="382527" y="1755429"/>
            <a:ext cx="3054544" cy="1408602"/>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p:nvPr>
        </p:nvSpPr>
        <p:spPr/>
        <p:txBody>
          <a:bodyPr/>
          <a:lstStyle/>
          <a:p>
            <a:r>
              <a:rPr lang="de-DE" dirty="0" smtClean="0"/>
              <a:t>Szenario: </a:t>
            </a:r>
            <a:r>
              <a:rPr lang="de-DE" dirty="0" err="1" smtClean="0"/>
              <a:t>BigBlueButton</a:t>
            </a:r>
            <a:r>
              <a:rPr lang="de-DE" dirty="0" smtClean="0"/>
              <a:t> (naiv)</a:t>
            </a:r>
            <a:endParaRPr lang="de-DE" dirty="0"/>
          </a:p>
        </p:txBody>
      </p:sp>
      <p:grpSp>
        <p:nvGrpSpPr>
          <p:cNvPr id="30" name="Gruppieren 29"/>
          <p:cNvGrpSpPr/>
          <p:nvPr/>
        </p:nvGrpSpPr>
        <p:grpSpPr>
          <a:xfrm>
            <a:off x="4958674" y="3723619"/>
            <a:ext cx="1330909" cy="1470609"/>
            <a:chOff x="5102613" y="3723619"/>
            <a:chExt cx="1330909" cy="1470609"/>
          </a:xfrm>
        </p:grpSpPr>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2613" y="3974858"/>
              <a:ext cx="1219370" cy="1219370"/>
            </a:xfrm>
            <a:prstGeom prst="rect">
              <a:avLst/>
            </a:prstGeom>
            <a:ln w="12700">
              <a:solidFill>
                <a:schemeClr val="tx1"/>
              </a:solidFill>
            </a:ln>
          </p:spPr>
        </p:pic>
        <p:pic>
          <p:nvPicPr>
            <p:cNvPr id="6" name="Picture 6" descr="Datei:Bbb logo.png"/>
            <p:cNvPicPr>
              <a:picLocks noChangeAspect="1" noChangeArrowheads="1"/>
            </p:cNvPicPr>
            <p:nvPr/>
          </p:nvPicPr>
          <p:blipFill rotWithShape="1">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5939698" y="3723619"/>
              <a:ext cx="493824" cy="48446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hteck 7"/>
          <p:cNvSpPr/>
          <p:nvPr/>
        </p:nvSpPr>
        <p:spPr>
          <a:xfrm>
            <a:off x="364079" y="1242778"/>
            <a:ext cx="918102" cy="334659"/>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1</a:t>
            </a:r>
            <a:endParaRPr lang="de-DE" dirty="0">
              <a:solidFill>
                <a:sysClr val="windowText" lastClr="000000"/>
              </a:solidFill>
            </a:endParaRPr>
          </a:p>
        </p:txBody>
      </p:sp>
      <p:sp>
        <p:nvSpPr>
          <p:cNvPr id="9" name="Rechteck 8"/>
          <p:cNvSpPr/>
          <p:nvPr/>
        </p:nvSpPr>
        <p:spPr>
          <a:xfrm>
            <a:off x="3614021" y="1242778"/>
            <a:ext cx="918102" cy="334659"/>
          </a:xfrm>
          <a:prstGeom prst="rect">
            <a:avLst/>
          </a:prstGeom>
          <a:solidFill>
            <a:srgbClr val="FF7C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2</a:t>
            </a:r>
            <a:endParaRPr lang="de-DE" dirty="0">
              <a:solidFill>
                <a:sysClr val="windowText" lastClr="000000"/>
              </a:solidFill>
            </a:endParaRPr>
          </a:p>
        </p:txBody>
      </p:sp>
      <p:grpSp>
        <p:nvGrpSpPr>
          <p:cNvPr id="29" name="Gruppieren 28"/>
          <p:cNvGrpSpPr/>
          <p:nvPr/>
        </p:nvGrpSpPr>
        <p:grpSpPr>
          <a:xfrm>
            <a:off x="2141707" y="2598640"/>
            <a:ext cx="3900964" cy="1124979"/>
            <a:chOff x="2141707" y="2598640"/>
            <a:chExt cx="3900964" cy="1124979"/>
          </a:xfrm>
        </p:grpSpPr>
        <p:cxnSp>
          <p:nvCxnSpPr>
            <p:cNvPr id="74" name="Gerade Verbindung mit Pfeil 1039"/>
            <p:cNvCxnSpPr>
              <a:stCxn id="6" idx="0"/>
              <a:endCxn id="184" idx="2"/>
            </p:cNvCxnSpPr>
            <p:nvPr/>
          </p:nvCxnSpPr>
          <p:spPr>
            <a:xfrm rot="16200000" flipV="1">
              <a:off x="3878471" y="1559418"/>
              <a:ext cx="654240" cy="3674161"/>
            </a:xfrm>
            <a:prstGeom prst="bentConnector3">
              <a:avLst>
                <a:gd name="adj1" fmla="val 50000"/>
              </a:avLst>
            </a:prstGeom>
            <a:ln w="25400">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8" name="Gerade Verbindung mit Pfeil 11"/>
            <p:cNvCxnSpPr/>
            <p:nvPr/>
          </p:nvCxnSpPr>
          <p:spPr>
            <a:xfrm rot="5400000">
              <a:off x="2666086" y="2527867"/>
              <a:ext cx="310309" cy="451856"/>
            </a:xfrm>
            <a:prstGeom prst="bentConnector2">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84" name="Grafik 183"/>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2141707" y="2748517"/>
              <a:ext cx="453605" cy="320862"/>
            </a:xfrm>
            <a:prstGeom prst="rect">
              <a:avLst/>
            </a:prstGeom>
          </p:spPr>
        </p:pic>
        <p:pic>
          <p:nvPicPr>
            <p:cNvPr id="185"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2291707" y="2826433"/>
              <a:ext cx="153906" cy="150990"/>
            </a:xfrm>
            <a:prstGeom prst="rect">
              <a:avLst/>
            </a:prstGeom>
            <a:noFill/>
            <a:extLst>
              <a:ext uri="{909E8E84-426E-40DD-AFC4-6F175D3DCCD1}">
                <a14:hiddenFill xmlns:a14="http://schemas.microsoft.com/office/drawing/2010/main">
                  <a:solidFill>
                    <a:srgbClr val="FFFFFF"/>
                  </a:solidFill>
                </a14:hiddenFill>
              </a:ext>
            </a:extLst>
          </p:spPr>
        </p:pic>
      </p:grpSp>
      <p:pic>
        <p:nvPicPr>
          <p:cNvPr id="191" name="Grafik 190"/>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7381" y="1830921"/>
            <a:ext cx="1219200" cy="1219200"/>
          </a:xfrm>
          <a:prstGeom prst="rect">
            <a:avLst/>
          </a:prstGeom>
          <a:noFill/>
          <a:ln w="12700">
            <a:noFill/>
          </a:ln>
        </p:spPr>
      </p:pic>
      <p:sp>
        <p:nvSpPr>
          <p:cNvPr id="190" name="Rechteck 189"/>
          <p:cNvSpPr/>
          <p:nvPr/>
        </p:nvSpPr>
        <p:spPr>
          <a:xfrm>
            <a:off x="419581" y="1796514"/>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97" name="Grafik 196"/>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01455" y="1907213"/>
            <a:ext cx="691426" cy="691426"/>
          </a:xfrm>
          <a:prstGeom prst="rect">
            <a:avLst/>
          </a:prstGeom>
        </p:spPr>
      </p:pic>
      <p:grpSp>
        <p:nvGrpSpPr>
          <p:cNvPr id="229" name="Gruppieren 228"/>
          <p:cNvGrpSpPr/>
          <p:nvPr/>
        </p:nvGrpSpPr>
        <p:grpSpPr>
          <a:xfrm>
            <a:off x="5568360" y="3985607"/>
            <a:ext cx="3452250" cy="1816837"/>
            <a:chOff x="5568360" y="3985607"/>
            <a:chExt cx="3452250" cy="1816837"/>
          </a:xfrm>
        </p:grpSpPr>
        <p:grpSp>
          <p:nvGrpSpPr>
            <p:cNvPr id="225" name="Gruppieren 224"/>
            <p:cNvGrpSpPr/>
            <p:nvPr/>
          </p:nvGrpSpPr>
          <p:grpSpPr>
            <a:xfrm>
              <a:off x="7150210" y="4323755"/>
              <a:ext cx="850616" cy="585857"/>
              <a:chOff x="1814139" y="1221303"/>
              <a:chExt cx="3731830" cy="2639745"/>
            </a:xfrm>
          </p:grpSpPr>
          <p:pic>
            <p:nvPicPr>
              <p:cNvPr id="237" name="Grafik 236"/>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38"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26" name="Gerade Verbindung mit Pfeil 11"/>
            <p:cNvCxnSpPr>
              <a:stCxn id="248" idx="1"/>
              <a:endCxn id="5" idx="2"/>
            </p:cNvCxnSpPr>
            <p:nvPr/>
          </p:nvCxnSpPr>
          <p:spPr>
            <a:xfrm rot="10800000" flipV="1">
              <a:off x="5568360" y="4278536"/>
              <a:ext cx="1205947" cy="915692"/>
            </a:xfrm>
            <a:prstGeom prst="bentConnector4">
              <a:avLst>
                <a:gd name="adj1" fmla="val 24722"/>
                <a:gd name="adj2" fmla="val 12496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uppieren 243"/>
            <p:cNvGrpSpPr/>
            <p:nvPr/>
          </p:nvGrpSpPr>
          <p:grpSpPr>
            <a:xfrm>
              <a:off x="6946607" y="4155854"/>
              <a:ext cx="850616" cy="585857"/>
              <a:chOff x="1814139" y="1221303"/>
              <a:chExt cx="3731830" cy="2639745"/>
            </a:xfrm>
          </p:grpSpPr>
          <p:pic>
            <p:nvPicPr>
              <p:cNvPr id="245" name="Grafik 244"/>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46"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7" name="Gruppieren 246"/>
            <p:cNvGrpSpPr/>
            <p:nvPr/>
          </p:nvGrpSpPr>
          <p:grpSpPr>
            <a:xfrm>
              <a:off x="6774306" y="3985607"/>
              <a:ext cx="850616" cy="585857"/>
              <a:chOff x="1814139" y="1221303"/>
              <a:chExt cx="3731830" cy="2639745"/>
            </a:xfrm>
          </p:grpSpPr>
          <p:pic>
            <p:nvPicPr>
              <p:cNvPr id="248" name="Grafik 247"/>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49"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feld 2"/>
            <p:cNvSpPr txBox="1"/>
            <p:nvPr/>
          </p:nvSpPr>
          <p:spPr>
            <a:xfrm>
              <a:off x="6439775" y="4879114"/>
              <a:ext cx="2580835" cy="923330"/>
            </a:xfrm>
            <a:prstGeom prst="rect">
              <a:avLst/>
            </a:prstGeom>
            <a:noFill/>
          </p:spPr>
          <p:txBody>
            <a:bodyPr wrap="none" rtlCol="0">
              <a:spAutoFit/>
            </a:bodyPr>
            <a:lstStyle/>
            <a:p>
              <a:r>
                <a:rPr lang="de-DE" dirty="0" smtClean="0"/>
                <a:t>Weitere </a:t>
              </a:r>
              <a:r>
                <a:rPr lang="de-DE" dirty="0" smtClean="0"/>
                <a:t>Nutzer</a:t>
              </a:r>
              <a:endParaRPr lang="de-DE" dirty="0"/>
            </a:p>
            <a:p>
              <a:pPr marL="285750" indent="-285750">
                <a:buFont typeface="Arial" panose="020B0604020202020204" pitchFamily="34" charset="0"/>
                <a:buChar char="•"/>
              </a:pPr>
              <a:r>
                <a:rPr lang="de-DE" dirty="0" err="1" smtClean="0"/>
                <a:t>Studis@Home</a:t>
              </a:r>
              <a:endParaRPr lang="de-DE" dirty="0"/>
            </a:p>
            <a:p>
              <a:pPr marL="285750" indent="-285750">
                <a:buFont typeface="Arial" panose="020B0604020202020204" pitchFamily="34" charset="0"/>
                <a:buChar char="•"/>
              </a:pPr>
              <a:r>
                <a:rPr lang="de-DE" dirty="0" smtClean="0"/>
                <a:t>Andere Standorte (HS)</a:t>
              </a:r>
              <a:endParaRPr lang="de-DE" dirty="0"/>
            </a:p>
          </p:txBody>
        </p:sp>
      </p:grpSp>
      <p:grpSp>
        <p:nvGrpSpPr>
          <p:cNvPr id="227" name="Gruppieren 226"/>
          <p:cNvGrpSpPr/>
          <p:nvPr/>
        </p:nvGrpSpPr>
        <p:grpSpPr>
          <a:xfrm>
            <a:off x="6042671" y="1253104"/>
            <a:ext cx="2737647" cy="2470516"/>
            <a:chOff x="6042671" y="1253104"/>
            <a:chExt cx="2737647" cy="2470516"/>
          </a:xfrm>
        </p:grpSpPr>
        <p:cxnSp>
          <p:nvCxnSpPr>
            <p:cNvPr id="78" name="Gerade Verbindung mit Pfeil 1039"/>
            <p:cNvCxnSpPr>
              <a:stCxn id="6" idx="0"/>
              <a:endCxn id="143" idx="2"/>
            </p:cNvCxnSpPr>
            <p:nvPr/>
          </p:nvCxnSpPr>
          <p:spPr>
            <a:xfrm rot="5400000" flipH="1" flipV="1">
              <a:off x="6158817" y="2907567"/>
              <a:ext cx="699907" cy="932199"/>
            </a:xfrm>
            <a:prstGeom prst="bentConnector3">
              <a:avLst>
                <a:gd name="adj1" fmla="val 50000"/>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 name="Gerade Verbindung mit Pfeil 1039"/>
            <p:cNvCxnSpPr/>
            <p:nvPr/>
          </p:nvCxnSpPr>
          <p:spPr>
            <a:xfrm rot="16200000" flipH="1">
              <a:off x="6469784" y="2820228"/>
              <a:ext cx="632304" cy="388775"/>
            </a:xfrm>
            <a:prstGeom prst="bentConnector3">
              <a:avLst>
                <a:gd name="adj1" fmla="val 50000"/>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Gerade Verbindung mit Pfeil 1039"/>
            <p:cNvCxnSpPr/>
            <p:nvPr/>
          </p:nvCxnSpPr>
          <p:spPr>
            <a:xfrm rot="16200000" flipH="1">
              <a:off x="6325684" y="2608077"/>
              <a:ext cx="1025519" cy="272383"/>
            </a:xfrm>
            <a:prstGeom prst="bentConnector3">
              <a:avLst>
                <a:gd name="adj1" fmla="val 75939"/>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Gerade Verbindung mit Pfeil 1039"/>
            <p:cNvCxnSpPr/>
            <p:nvPr/>
          </p:nvCxnSpPr>
          <p:spPr>
            <a:xfrm rot="5400000">
              <a:off x="6824226" y="2840888"/>
              <a:ext cx="645980" cy="333782"/>
            </a:xfrm>
            <a:prstGeom prst="bentConnector3">
              <a:avLst>
                <a:gd name="adj1" fmla="val 50000"/>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 name="Gruppieren 27"/>
            <p:cNvGrpSpPr/>
            <p:nvPr/>
          </p:nvGrpSpPr>
          <p:grpSpPr>
            <a:xfrm>
              <a:off x="6146518" y="1253104"/>
              <a:ext cx="2633800" cy="1839671"/>
              <a:chOff x="6146518" y="1253104"/>
              <a:chExt cx="2633800" cy="1839671"/>
            </a:xfrm>
          </p:grpSpPr>
          <p:sp>
            <p:nvSpPr>
              <p:cNvPr id="177" name="Rechteck 176"/>
              <p:cNvSpPr/>
              <p:nvPr/>
            </p:nvSpPr>
            <p:spPr>
              <a:xfrm>
                <a:off x="6176831" y="1684173"/>
                <a:ext cx="2603487" cy="1408602"/>
              </a:xfrm>
              <a:prstGeom prst="rect">
                <a:avLst/>
              </a:prstGeom>
              <a:solidFill>
                <a:srgbClr val="66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6146518" y="1253104"/>
                <a:ext cx="918102" cy="334659"/>
              </a:xfrm>
              <a:prstGeom prst="rect">
                <a:avLst/>
              </a:prstGeom>
              <a:solidFill>
                <a:srgbClr val="66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3</a:t>
                </a:r>
                <a:endParaRPr lang="de-DE" dirty="0">
                  <a:solidFill>
                    <a:sysClr val="windowText" lastClr="000000"/>
                  </a:solidFill>
                </a:endParaRPr>
              </a:p>
            </p:txBody>
          </p:sp>
          <p:pic>
            <p:nvPicPr>
              <p:cNvPr id="144" name="Grafik 143"/>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66773" y="1765665"/>
                <a:ext cx="1219200" cy="1219200"/>
              </a:xfrm>
              <a:prstGeom prst="rect">
                <a:avLst/>
              </a:prstGeom>
              <a:noFill/>
              <a:ln w="12700">
                <a:noFill/>
              </a:ln>
            </p:spPr>
          </p:pic>
          <p:sp>
            <p:nvSpPr>
              <p:cNvPr id="143" name="Rechteck 142"/>
              <p:cNvSpPr/>
              <p:nvPr/>
            </p:nvSpPr>
            <p:spPr>
              <a:xfrm>
                <a:off x="6348973" y="1731258"/>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4" name="Gruppieren 3"/>
              <p:cNvGrpSpPr/>
              <p:nvPr/>
            </p:nvGrpSpPr>
            <p:grpSpPr>
              <a:xfrm>
                <a:off x="6888123" y="2050153"/>
                <a:ext cx="453605" cy="320862"/>
                <a:chOff x="764018" y="3476917"/>
                <a:chExt cx="453605" cy="320862"/>
              </a:xfrm>
            </p:grpSpPr>
            <p:pic>
              <p:nvPicPr>
                <p:cNvPr id="94" name="Grafik 93"/>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96"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Gruppieren 96"/>
              <p:cNvGrpSpPr/>
              <p:nvPr/>
            </p:nvGrpSpPr>
            <p:grpSpPr>
              <a:xfrm>
                <a:off x="6466932" y="2038988"/>
                <a:ext cx="453605" cy="320862"/>
                <a:chOff x="764018" y="3476917"/>
                <a:chExt cx="453605" cy="320862"/>
              </a:xfrm>
            </p:grpSpPr>
            <p:pic>
              <p:nvPicPr>
                <p:cNvPr id="98" name="Grafik 97"/>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99"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7" name="Gerade Verbindung mit Pfeil 1039"/>
              <p:cNvCxnSpPr/>
              <p:nvPr/>
            </p:nvCxnSpPr>
            <p:spPr>
              <a:xfrm rot="5400000">
                <a:off x="6628972" y="2594569"/>
                <a:ext cx="783054" cy="56932"/>
              </a:xfrm>
              <a:prstGeom prst="bentConnector3">
                <a:avLst>
                  <a:gd name="adj1" fmla="val 50000"/>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0" name="Gruppieren 99"/>
              <p:cNvGrpSpPr/>
              <p:nvPr/>
            </p:nvGrpSpPr>
            <p:grpSpPr>
              <a:xfrm>
                <a:off x="6280218" y="2543465"/>
                <a:ext cx="453605" cy="320862"/>
                <a:chOff x="764018" y="3476917"/>
                <a:chExt cx="453605" cy="320862"/>
              </a:xfrm>
            </p:grpSpPr>
            <p:pic>
              <p:nvPicPr>
                <p:cNvPr id="101" name="Grafik 100"/>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02"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 name="Gruppieren 102"/>
              <p:cNvGrpSpPr/>
              <p:nvPr/>
            </p:nvGrpSpPr>
            <p:grpSpPr>
              <a:xfrm>
                <a:off x="6669163" y="2533317"/>
                <a:ext cx="453605" cy="320862"/>
                <a:chOff x="764018" y="3476917"/>
                <a:chExt cx="453605" cy="320862"/>
              </a:xfrm>
            </p:grpSpPr>
            <p:pic>
              <p:nvPicPr>
                <p:cNvPr id="104" name="Grafik 103"/>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05"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6" name="Gruppieren 105"/>
              <p:cNvGrpSpPr/>
              <p:nvPr/>
            </p:nvGrpSpPr>
            <p:grpSpPr>
              <a:xfrm>
                <a:off x="7048135" y="2529418"/>
                <a:ext cx="453605" cy="320862"/>
                <a:chOff x="764018" y="3476917"/>
                <a:chExt cx="453605" cy="320862"/>
              </a:xfrm>
            </p:grpSpPr>
            <p:pic>
              <p:nvPicPr>
                <p:cNvPr id="107" name="Grafik 106"/>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09"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grpSp>
      <p:sp>
        <p:nvSpPr>
          <p:cNvPr id="110" name="Rechteck 109"/>
          <p:cNvSpPr/>
          <p:nvPr/>
        </p:nvSpPr>
        <p:spPr>
          <a:xfrm>
            <a:off x="3616462" y="1684173"/>
            <a:ext cx="2272530" cy="1408602"/>
          </a:xfrm>
          <a:prstGeom prst="rect">
            <a:avLst/>
          </a:prstGeom>
          <a:solidFill>
            <a:srgbClr val="FF7C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1" name="Grafik 110"/>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06403" y="1765665"/>
            <a:ext cx="1219200" cy="1219200"/>
          </a:xfrm>
          <a:prstGeom prst="rect">
            <a:avLst/>
          </a:prstGeom>
          <a:noFill/>
          <a:ln w="12700">
            <a:noFill/>
          </a:ln>
        </p:spPr>
      </p:pic>
      <p:sp>
        <p:nvSpPr>
          <p:cNvPr id="113" name="Rechteck 112"/>
          <p:cNvSpPr/>
          <p:nvPr/>
        </p:nvSpPr>
        <p:spPr>
          <a:xfrm>
            <a:off x="3788603" y="1731258"/>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24" name="Gruppieren 223"/>
          <p:cNvGrpSpPr/>
          <p:nvPr/>
        </p:nvGrpSpPr>
        <p:grpSpPr>
          <a:xfrm>
            <a:off x="3730122" y="2038988"/>
            <a:ext cx="1221522" cy="1218040"/>
            <a:chOff x="3730122" y="2038988"/>
            <a:chExt cx="1221522" cy="1218040"/>
          </a:xfrm>
        </p:grpSpPr>
        <p:cxnSp>
          <p:nvCxnSpPr>
            <p:cNvPr id="121" name="Gerade Verbindung mit Pfeil 1039"/>
            <p:cNvCxnSpPr/>
            <p:nvPr/>
          </p:nvCxnSpPr>
          <p:spPr>
            <a:xfrm rot="16200000" flipH="1">
              <a:off x="3775588" y="2608077"/>
              <a:ext cx="1025519" cy="272383"/>
            </a:xfrm>
            <a:prstGeom prst="bentConnector3">
              <a:avLst>
                <a:gd name="adj1" fmla="val 75939"/>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 name="Gruppieren 26"/>
            <p:cNvGrpSpPr/>
            <p:nvPr/>
          </p:nvGrpSpPr>
          <p:grpSpPr>
            <a:xfrm>
              <a:off x="3730122" y="2038988"/>
              <a:ext cx="1221522" cy="975574"/>
              <a:chOff x="3730122" y="2038988"/>
              <a:chExt cx="1221522" cy="975574"/>
            </a:xfrm>
          </p:grpSpPr>
          <p:grpSp>
            <p:nvGrpSpPr>
              <p:cNvPr id="114" name="Gruppieren 113"/>
              <p:cNvGrpSpPr/>
              <p:nvPr/>
            </p:nvGrpSpPr>
            <p:grpSpPr>
              <a:xfrm>
                <a:off x="4338027" y="2050153"/>
                <a:ext cx="453605" cy="320862"/>
                <a:chOff x="764018" y="3476917"/>
                <a:chExt cx="453605" cy="320862"/>
              </a:xfrm>
            </p:grpSpPr>
            <p:pic>
              <p:nvPicPr>
                <p:cNvPr id="115" name="Grafik 114"/>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16"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8" name="Gruppieren 117"/>
              <p:cNvGrpSpPr/>
              <p:nvPr/>
            </p:nvGrpSpPr>
            <p:grpSpPr>
              <a:xfrm>
                <a:off x="3916836" y="2038988"/>
                <a:ext cx="453605" cy="320862"/>
                <a:chOff x="764018" y="3476917"/>
                <a:chExt cx="453605" cy="320862"/>
              </a:xfrm>
            </p:grpSpPr>
            <p:pic>
              <p:nvPicPr>
                <p:cNvPr id="119" name="Grafik 118"/>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20"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2" name="Gerade Verbindung mit Pfeil 1039"/>
              <p:cNvCxnSpPr/>
              <p:nvPr/>
            </p:nvCxnSpPr>
            <p:spPr>
              <a:xfrm rot="5400000">
                <a:off x="4078876" y="2594569"/>
                <a:ext cx="783054" cy="56932"/>
              </a:xfrm>
              <a:prstGeom prst="bentConnector3">
                <a:avLst>
                  <a:gd name="adj1" fmla="val 50000"/>
                </a:avLst>
              </a:prstGeom>
              <a:ln w="19050">
                <a:solidFill>
                  <a:schemeClr val="tx2"/>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4" name="Gruppieren 123"/>
              <p:cNvGrpSpPr/>
              <p:nvPr/>
            </p:nvGrpSpPr>
            <p:grpSpPr>
              <a:xfrm>
                <a:off x="3730122" y="2543465"/>
                <a:ext cx="453605" cy="320862"/>
                <a:chOff x="764018" y="3476917"/>
                <a:chExt cx="453605" cy="320862"/>
              </a:xfrm>
            </p:grpSpPr>
            <p:pic>
              <p:nvPicPr>
                <p:cNvPr id="125" name="Grafik 124"/>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26"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8" name="Gruppieren 127"/>
              <p:cNvGrpSpPr/>
              <p:nvPr/>
            </p:nvGrpSpPr>
            <p:grpSpPr>
              <a:xfrm>
                <a:off x="4119067" y="2533317"/>
                <a:ext cx="453605" cy="320862"/>
                <a:chOff x="764018" y="3476917"/>
                <a:chExt cx="453605" cy="320862"/>
              </a:xfrm>
            </p:grpSpPr>
            <p:pic>
              <p:nvPicPr>
                <p:cNvPr id="129" name="Grafik 128"/>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31"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2" name="Gruppieren 131"/>
              <p:cNvGrpSpPr/>
              <p:nvPr/>
            </p:nvGrpSpPr>
            <p:grpSpPr>
              <a:xfrm>
                <a:off x="4498039" y="2529418"/>
                <a:ext cx="453605" cy="320862"/>
                <a:chOff x="764018" y="3476917"/>
                <a:chExt cx="453605" cy="320862"/>
              </a:xfrm>
            </p:grpSpPr>
            <p:pic>
              <p:nvPicPr>
                <p:cNvPr id="155" name="Grafik 154"/>
                <p:cNvPicPr>
                  <a:picLocks noChangeAspect="1"/>
                </p:cNvPicPr>
                <p:nvPr/>
              </p:nvPicPr>
              <p:blipFill rotWithShape="1">
                <a:blip r:embed="rId5" cstate="print">
                  <a:extLst>
                    <a:ext uri="{28A0092B-C50C-407E-A947-70E740481C1C}">
                      <a14:useLocalDpi xmlns:a14="http://schemas.microsoft.com/office/drawing/2010/main" val="0"/>
                    </a:ext>
                  </a:extLst>
                </a:blip>
                <a:srcRect t="13342" b="15506"/>
                <a:stretch/>
              </p:blipFill>
              <p:spPr>
                <a:xfrm>
                  <a:off x="764018" y="3476917"/>
                  <a:ext cx="453605" cy="320862"/>
                </a:xfrm>
                <a:prstGeom prst="rect">
                  <a:avLst/>
                </a:prstGeom>
              </p:spPr>
            </p:pic>
            <p:pic>
              <p:nvPicPr>
                <p:cNvPr id="156" name="Picture 6" descr="Datei:Bbb logo.png"/>
                <p:cNvPicPr>
                  <a:picLocks noChangeAspect="1" noChangeArrowheads="1"/>
                </p:cNvPicPr>
                <p:nvPr/>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914018" y="3554833"/>
                  <a:ext cx="153906" cy="150990"/>
                </a:xfrm>
                <a:prstGeom prst="rect">
                  <a:avLst/>
                </a:prstGeom>
                <a:noFill/>
                <a:extLst>
                  <a:ext uri="{909E8E84-426E-40DD-AFC4-6F175D3DCCD1}">
                    <a14:hiddenFill xmlns:a14="http://schemas.microsoft.com/office/drawing/2010/main">
                      <a:solidFill>
                        <a:srgbClr val="FFFFFF"/>
                      </a:solidFill>
                    </a14:hiddenFill>
                  </a:ext>
                </a:extLst>
              </p:spPr>
            </p:pic>
          </p:grpSp>
        </p:grpSp>
      </p:grpSp>
      <p:cxnSp>
        <p:nvCxnSpPr>
          <p:cNvPr id="157" name="Gerade Verbindung mit Pfeil 1039"/>
          <p:cNvCxnSpPr>
            <a:stCxn id="6" idx="0"/>
            <a:endCxn id="111" idx="2"/>
          </p:cNvCxnSpPr>
          <p:nvPr/>
        </p:nvCxnSpPr>
        <p:spPr>
          <a:xfrm rot="16200000" flipV="1">
            <a:off x="4859960" y="2540908"/>
            <a:ext cx="738754" cy="1626668"/>
          </a:xfrm>
          <a:prstGeom prst="bentConnector3">
            <a:avLst>
              <a:gd name="adj1" fmla="val 47708"/>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Rechteck 23"/>
          <p:cNvSpPr/>
          <p:nvPr/>
        </p:nvSpPr>
        <p:spPr>
          <a:xfrm>
            <a:off x="270558" y="4149279"/>
            <a:ext cx="4350110" cy="219225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de-DE" sz="2400" dirty="0" smtClean="0"/>
              <a:t>WLAN </a:t>
            </a:r>
            <a:r>
              <a:rPr lang="de-DE" sz="2400" dirty="0"/>
              <a:t>im Hörsaal (Bandbreite, Re-Connect) </a:t>
            </a:r>
            <a:endParaRPr lang="de-DE" sz="2400" dirty="0" smtClean="0"/>
          </a:p>
          <a:p>
            <a:pPr marL="285750" indent="-285750">
              <a:buFont typeface="Arial" panose="020B0604020202020204" pitchFamily="34" charset="0"/>
              <a:buChar char="•"/>
            </a:pPr>
            <a:r>
              <a:rPr lang="de-DE" sz="2400" dirty="0" smtClean="0"/>
              <a:t>Steckdose?</a:t>
            </a:r>
            <a:endParaRPr lang="de-DE" sz="2400" dirty="0"/>
          </a:p>
          <a:p>
            <a:pPr marL="285750" indent="-285750">
              <a:buFont typeface="Arial" panose="020B0604020202020204" pitchFamily="34" charset="0"/>
              <a:buChar char="•"/>
            </a:pPr>
            <a:r>
              <a:rPr lang="de-DE" sz="2400" dirty="0"/>
              <a:t>Unterschiedliche Interaktion Raum 1 vs. andere Räume</a:t>
            </a:r>
          </a:p>
          <a:p>
            <a:pPr marL="285750" indent="-285750">
              <a:buFont typeface="Arial" panose="020B0604020202020204" pitchFamily="34" charset="0"/>
              <a:buChar char="•"/>
            </a:pPr>
            <a:r>
              <a:rPr lang="de-DE" sz="2400" dirty="0"/>
              <a:t>„Alle gucken auf Tablet &amp; Co</a:t>
            </a:r>
            <a:r>
              <a:rPr lang="de-DE" sz="2400" dirty="0" smtClean="0"/>
              <a:t>“</a:t>
            </a:r>
            <a:endParaRPr lang="de-DE" sz="2400" dirty="0"/>
          </a:p>
        </p:txBody>
      </p:sp>
      <p:sp>
        <p:nvSpPr>
          <p:cNvPr id="26" name="Wolkenförmige Legende 25"/>
          <p:cNvSpPr/>
          <p:nvPr/>
        </p:nvSpPr>
        <p:spPr>
          <a:xfrm>
            <a:off x="182533" y="3363139"/>
            <a:ext cx="2202294" cy="689506"/>
          </a:xfrm>
          <a:prstGeom prst="cloudCallout">
            <a:avLst>
              <a:gd name="adj1" fmla="val 40443"/>
              <a:gd name="adj2" fmla="val -103085"/>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2400" b="1" dirty="0" smtClean="0"/>
              <a:t>Gute Idee?</a:t>
            </a:r>
            <a:endParaRPr lang="de-DE" sz="2400" b="1" dirty="0"/>
          </a:p>
        </p:txBody>
      </p:sp>
      <p:grpSp>
        <p:nvGrpSpPr>
          <p:cNvPr id="158" name="Gruppieren 157"/>
          <p:cNvGrpSpPr/>
          <p:nvPr/>
        </p:nvGrpSpPr>
        <p:grpSpPr>
          <a:xfrm>
            <a:off x="1602297" y="1792074"/>
            <a:ext cx="907675" cy="1145142"/>
            <a:chOff x="1622938" y="2739102"/>
            <a:chExt cx="907675" cy="1145142"/>
          </a:xfrm>
        </p:grpSpPr>
        <p:pic>
          <p:nvPicPr>
            <p:cNvPr id="159" name="Grafik 158"/>
            <p:cNvPicPr>
              <a:picLocks noChangeAspect="1"/>
            </p:cNvPicPr>
            <p:nvPr/>
          </p:nvPicPr>
          <p:blipFill rotWithShape="1">
            <a:blip r:embed="rId9">
              <a:extLst>
                <a:ext uri="{28A0092B-C50C-407E-A947-70E740481C1C}">
                  <a14:useLocalDpi xmlns:a14="http://schemas.microsoft.com/office/drawing/2010/main" val="0"/>
                </a:ext>
              </a:extLst>
            </a:blip>
            <a:srcRect t="15236" r="2750" b="19797"/>
            <a:stretch/>
          </p:blipFill>
          <p:spPr>
            <a:xfrm>
              <a:off x="1824786" y="2801933"/>
              <a:ext cx="672916" cy="449544"/>
            </a:xfrm>
            <a:prstGeom prst="rect">
              <a:avLst/>
            </a:prstGeom>
          </p:spPr>
        </p:pic>
        <p:sp>
          <p:nvSpPr>
            <p:cNvPr id="160" name="Rechteck 159"/>
            <p:cNvSpPr/>
            <p:nvPr/>
          </p:nvSpPr>
          <p:spPr>
            <a:xfrm>
              <a:off x="1779477" y="2739102"/>
              <a:ext cx="751136" cy="9520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61" name="Gerade Verbindung mit Pfeil 11"/>
            <p:cNvCxnSpPr/>
            <p:nvPr/>
          </p:nvCxnSpPr>
          <p:spPr>
            <a:xfrm rot="10800000">
              <a:off x="2093166" y="3723818"/>
              <a:ext cx="123758" cy="16042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Gerade Verbindung mit Pfeil 161"/>
            <p:cNvCxnSpPr>
              <a:stCxn id="160" idx="1"/>
            </p:cNvCxnSpPr>
            <p:nvPr/>
          </p:nvCxnSpPr>
          <p:spPr>
            <a:xfrm flipH="1" flipV="1">
              <a:off x="1622938" y="3215103"/>
              <a:ext cx="15653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94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0" grpId="0" animBg="1"/>
      <p:bldP spid="113"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hteck 134"/>
          <p:cNvSpPr/>
          <p:nvPr/>
        </p:nvSpPr>
        <p:spPr>
          <a:xfrm>
            <a:off x="350482" y="1726200"/>
            <a:ext cx="3054544" cy="1408602"/>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7" name="Rechteck 176"/>
          <p:cNvSpPr/>
          <p:nvPr/>
        </p:nvSpPr>
        <p:spPr>
          <a:xfrm>
            <a:off x="6176831" y="1684173"/>
            <a:ext cx="2603487" cy="1408602"/>
          </a:xfrm>
          <a:prstGeom prst="rect">
            <a:avLst/>
          </a:prstGeom>
          <a:solidFill>
            <a:srgbClr val="66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p:nvPr>
        </p:nvSpPr>
        <p:spPr/>
        <p:txBody>
          <a:bodyPr/>
          <a:lstStyle/>
          <a:p>
            <a:r>
              <a:rPr lang="de-DE" dirty="0" smtClean="0"/>
              <a:t>Szenario: DIAL</a:t>
            </a:r>
            <a:endParaRPr lang="de-DE" dirty="0"/>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616" y="4803314"/>
            <a:ext cx="1219370" cy="1219370"/>
          </a:xfrm>
          <a:prstGeom prst="rect">
            <a:avLst/>
          </a:prstGeom>
          <a:ln w="12700">
            <a:solidFill>
              <a:schemeClr val="tx1"/>
            </a:solidFill>
          </a:ln>
        </p:spPr>
      </p:pic>
      <p:pic>
        <p:nvPicPr>
          <p:cNvPr id="6" name="Picture 6" descr="Datei:Bbb logo.png"/>
          <p:cNvPicPr>
            <a:picLocks noChangeAspect="1" noChangeArrowheads="1"/>
          </p:cNvPicPr>
          <p:nvPr/>
        </p:nvPicPr>
        <p:blipFill rotWithShape="1">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5393701" y="4552075"/>
            <a:ext cx="493824" cy="484468"/>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p:cNvSpPr/>
          <p:nvPr/>
        </p:nvSpPr>
        <p:spPr>
          <a:xfrm>
            <a:off x="364079" y="1242778"/>
            <a:ext cx="918102" cy="334659"/>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1</a:t>
            </a:r>
            <a:endParaRPr lang="de-DE" dirty="0">
              <a:solidFill>
                <a:sysClr val="windowText" lastClr="000000"/>
              </a:solidFill>
            </a:endParaRPr>
          </a:p>
        </p:txBody>
      </p:sp>
      <p:sp>
        <p:nvSpPr>
          <p:cNvPr id="9" name="Rechteck 8"/>
          <p:cNvSpPr/>
          <p:nvPr/>
        </p:nvSpPr>
        <p:spPr>
          <a:xfrm>
            <a:off x="3614021" y="1242778"/>
            <a:ext cx="918102" cy="334659"/>
          </a:xfrm>
          <a:prstGeom prst="rect">
            <a:avLst/>
          </a:prstGeom>
          <a:solidFill>
            <a:srgbClr val="FF7C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2</a:t>
            </a:r>
            <a:endParaRPr lang="de-DE" dirty="0">
              <a:solidFill>
                <a:sysClr val="windowText" lastClr="000000"/>
              </a:solidFill>
            </a:endParaRPr>
          </a:p>
        </p:txBody>
      </p:sp>
      <p:sp>
        <p:nvSpPr>
          <p:cNvPr id="10" name="Rechteck 9"/>
          <p:cNvSpPr/>
          <p:nvPr/>
        </p:nvSpPr>
        <p:spPr>
          <a:xfrm>
            <a:off x="6146518" y="1253104"/>
            <a:ext cx="918102" cy="334659"/>
          </a:xfrm>
          <a:prstGeom prst="rect">
            <a:avLst/>
          </a:prstGeom>
          <a:solidFill>
            <a:srgbClr val="66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solidFill>
                  <a:sysClr val="windowText" lastClr="000000"/>
                </a:solidFill>
              </a:rPr>
              <a:t>Raum 3</a:t>
            </a:r>
            <a:endParaRPr lang="de-DE" dirty="0">
              <a:solidFill>
                <a:sysClr val="windowText" lastClr="000000"/>
              </a:solidFill>
            </a:endParaRPr>
          </a:p>
        </p:txBody>
      </p:sp>
      <p:grpSp>
        <p:nvGrpSpPr>
          <p:cNvPr id="31" name="Gruppieren 30"/>
          <p:cNvGrpSpPr/>
          <p:nvPr/>
        </p:nvGrpSpPr>
        <p:grpSpPr>
          <a:xfrm>
            <a:off x="3614021" y="1720342"/>
            <a:ext cx="2346810" cy="1408602"/>
            <a:chOff x="177813" y="220198"/>
            <a:chExt cx="2346810" cy="1408602"/>
          </a:xfrm>
        </p:grpSpPr>
        <p:sp>
          <p:nvSpPr>
            <p:cNvPr id="32" name="Rechteck 31"/>
            <p:cNvSpPr/>
            <p:nvPr/>
          </p:nvSpPr>
          <p:spPr>
            <a:xfrm>
              <a:off x="177813" y="220198"/>
              <a:ext cx="2346810" cy="1408602"/>
            </a:xfrm>
            <a:prstGeom prst="rect">
              <a:avLst/>
            </a:prstGeom>
            <a:solidFill>
              <a:srgbClr val="FF7C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3" name="Gruppieren 32"/>
            <p:cNvGrpSpPr/>
            <p:nvPr/>
          </p:nvGrpSpPr>
          <p:grpSpPr>
            <a:xfrm>
              <a:off x="1660624" y="244749"/>
              <a:ext cx="751136" cy="952003"/>
              <a:chOff x="1660624" y="244749"/>
              <a:chExt cx="751136" cy="952003"/>
            </a:xfrm>
          </p:grpSpPr>
          <p:pic>
            <p:nvPicPr>
              <p:cNvPr id="48" name="Grafik 47"/>
              <p:cNvPicPr>
                <a:picLocks noChangeAspect="1"/>
              </p:cNvPicPr>
              <p:nvPr/>
            </p:nvPicPr>
            <p:blipFill rotWithShape="1">
              <a:blip r:embed="rId5" cstate="print">
                <a:extLst>
                  <a:ext uri="{28A0092B-C50C-407E-A947-70E740481C1C}">
                    <a14:useLocalDpi xmlns:a14="http://schemas.microsoft.com/office/drawing/2010/main" val="0"/>
                  </a:ext>
                </a:extLst>
              </a:blip>
              <a:srcRect l="15026" r="13579"/>
              <a:stretch/>
            </p:blipFill>
            <p:spPr>
              <a:xfrm>
                <a:off x="1907704" y="764704"/>
                <a:ext cx="257050" cy="360040"/>
              </a:xfrm>
              <a:prstGeom prst="rect">
                <a:avLst/>
              </a:prstGeom>
            </p:spPr>
          </p:pic>
          <p:pic>
            <p:nvPicPr>
              <p:cNvPr id="49" name="Grafik 48"/>
              <p:cNvPicPr>
                <a:picLocks noChangeAspect="1"/>
              </p:cNvPicPr>
              <p:nvPr/>
            </p:nvPicPr>
            <p:blipFill rotWithShape="1">
              <a:blip r:embed="rId6">
                <a:extLst>
                  <a:ext uri="{28A0092B-C50C-407E-A947-70E740481C1C}">
                    <a14:useLocalDpi xmlns:a14="http://schemas.microsoft.com/office/drawing/2010/main" val="0"/>
                  </a:ext>
                </a:extLst>
              </a:blip>
              <a:srcRect t="15236" r="2750" b="19797"/>
              <a:stretch/>
            </p:blipFill>
            <p:spPr>
              <a:xfrm>
                <a:off x="1691680" y="279156"/>
                <a:ext cx="672916" cy="449544"/>
              </a:xfrm>
              <a:prstGeom prst="rect">
                <a:avLst/>
              </a:prstGeom>
            </p:spPr>
          </p:pic>
          <p:sp>
            <p:nvSpPr>
              <p:cNvPr id="50" name="Rechteck 49"/>
              <p:cNvSpPr/>
              <p:nvPr/>
            </p:nvSpPr>
            <p:spPr>
              <a:xfrm>
                <a:off x="1660624" y="244749"/>
                <a:ext cx="751136" cy="9520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4" name="Gruppieren 33"/>
            <p:cNvGrpSpPr/>
            <p:nvPr/>
          </p:nvGrpSpPr>
          <p:grpSpPr>
            <a:xfrm>
              <a:off x="1958155" y="1216341"/>
              <a:ext cx="453605" cy="320862"/>
              <a:chOff x="1814139" y="1221303"/>
              <a:chExt cx="3731830" cy="2639745"/>
            </a:xfrm>
          </p:grpSpPr>
          <p:pic>
            <p:nvPicPr>
              <p:cNvPr id="46" name="Grafik 45"/>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47"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5" name="Gerade Verbindung mit Pfeil 11"/>
            <p:cNvCxnSpPr>
              <a:stCxn id="46" idx="1"/>
            </p:cNvCxnSpPr>
            <p:nvPr/>
          </p:nvCxnSpPr>
          <p:spPr>
            <a:xfrm rot="10800000">
              <a:off x="1834397" y="1216346"/>
              <a:ext cx="123758" cy="16042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p:cNvCxnSpPr>
              <a:stCxn id="50" idx="1"/>
            </p:cNvCxnSpPr>
            <p:nvPr/>
          </p:nvCxnSpPr>
          <p:spPr>
            <a:xfrm flipH="1" flipV="1">
              <a:off x="1504085" y="720750"/>
              <a:ext cx="15653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uppieren 36"/>
            <p:cNvGrpSpPr/>
            <p:nvPr/>
          </p:nvGrpSpPr>
          <p:grpSpPr>
            <a:xfrm>
              <a:off x="236029" y="264338"/>
              <a:ext cx="1251794" cy="1292454"/>
              <a:chOff x="236029" y="244749"/>
              <a:chExt cx="1251794" cy="1292454"/>
            </a:xfrm>
          </p:grpSpPr>
          <p:grpSp>
            <p:nvGrpSpPr>
              <p:cNvPr id="38" name="Gruppieren 37"/>
              <p:cNvGrpSpPr/>
              <p:nvPr/>
            </p:nvGrpSpPr>
            <p:grpSpPr>
              <a:xfrm>
                <a:off x="253829" y="279156"/>
                <a:ext cx="1219200" cy="1219200"/>
                <a:chOff x="251520" y="263116"/>
                <a:chExt cx="1219200" cy="1219200"/>
              </a:xfrm>
            </p:grpSpPr>
            <p:pic>
              <p:nvPicPr>
                <p:cNvPr id="40" name="Grafik 39"/>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1520" y="263116"/>
                  <a:ext cx="1219200" cy="1219200"/>
                </a:xfrm>
                <a:prstGeom prst="rect">
                  <a:avLst/>
                </a:prstGeom>
                <a:noFill/>
                <a:ln w="12700">
                  <a:noFill/>
                </a:ln>
              </p:spPr>
            </p:pic>
            <p:pic>
              <p:nvPicPr>
                <p:cNvPr id="41" name="Grafik 40"/>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441080" y="404664"/>
                  <a:ext cx="98472" cy="180020"/>
                </a:xfrm>
                <a:prstGeom prst="rect">
                  <a:avLst/>
                </a:prstGeom>
              </p:spPr>
            </p:pic>
            <p:pic>
              <p:nvPicPr>
                <p:cNvPr id="42" name="Grafik 41"/>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873128" y="404664"/>
                  <a:ext cx="98472" cy="180020"/>
                </a:xfrm>
                <a:prstGeom prst="rect">
                  <a:avLst/>
                </a:prstGeom>
              </p:spPr>
            </p:pic>
            <p:pic>
              <p:nvPicPr>
                <p:cNvPr id="43" name="Grafik 42"/>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320162" y="871227"/>
                  <a:ext cx="98472" cy="180020"/>
                </a:xfrm>
                <a:prstGeom prst="rect">
                  <a:avLst/>
                </a:prstGeom>
              </p:spPr>
            </p:pic>
            <p:pic>
              <p:nvPicPr>
                <p:cNvPr id="44" name="Grafik 43"/>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729112" y="871227"/>
                  <a:ext cx="98472" cy="180020"/>
                </a:xfrm>
                <a:prstGeom prst="rect">
                  <a:avLst/>
                </a:prstGeom>
              </p:spPr>
            </p:pic>
            <p:pic>
              <p:nvPicPr>
                <p:cNvPr id="45" name="Grafik 44"/>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1138062" y="871227"/>
                  <a:ext cx="98472" cy="180020"/>
                </a:xfrm>
                <a:prstGeom prst="rect">
                  <a:avLst/>
                </a:prstGeom>
              </p:spPr>
            </p:pic>
          </p:grpSp>
          <p:sp>
            <p:nvSpPr>
              <p:cNvPr id="39" name="Rechteck 38"/>
              <p:cNvSpPr/>
              <p:nvPr/>
            </p:nvSpPr>
            <p:spPr>
              <a:xfrm>
                <a:off x="236029" y="244749"/>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cxnSp>
        <p:nvCxnSpPr>
          <p:cNvPr id="73" name="Gerade Verbindung mit Pfeil 1039"/>
          <p:cNvCxnSpPr>
            <a:stCxn id="190" idx="2"/>
            <a:endCxn id="95" idx="0"/>
          </p:cNvCxnSpPr>
          <p:nvPr/>
        </p:nvCxnSpPr>
        <p:spPr>
          <a:xfrm rot="16200000" flipH="1">
            <a:off x="2134668" y="1999777"/>
            <a:ext cx="1508326" cy="3686707"/>
          </a:xfrm>
          <a:prstGeom prst="bentConnector3">
            <a:avLst>
              <a:gd name="adj1" fmla="val 64840"/>
            </a:avLst>
          </a:prstGeom>
          <a:ln w="38100">
            <a:solidFill>
              <a:srgbClr val="E20074"/>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Gerade Verbindung mit Pfeil 1039"/>
          <p:cNvCxnSpPr>
            <a:stCxn id="6" idx="0"/>
            <a:endCxn id="184" idx="2"/>
          </p:cNvCxnSpPr>
          <p:nvPr/>
        </p:nvCxnSpPr>
        <p:spPr>
          <a:xfrm rot="16200000" flipV="1">
            <a:off x="3263214" y="2174675"/>
            <a:ext cx="1482696" cy="3272103"/>
          </a:xfrm>
          <a:prstGeom prst="bentConnector3">
            <a:avLst>
              <a:gd name="adj1" fmla="val 50000"/>
            </a:avLst>
          </a:prstGeom>
          <a:ln w="25400">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7" name="Gerade Verbindung mit Pfeil 1039"/>
          <p:cNvCxnSpPr>
            <a:stCxn id="143" idx="2"/>
            <a:endCxn id="95" idx="0"/>
          </p:cNvCxnSpPr>
          <p:nvPr/>
        </p:nvCxnSpPr>
        <p:spPr>
          <a:xfrm rot="5400000">
            <a:off x="5066737" y="2689161"/>
            <a:ext cx="1573582" cy="2242685"/>
          </a:xfrm>
          <a:prstGeom prst="bentConnector3">
            <a:avLst>
              <a:gd name="adj1" fmla="val 66343"/>
            </a:avLst>
          </a:prstGeom>
          <a:ln w="38100">
            <a:solidFill>
              <a:srgbClr val="E20074"/>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Gerade Verbindung mit Pfeil 1039"/>
          <p:cNvCxnSpPr>
            <a:stCxn id="6" idx="0"/>
            <a:endCxn id="150" idx="2"/>
          </p:cNvCxnSpPr>
          <p:nvPr/>
        </p:nvCxnSpPr>
        <p:spPr>
          <a:xfrm rot="5400000" flipH="1" flipV="1">
            <a:off x="6195281" y="2449455"/>
            <a:ext cx="1547952" cy="2657289"/>
          </a:xfrm>
          <a:prstGeom prst="bentConnector3">
            <a:avLst>
              <a:gd name="adj1" fmla="val 47846"/>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Textfeld 94"/>
          <p:cNvSpPr txBox="1"/>
          <p:nvPr/>
        </p:nvSpPr>
        <p:spPr>
          <a:xfrm>
            <a:off x="4392188" y="4597294"/>
            <a:ext cx="679994" cy="400110"/>
          </a:xfrm>
          <a:prstGeom prst="rect">
            <a:avLst/>
          </a:prstGeom>
          <a:solidFill>
            <a:srgbClr val="E20074"/>
          </a:solidFill>
        </p:spPr>
        <p:txBody>
          <a:bodyPr wrap="none" rtlCol="0">
            <a:spAutoFit/>
          </a:bodyPr>
          <a:lstStyle/>
          <a:p>
            <a:r>
              <a:rPr lang="de-DE" sz="2000" b="1" dirty="0" smtClean="0">
                <a:solidFill>
                  <a:schemeClr val="bg1"/>
                </a:solidFill>
              </a:rPr>
              <a:t>DIAL</a:t>
            </a:r>
            <a:endParaRPr lang="de-DE" sz="2000" b="1" dirty="0">
              <a:solidFill>
                <a:schemeClr val="bg1"/>
              </a:solidFill>
            </a:endParaRPr>
          </a:p>
        </p:txBody>
      </p:sp>
      <p:cxnSp>
        <p:nvCxnSpPr>
          <p:cNvPr id="108" name="Gerade Verbindung mit Pfeil 107"/>
          <p:cNvCxnSpPr/>
          <p:nvPr/>
        </p:nvCxnSpPr>
        <p:spPr>
          <a:xfrm>
            <a:off x="4731694" y="3108226"/>
            <a:ext cx="0" cy="1489068"/>
          </a:xfrm>
          <a:prstGeom prst="straightConnector1">
            <a:avLst/>
          </a:prstGeom>
          <a:ln w="38100">
            <a:solidFill>
              <a:srgbClr val="E20074"/>
            </a:solidFill>
            <a:prstDash val="lg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Gerade Verbindung mit Pfeil 111"/>
          <p:cNvCxnSpPr/>
          <p:nvPr/>
        </p:nvCxnSpPr>
        <p:spPr>
          <a:xfrm>
            <a:off x="5638804" y="3056605"/>
            <a:ext cx="0" cy="1495470"/>
          </a:xfrm>
          <a:prstGeom prst="straightConnector1">
            <a:avLst/>
          </a:prstGeom>
          <a:ln w="28575">
            <a:solidFill>
              <a:srgbClr val="00206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Gerade Verbindung mit Pfeil 1039"/>
          <p:cNvCxnSpPr/>
          <p:nvPr/>
        </p:nvCxnSpPr>
        <p:spPr>
          <a:xfrm rot="16200000" flipH="1">
            <a:off x="531550" y="2725107"/>
            <a:ext cx="632304" cy="388775"/>
          </a:xfrm>
          <a:prstGeom prst="bentConnector3">
            <a:avLst>
              <a:gd name="adj1" fmla="val 50000"/>
            </a:avLst>
          </a:prstGeom>
          <a:ln w="38100">
            <a:solidFill>
              <a:srgbClr val="E20074"/>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Gerade Verbindung mit Pfeil 1039"/>
          <p:cNvCxnSpPr/>
          <p:nvPr/>
        </p:nvCxnSpPr>
        <p:spPr>
          <a:xfrm rot="16200000" flipH="1">
            <a:off x="387450" y="2512956"/>
            <a:ext cx="1025519" cy="272383"/>
          </a:xfrm>
          <a:prstGeom prst="bentConnector3">
            <a:avLst>
              <a:gd name="adj1" fmla="val 75939"/>
            </a:avLst>
          </a:prstGeom>
          <a:ln w="38100">
            <a:solidFill>
              <a:srgbClr val="E20074"/>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Gerade Verbindung mit Pfeil 1039"/>
          <p:cNvCxnSpPr/>
          <p:nvPr/>
        </p:nvCxnSpPr>
        <p:spPr>
          <a:xfrm rot="5400000">
            <a:off x="690738" y="2499448"/>
            <a:ext cx="783054" cy="56932"/>
          </a:xfrm>
          <a:prstGeom prst="bentConnector3">
            <a:avLst>
              <a:gd name="adj1" fmla="val 50000"/>
            </a:avLst>
          </a:prstGeom>
          <a:ln w="38100">
            <a:solidFill>
              <a:srgbClr val="E20074"/>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Gerade Verbindung mit Pfeil 1039"/>
          <p:cNvCxnSpPr/>
          <p:nvPr/>
        </p:nvCxnSpPr>
        <p:spPr>
          <a:xfrm rot="5400000">
            <a:off x="885992" y="2745767"/>
            <a:ext cx="645980" cy="333782"/>
          </a:xfrm>
          <a:prstGeom prst="bentConnector3">
            <a:avLst>
              <a:gd name="adj1" fmla="val 50000"/>
            </a:avLst>
          </a:prstGeom>
          <a:ln w="38100">
            <a:solidFill>
              <a:srgbClr val="E20074"/>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3" name="Abgerundete rechteckige Legende 132"/>
          <p:cNvSpPr/>
          <p:nvPr/>
        </p:nvSpPr>
        <p:spPr>
          <a:xfrm>
            <a:off x="6602298" y="4451949"/>
            <a:ext cx="2310559" cy="1151491"/>
          </a:xfrm>
          <a:prstGeom prst="wedgeRoundRectCallout">
            <a:avLst>
              <a:gd name="adj1" fmla="val 7697"/>
              <a:gd name="adj2" fmla="val -1037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de-DE" dirty="0" smtClean="0"/>
              <a:t>Mediendaten </a:t>
            </a:r>
            <a:br>
              <a:rPr lang="de-DE" dirty="0" smtClean="0"/>
            </a:br>
            <a:r>
              <a:rPr lang="de-DE" dirty="0" smtClean="0"/>
              <a:t>(Video &amp; Audio)</a:t>
            </a:r>
          </a:p>
          <a:p>
            <a:pPr marL="285750" indent="-285750">
              <a:buFont typeface="Arial" panose="020B0604020202020204" pitchFamily="34" charset="0"/>
              <a:buChar char="•"/>
            </a:pPr>
            <a:r>
              <a:rPr lang="de-DE" dirty="0" smtClean="0"/>
              <a:t>Interaktion </a:t>
            </a:r>
            <a:br>
              <a:rPr lang="de-DE" dirty="0" smtClean="0"/>
            </a:br>
            <a:r>
              <a:rPr lang="de-DE" dirty="0" smtClean="0"/>
              <a:t>(Umfragen, Chat)</a:t>
            </a:r>
            <a:endParaRPr lang="de-DE" dirty="0"/>
          </a:p>
        </p:txBody>
      </p:sp>
      <p:sp>
        <p:nvSpPr>
          <p:cNvPr id="134" name="Abgerundete rechteckige Legende 133"/>
          <p:cNvSpPr/>
          <p:nvPr/>
        </p:nvSpPr>
        <p:spPr>
          <a:xfrm>
            <a:off x="506023" y="4451735"/>
            <a:ext cx="2195432" cy="633773"/>
          </a:xfrm>
          <a:prstGeom prst="wedgeRoundRectCallout">
            <a:avLst>
              <a:gd name="adj1" fmla="val -8010"/>
              <a:gd name="adj2" fmla="val -102583"/>
              <a:gd name="adj3" fmla="val 16667"/>
            </a:avLst>
          </a:prstGeom>
          <a:solidFill>
            <a:srgbClr val="E2007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de-DE" dirty="0" smtClean="0"/>
              <a:t>Interaktion </a:t>
            </a:r>
            <a:br>
              <a:rPr lang="de-DE" dirty="0" smtClean="0"/>
            </a:br>
            <a:r>
              <a:rPr lang="de-DE" dirty="0" smtClean="0"/>
              <a:t>(Umfragen, Chat</a:t>
            </a:r>
            <a:r>
              <a:rPr lang="de-DE" dirty="0" smtClean="0"/>
              <a:t>)</a:t>
            </a:r>
          </a:p>
        </p:txBody>
      </p:sp>
      <p:grpSp>
        <p:nvGrpSpPr>
          <p:cNvPr id="136" name="Gruppieren 135"/>
          <p:cNvGrpSpPr/>
          <p:nvPr/>
        </p:nvGrpSpPr>
        <p:grpSpPr>
          <a:xfrm>
            <a:off x="6348973" y="1711669"/>
            <a:ext cx="2175731" cy="1312043"/>
            <a:chOff x="236029" y="244749"/>
            <a:chExt cx="2175731" cy="1312043"/>
          </a:xfrm>
        </p:grpSpPr>
        <p:grpSp>
          <p:nvGrpSpPr>
            <p:cNvPr id="137" name="Gruppieren 136"/>
            <p:cNvGrpSpPr/>
            <p:nvPr/>
          </p:nvGrpSpPr>
          <p:grpSpPr>
            <a:xfrm>
              <a:off x="1660624" y="244749"/>
              <a:ext cx="751136" cy="952003"/>
              <a:chOff x="1660624" y="244749"/>
              <a:chExt cx="751136" cy="952003"/>
            </a:xfrm>
          </p:grpSpPr>
          <p:pic>
            <p:nvPicPr>
              <p:cNvPr id="152" name="Grafik 151"/>
              <p:cNvPicPr>
                <a:picLocks noChangeAspect="1"/>
              </p:cNvPicPr>
              <p:nvPr/>
            </p:nvPicPr>
            <p:blipFill rotWithShape="1">
              <a:blip r:embed="rId5" cstate="print">
                <a:extLst>
                  <a:ext uri="{28A0092B-C50C-407E-A947-70E740481C1C}">
                    <a14:useLocalDpi xmlns:a14="http://schemas.microsoft.com/office/drawing/2010/main" val="0"/>
                  </a:ext>
                </a:extLst>
              </a:blip>
              <a:srcRect l="15026" r="13579"/>
              <a:stretch/>
            </p:blipFill>
            <p:spPr>
              <a:xfrm>
                <a:off x="1907704" y="764704"/>
                <a:ext cx="257050" cy="360040"/>
              </a:xfrm>
              <a:prstGeom prst="rect">
                <a:avLst/>
              </a:prstGeom>
            </p:spPr>
          </p:pic>
          <p:pic>
            <p:nvPicPr>
              <p:cNvPr id="153" name="Grafik 152"/>
              <p:cNvPicPr>
                <a:picLocks noChangeAspect="1"/>
              </p:cNvPicPr>
              <p:nvPr/>
            </p:nvPicPr>
            <p:blipFill rotWithShape="1">
              <a:blip r:embed="rId6">
                <a:extLst>
                  <a:ext uri="{28A0092B-C50C-407E-A947-70E740481C1C}">
                    <a14:useLocalDpi xmlns:a14="http://schemas.microsoft.com/office/drawing/2010/main" val="0"/>
                  </a:ext>
                </a:extLst>
              </a:blip>
              <a:srcRect t="15236" r="2750" b="19797"/>
              <a:stretch/>
            </p:blipFill>
            <p:spPr>
              <a:xfrm>
                <a:off x="1691680" y="279156"/>
                <a:ext cx="672916" cy="449544"/>
              </a:xfrm>
              <a:prstGeom prst="rect">
                <a:avLst/>
              </a:prstGeom>
            </p:spPr>
          </p:pic>
          <p:sp>
            <p:nvSpPr>
              <p:cNvPr id="154" name="Rechteck 153"/>
              <p:cNvSpPr/>
              <p:nvPr/>
            </p:nvSpPr>
            <p:spPr>
              <a:xfrm>
                <a:off x="1660624" y="244749"/>
                <a:ext cx="751136" cy="9520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38" name="Gruppieren 137"/>
            <p:cNvGrpSpPr/>
            <p:nvPr/>
          </p:nvGrpSpPr>
          <p:grpSpPr>
            <a:xfrm>
              <a:off x="1958155" y="1216341"/>
              <a:ext cx="453605" cy="320862"/>
              <a:chOff x="1814139" y="1221303"/>
              <a:chExt cx="3731830" cy="2639745"/>
            </a:xfrm>
          </p:grpSpPr>
          <p:pic>
            <p:nvPicPr>
              <p:cNvPr id="150" name="Grafik 149"/>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151"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9" name="Gerade Verbindung mit Pfeil 11"/>
            <p:cNvCxnSpPr>
              <a:stCxn id="150" idx="1"/>
            </p:cNvCxnSpPr>
            <p:nvPr/>
          </p:nvCxnSpPr>
          <p:spPr>
            <a:xfrm rot="10800000">
              <a:off x="1834397" y="1216346"/>
              <a:ext cx="123758" cy="16042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Gerade Verbindung mit Pfeil 139"/>
            <p:cNvCxnSpPr>
              <a:stCxn id="154" idx="1"/>
            </p:cNvCxnSpPr>
            <p:nvPr/>
          </p:nvCxnSpPr>
          <p:spPr>
            <a:xfrm flipH="1" flipV="1">
              <a:off x="1504085" y="720750"/>
              <a:ext cx="15653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1" name="Gruppieren 140"/>
            <p:cNvGrpSpPr/>
            <p:nvPr/>
          </p:nvGrpSpPr>
          <p:grpSpPr>
            <a:xfrm>
              <a:off x="236029" y="264338"/>
              <a:ext cx="1251794" cy="1292454"/>
              <a:chOff x="236029" y="244749"/>
              <a:chExt cx="1251794" cy="1292454"/>
            </a:xfrm>
          </p:grpSpPr>
          <p:grpSp>
            <p:nvGrpSpPr>
              <p:cNvPr id="142" name="Gruppieren 141"/>
              <p:cNvGrpSpPr/>
              <p:nvPr/>
            </p:nvGrpSpPr>
            <p:grpSpPr>
              <a:xfrm>
                <a:off x="253829" y="279156"/>
                <a:ext cx="1219200" cy="1219200"/>
                <a:chOff x="251520" y="263116"/>
                <a:chExt cx="1219200" cy="1219200"/>
              </a:xfrm>
            </p:grpSpPr>
            <p:pic>
              <p:nvPicPr>
                <p:cNvPr id="144" name="Grafik 143"/>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1520" y="263116"/>
                  <a:ext cx="1219200" cy="1219200"/>
                </a:xfrm>
                <a:prstGeom prst="rect">
                  <a:avLst/>
                </a:prstGeom>
                <a:noFill/>
                <a:ln w="12700">
                  <a:noFill/>
                </a:ln>
              </p:spPr>
            </p:pic>
            <p:pic>
              <p:nvPicPr>
                <p:cNvPr id="145" name="Grafik 144"/>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441080" y="404664"/>
                  <a:ext cx="98472" cy="180020"/>
                </a:xfrm>
                <a:prstGeom prst="rect">
                  <a:avLst/>
                </a:prstGeom>
              </p:spPr>
            </p:pic>
            <p:pic>
              <p:nvPicPr>
                <p:cNvPr id="146" name="Grafik 145"/>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873128" y="404664"/>
                  <a:ext cx="98472" cy="180020"/>
                </a:xfrm>
                <a:prstGeom prst="rect">
                  <a:avLst/>
                </a:prstGeom>
              </p:spPr>
            </p:pic>
            <p:pic>
              <p:nvPicPr>
                <p:cNvPr id="147" name="Grafik 146"/>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320162" y="871227"/>
                  <a:ext cx="98472" cy="180020"/>
                </a:xfrm>
                <a:prstGeom prst="rect">
                  <a:avLst/>
                </a:prstGeom>
              </p:spPr>
            </p:pic>
            <p:pic>
              <p:nvPicPr>
                <p:cNvPr id="148" name="Grafik 147"/>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729112" y="871227"/>
                  <a:ext cx="98472" cy="180020"/>
                </a:xfrm>
                <a:prstGeom prst="rect">
                  <a:avLst/>
                </a:prstGeom>
              </p:spPr>
            </p:pic>
            <p:pic>
              <p:nvPicPr>
                <p:cNvPr id="149" name="Grafik 148"/>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1138062" y="871227"/>
                  <a:ext cx="98472" cy="180020"/>
                </a:xfrm>
                <a:prstGeom prst="rect">
                  <a:avLst/>
                </a:prstGeom>
              </p:spPr>
            </p:pic>
          </p:grpSp>
          <p:sp>
            <p:nvSpPr>
              <p:cNvPr id="143" name="Rechteck 142"/>
              <p:cNvSpPr/>
              <p:nvPr/>
            </p:nvSpPr>
            <p:spPr>
              <a:xfrm>
                <a:off x="236029" y="244749"/>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cxnSp>
        <p:nvCxnSpPr>
          <p:cNvPr id="178" name="Gerade Verbindung mit Pfeil 11"/>
          <p:cNvCxnSpPr/>
          <p:nvPr/>
        </p:nvCxnSpPr>
        <p:spPr>
          <a:xfrm rot="5400000">
            <a:off x="2666086" y="2527867"/>
            <a:ext cx="310309" cy="451856"/>
          </a:xfrm>
          <a:prstGeom prst="bentConnector2">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79" name="Gruppieren 178"/>
          <p:cNvGrpSpPr/>
          <p:nvPr/>
        </p:nvGrpSpPr>
        <p:grpSpPr>
          <a:xfrm>
            <a:off x="1844176" y="1776925"/>
            <a:ext cx="751136" cy="952003"/>
            <a:chOff x="1660624" y="244749"/>
            <a:chExt cx="751136" cy="952003"/>
          </a:xfrm>
        </p:grpSpPr>
        <p:pic>
          <p:nvPicPr>
            <p:cNvPr id="180" name="Grafik 179"/>
            <p:cNvPicPr>
              <a:picLocks noChangeAspect="1"/>
            </p:cNvPicPr>
            <p:nvPr/>
          </p:nvPicPr>
          <p:blipFill rotWithShape="1">
            <a:blip r:embed="rId5" cstate="print">
              <a:extLst>
                <a:ext uri="{28A0092B-C50C-407E-A947-70E740481C1C}">
                  <a14:useLocalDpi xmlns:a14="http://schemas.microsoft.com/office/drawing/2010/main" val="0"/>
                </a:ext>
              </a:extLst>
            </a:blip>
            <a:srcRect l="15026" r="13579"/>
            <a:stretch/>
          </p:blipFill>
          <p:spPr>
            <a:xfrm>
              <a:off x="1907704" y="764704"/>
              <a:ext cx="257050" cy="360040"/>
            </a:xfrm>
            <a:prstGeom prst="rect">
              <a:avLst/>
            </a:prstGeom>
          </p:spPr>
        </p:pic>
        <p:pic>
          <p:nvPicPr>
            <p:cNvPr id="181" name="Grafik 180"/>
            <p:cNvPicPr>
              <a:picLocks noChangeAspect="1"/>
            </p:cNvPicPr>
            <p:nvPr/>
          </p:nvPicPr>
          <p:blipFill rotWithShape="1">
            <a:blip r:embed="rId6">
              <a:extLst>
                <a:ext uri="{28A0092B-C50C-407E-A947-70E740481C1C}">
                  <a14:useLocalDpi xmlns:a14="http://schemas.microsoft.com/office/drawing/2010/main" val="0"/>
                </a:ext>
              </a:extLst>
            </a:blip>
            <a:srcRect t="15236" r="2750" b="19797"/>
            <a:stretch/>
          </p:blipFill>
          <p:spPr>
            <a:xfrm>
              <a:off x="1691680" y="279156"/>
              <a:ext cx="672916" cy="449544"/>
            </a:xfrm>
            <a:prstGeom prst="rect">
              <a:avLst/>
            </a:prstGeom>
          </p:spPr>
        </p:pic>
        <p:sp>
          <p:nvSpPr>
            <p:cNvPr id="182" name="Rechteck 181"/>
            <p:cNvSpPr/>
            <p:nvPr/>
          </p:nvSpPr>
          <p:spPr>
            <a:xfrm>
              <a:off x="1660624" y="244749"/>
              <a:ext cx="751136" cy="9520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83" name="Gruppieren 182"/>
          <p:cNvGrpSpPr/>
          <p:nvPr/>
        </p:nvGrpSpPr>
        <p:grpSpPr>
          <a:xfrm>
            <a:off x="2141707" y="2748517"/>
            <a:ext cx="453605" cy="320862"/>
            <a:chOff x="1814139" y="1221303"/>
            <a:chExt cx="3731830" cy="2639745"/>
          </a:xfrm>
        </p:grpSpPr>
        <p:pic>
          <p:nvPicPr>
            <p:cNvPr id="184" name="Grafik 183"/>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185"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86" name="Gerade Verbindung mit Pfeil 11"/>
          <p:cNvCxnSpPr>
            <a:stCxn id="184" idx="1"/>
          </p:cNvCxnSpPr>
          <p:nvPr/>
        </p:nvCxnSpPr>
        <p:spPr>
          <a:xfrm rot="10800000">
            <a:off x="2017949" y="2748522"/>
            <a:ext cx="123758" cy="16042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Gerade Verbindung mit Pfeil 186"/>
          <p:cNvCxnSpPr>
            <a:stCxn id="182" idx="1"/>
          </p:cNvCxnSpPr>
          <p:nvPr/>
        </p:nvCxnSpPr>
        <p:spPr>
          <a:xfrm flipH="1" flipV="1">
            <a:off x="1687637" y="2252926"/>
            <a:ext cx="15653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8" name="Gruppieren 187"/>
          <p:cNvGrpSpPr/>
          <p:nvPr/>
        </p:nvGrpSpPr>
        <p:grpSpPr>
          <a:xfrm>
            <a:off x="419581" y="1796514"/>
            <a:ext cx="1251794" cy="1292454"/>
            <a:chOff x="236029" y="244749"/>
            <a:chExt cx="1251794" cy="1292454"/>
          </a:xfrm>
        </p:grpSpPr>
        <p:grpSp>
          <p:nvGrpSpPr>
            <p:cNvPr id="189" name="Gruppieren 188"/>
            <p:cNvGrpSpPr/>
            <p:nvPr/>
          </p:nvGrpSpPr>
          <p:grpSpPr>
            <a:xfrm>
              <a:off x="253829" y="279156"/>
              <a:ext cx="1219200" cy="1219200"/>
              <a:chOff x="251520" y="263116"/>
              <a:chExt cx="1219200" cy="1219200"/>
            </a:xfrm>
          </p:grpSpPr>
          <p:pic>
            <p:nvPicPr>
              <p:cNvPr id="191" name="Grafik 190"/>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1520" y="263116"/>
                <a:ext cx="1219200" cy="1219200"/>
              </a:xfrm>
              <a:prstGeom prst="rect">
                <a:avLst/>
              </a:prstGeom>
              <a:noFill/>
              <a:ln w="12700">
                <a:noFill/>
              </a:ln>
            </p:spPr>
          </p:pic>
          <p:pic>
            <p:nvPicPr>
              <p:cNvPr id="192" name="Grafik 191"/>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441080" y="404664"/>
                <a:ext cx="98472" cy="180020"/>
              </a:xfrm>
              <a:prstGeom prst="rect">
                <a:avLst/>
              </a:prstGeom>
            </p:spPr>
          </p:pic>
          <p:pic>
            <p:nvPicPr>
              <p:cNvPr id="193" name="Grafik 192"/>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873128" y="404664"/>
                <a:ext cx="98472" cy="180020"/>
              </a:xfrm>
              <a:prstGeom prst="rect">
                <a:avLst/>
              </a:prstGeom>
            </p:spPr>
          </p:pic>
          <p:pic>
            <p:nvPicPr>
              <p:cNvPr id="194" name="Grafik 193"/>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320162" y="871227"/>
                <a:ext cx="98472" cy="180020"/>
              </a:xfrm>
              <a:prstGeom prst="rect">
                <a:avLst/>
              </a:prstGeom>
            </p:spPr>
          </p:pic>
          <p:pic>
            <p:nvPicPr>
              <p:cNvPr id="195" name="Grafik 194"/>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729112" y="871227"/>
                <a:ext cx="98472" cy="180020"/>
              </a:xfrm>
              <a:prstGeom prst="rect">
                <a:avLst/>
              </a:prstGeom>
            </p:spPr>
          </p:pic>
          <p:pic>
            <p:nvPicPr>
              <p:cNvPr id="196" name="Grafik 195"/>
              <p:cNvPicPr>
                <a:picLocks noChangeAspect="1"/>
              </p:cNvPicPr>
              <p:nvPr/>
            </p:nvPicPr>
            <p:blipFill rotWithShape="1">
              <a:blip r:embed="rId10" cstate="print">
                <a:extLst>
                  <a:ext uri="{28A0092B-C50C-407E-A947-70E740481C1C}">
                    <a14:useLocalDpi xmlns:a14="http://schemas.microsoft.com/office/drawing/2010/main" val="0"/>
                  </a:ext>
                </a:extLst>
              </a:blip>
              <a:srcRect l="23443" r="21856"/>
              <a:stretch/>
            </p:blipFill>
            <p:spPr>
              <a:xfrm>
                <a:off x="1138062" y="871227"/>
                <a:ext cx="98472" cy="180020"/>
              </a:xfrm>
              <a:prstGeom prst="rect">
                <a:avLst/>
              </a:prstGeom>
            </p:spPr>
          </p:pic>
        </p:grpSp>
        <p:sp>
          <p:nvSpPr>
            <p:cNvPr id="190" name="Rechteck 189"/>
            <p:cNvSpPr/>
            <p:nvPr/>
          </p:nvSpPr>
          <p:spPr>
            <a:xfrm>
              <a:off x="236029" y="244749"/>
              <a:ext cx="1251794" cy="12924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197" name="Grafik 196"/>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01455" y="1907213"/>
            <a:ext cx="691426" cy="691426"/>
          </a:xfrm>
          <a:prstGeom prst="rect">
            <a:avLst/>
          </a:prstGeom>
        </p:spPr>
      </p:pic>
      <p:grpSp>
        <p:nvGrpSpPr>
          <p:cNvPr id="225" name="Gruppieren 224"/>
          <p:cNvGrpSpPr/>
          <p:nvPr/>
        </p:nvGrpSpPr>
        <p:grpSpPr>
          <a:xfrm>
            <a:off x="3461029" y="5989635"/>
            <a:ext cx="850616" cy="585857"/>
            <a:chOff x="1814139" y="1221303"/>
            <a:chExt cx="3731830" cy="2639745"/>
          </a:xfrm>
        </p:grpSpPr>
        <p:pic>
          <p:nvPicPr>
            <p:cNvPr id="237" name="Grafik 236"/>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38"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26" name="Gerade Verbindung mit Pfeil 11"/>
          <p:cNvCxnSpPr>
            <a:stCxn id="237" idx="3"/>
            <a:endCxn id="5" idx="2"/>
          </p:cNvCxnSpPr>
          <p:nvPr/>
        </p:nvCxnSpPr>
        <p:spPr>
          <a:xfrm flipV="1">
            <a:off x="4311645" y="6022684"/>
            <a:ext cx="854656" cy="25988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uppieren 243"/>
          <p:cNvGrpSpPr/>
          <p:nvPr/>
        </p:nvGrpSpPr>
        <p:grpSpPr>
          <a:xfrm>
            <a:off x="3257426" y="5821734"/>
            <a:ext cx="850616" cy="585857"/>
            <a:chOff x="1814139" y="1221303"/>
            <a:chExt cx="3731830" cy="2639745"/>
          </a:xfrm>
        </p:grpSpPr>
        <p:pic>
          <p:nvPicPr>
            <p:cNvPr id="245" name="Grafik 244"/>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46"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7" name="Gruppieren 246"/>
          <p:cNvGrpSpPr/>
          <p:nvPr/>
        </p:nvGrpSpPr>
        <p:grpSpPr>
          <a:xfrm>
            <a:off x="3085125" y="5651487"/>
            <a:ext cx="850616" cy="585857"/>
            <a:chOff x="1814139" y="1221303"/>
            <a:chExt cx="3731830" cy="2639745"/>
          </a:xfrm>
        </p:grpSpPr>
        <p:pic>
          <p:nvPicPr>
            <p:cNvPr id="248" name="Grafik 247"/>
            <p:cNvPicPr>
              <a:picLocks noChangeAspect="1"/>
            </p:cNvPicPr>
            <p:nvPr/>
          </p:nvPicPr>
          <p:blipFill rotWithShape="1">
            <a:blip r:embed="rId7" cstate="print">
              <a:extLst>
                <a:ext uri="{28A0092B-C50C-407E-A947-70E740481C1C}">
                  <a14:useLocalDpi xmlns:a14="http://schemas.microsoft.com/office/drawing/2010/main" val="0"/>
                </a:ext>
              </a:extLst>
            </a:blip>
            <a:srcRect t="13342" b="15506"/>
            <a:stretch/>
          </p:blipFill>
          <p:spPr>
            <a:xfrm>
              <a:off x="1814139" y="1221303"/>
              <a:ext cx="3731830" cy="2639745"/>
            </a:xfrm>
            <a:prstGeom prst="rect">
              <a:avLst/>
            </a:prstGeom>
          </p:spPr>
        </p:pic>
        <p:pic>
          <p:nvPicPr>
            <p:cNvPr id="249" name="Picture 6" descr="Datei:Bbb logo.png"/>
            <p:cNvPicPr>
              <a:picLocks noChangeAspect="1" noChangeArrowheads="1"/>
            </p:cNvPicPr>
            <p:nvPr/>
          </p:nvPicPr>
          <p:blipFill rotWithShape="1">
            <a:blip r:embed="rId8"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75077"/>
            <a:stretch/>
          </p:blipFill>
          <p:spPr bwMode="auto">
            <a:xfrm>
              <a:off x="3048198" y="1862319"/>
              <a:ext cx="1266190" cy="1242203"/>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feld 2"/>
          <p:cNvSpPr txBox="1"/>
          <p:nvPr/>
        </p:nvSpPr>
        <p:spPr>
          <a:xfrm>
            <a:off x="1235227" y="5867674"/>
            <a:ext cx="1614609" cy="369332"/>
          </a:xfrm>
          <a:prstGeom prst="rect">
            <a:avLst/>
          </a:prstGeom>
          <a:noFill/>
        </p:spPr>
        <p:txBody>
          <a:bodyPr wrap="none" rtlCol="0">
            <a:spAutoFit/>
          </a:bodyPr>
          <a:lstStyle/>
          <a:p>
            <a:r>
              <a:rPr lang="de-DE" dirty="0" smtClean="0"/>
              <a:t>Weitere </a:t>
            </a:r>
            <a:r>
              <a:rPr lang="de-DE" dirty="0" smtClean="0"/>
              <a:t>Nutzer</a:t>
            </a:r>
            <a:endParaRPr lang="de-DE" dirty="0"/>
          </a:p>
        </p:txBody>
      </p:sp>
      <p:sp>
        <p:nvSpPr>
          <p:cNvPr id="7" name="Abgerundete rechteckige Legende 6"/>
          <p:cNvSpPr/>
          <p:nvPr/>
        </p:nvSpPr>
        <p:spPr>
          <a:xfrm>
            <a:off x="4675051" y="294952"/>
            <a:ext cx="2496216" cy="612648"/>
          </a:xfrm>
          <a:prstGeom prst="wedgeRoundRectCallout">
            <a:avLst>
              <a:gd name="adj1" fmla="val -55231"/>
              <a:gd name="adj2" fmla="val 1122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Je ein BBB-Nutzer pro </a:t>
            </a:r>
            <a:r>
              <a:rPr lang="de-DE" dirty="0" smtClean="0"/>
              <a:t>Raum </a:t>
            </a:r>
            <a:r>
              <a:rPr lang="de-DE" dirty="0" smtClean="0">
                <a:sym typeface="Wingdings" panose="05000000000000000000" pitchFamily="2" charset="2"/>
              </a:rPr>
              <a:t> WLAN </a:t>
            </a:r>
            <a:endParaRPr lang="de-DE" dirty="0"/>
          </a:p>
        </p:txBody>
      </p:sp>
    </p:spTree>
    <p:extLst>
      <p:ext uri="{BB962C8B-B14F-4D97-AF65-F5344CB8AC3E}">
        <p14:creationId xmlns:p14="http://schemas.microsoft.com/office/powerpoint/2010/main" val="418760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2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2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4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9" grpId="0" animBg="1"/>
      <p:bldP spid="10" grpId="0" animBg="1"/>
      <p:bldP spid="95" grpId="0" animBg="1"/>
      <p:bldP spid="133" grpId="0" animBg="1"/>
      <p:bldP spid="134" grpId="0" animBg="1"/>
      <p:bldP spid="3"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DIAL: Übersicht</a:t>
            </a:r>
            <a:endParaRPr lang="de-DE" dirty="0"/>
          </a:p>
        </p:txBody>
      </p:sp>
      <p:sp>
        <p:nvSpPr>
          <p:cNvPr id="3" name="Inhaltsplatzhalter 2"/>
          <p:cNvSpPr>
            <a:spLocks noGrp="1"/>
          </p:cNvSpPr>
          <p:nvPr>
            <p:ph idx="1"/>
          </p:nvPr>
        </p:nvSpPr>
        <p:spPr/>
        <p:txBody>
          <a:bodyPr/>
          <a:lstStyle/>
          <a:p>
            <a:pPr marL="0" indent="0">
              <a:buNone/>
            </a:pPr>
            <a:r>
              <a:rPr lang="de-DE" b="1" dirty="0" smtClean="0"/>
              <a:t>DIAL = </a:t>
            </a:r>
            <a:r>
              <a:rPr lang="de-DE" b="1" u="sng" dirty="0" smtClean="0"/>
              <a:t>D</a:t>
            </a:r>
            <a:r>
              <a:rPr lang="de-DE" b="1" dirty="0" smtClean="0"/>
              <a:t>istributed </a:t>
            </a:r>
            <a:r>
              <a:rPr lang="de-DE" b="1" u="sng" dirty="0" err="1" smtClean="0"/>
              <a:t>I</a:t>
            </a:r>
            <a:r>
              <a:rPr lang="de-DE" b="1" dirty="0" err="1" smtClean="0"/>
              <a:t>nter</a:t>
            </a:r>
            <a:r>
              <a:rPr lang="de-DE" b="1" u="sng" dirty="0" err="1" smtClean="0"/>
              <a:t>A</a:t>
            </a:r>
            <a:r>
              <a:rPr lang="de-DE" b="1" dirty="0" err="1" smtClean="0"/>
              <a:t>ctive</a:t>
            </a:r>
            <a:r>
              <a:rPr lang="de-DE" b="1" dirty="0" smtClean="0"/>
              <a:t> </a:t>
            </a:r>
            <a:r>
              <a:rPr lang="de-DE" b="1" u="sng" dirty="0" err="1" smtClean="0"/>
              <a:t>L</a:t>
            </a:r>
            <a:r>
              <a:rPr lang="de-DE" b="1" dirty="0" err="1" smtClean="0"/>
              <a:t>ecture</a:t>
            </a:r>
            <a:endParaRPr lang="de-DE" b="1" dirty="0" smtClean="0"/>
          </a:p>
          <a:p>
            <a:pPr>
              <a:buFont typeface="Wingdings" panose="05000000000000000000" pitchFamily="2" charset="2"/>
              <a:buChar char="à"/>
            </a:pPr>
            <a:r>
              <a:rPr lang="de-DE" dirty="0" smtClean="0">
                <a:sym typeface="Wingdings" panose="05000000000000000000" pitchFamily="2" charset="2"/>
              </a:rPr>
              <a:t>Robuste, einfache und skalierbare Live-Übertragung von Vorlesungen mit Interaktionsmöglichkeiten </a:t>
            </a:r>
          </a:p>
          <a:p>
            <a:pPr marL="0" indent="0">
              <a:buNone/>
            </a:pPr>
            <a:endParaRPr lang="de-DE" b="1" dirty="0">
              <a:solidFill>
                <a:srgbClr val="E20074"/>
              </a:solidFill>
            </a:endParaRPr>
          </a:p>
          <a:p>
            <a:pPr marL="0" indent="0">
              <a:buNone/>
            </a:pPr>
            <a:r>
              <a:rPr lang="de-DE" b="1" dirty="0" err="1" smtClean="0">
                <a:solidFill>
                  <a:srgbClr val="E20074"/>
                </a:solidFill>
              </a:rPr>
              <a:t>BigBlueButton</a:t>
            </a:r>
            <a:r>
              <a:rPr lang="de-DE" b="1" dirty="0" smtClean="0">
                <a:solidFill>
                  <a:srgbClr val="E20074"/>
                </a:solidFill>
              </a:rPr>
              <a:t>-Schnittstelle</a:t>
            </a:r>
            <a:r>
              <a:rPr lang="de-DE" dirty="0" smtClean="0">
                <a:solidFill>
                  <a:srgbClr val="E20074"/>
                </a:solidFill>
              </a:rPr>
              <a:t> </a:t>
            </a:r>
            <a:r>
              <a:rPr lang="de-DE" dirty="0" smtClean="0"/>
              <a:t>für Interaktion</a:t>
            </a:r>
          </a:p>
          <a:p>
            <a:pPr marL="0" indent="0">
              <a:buNone/>
            </a:pPr>
            <a:r>
              <a:rPr lang="de-DE" dirty="0" smtClean="0">
                <a:sym typeface="Wingdings" panose="05000000000000000000" pitchFamily="2" charset="2"/>
              </a:rPr>
              <a:t> Trennung der (voluminösen) Medien-Streams von (datensparsamen) Interaktionsnachrichten für Chat und Abstimmungen  </a:t>
            </a:r>
            <a:br>
              <a:rPr lang="de-DE" dirty="0" smtClean="0">
                <a:sym typeface="Wingdings" panose="05000000000000000000" pitchFamily="2" charset="2"/>
              </a:rPr>
            </a:br>
            <a:endParaRPr lang="de-DE" dirty="0" smtClean="0"/>
          </a:p>
          <a:p>
            <a:pPr marL="0" indent="0">
              <a:buNone/>
            </a:pPr>
            <a:r>
              <a:rPr lang="de-DE" b="1" dirty="0" smtClean="0">
                <a:solidFill>
                  <a:srgbClr val="E20074"/>
                </a:solidFill>
              </a:rPr>
              <a:t>Web-App</a:t>
            </a:r>
            <a:r>
              <a:rPr lang="de-DE" dirty="0" smtClean="0"/>
              <a:t> für Teilnehmer (Studierende)</a:t>
            </a:r>
          </a:p>
          <a:p>
            <a:pPr marL="0" indent="0">
              <a:buNone/>
            </a:pPr>
            <a:r>
              <a:rPr lang="de-DE" dirty="0" smtClean="0">
                <a:sym typeface="Wingdings" panose="05000000000000000000" pitchFamily="2" charset="2"/>
              </a:rPr>
              <a:t> </a:t>
            </a:r>
            <a:r>
              <a:rPr lang="de-DE" dirty="0" smtClean="0"/>
              <a:t>Einfache Interaktion per Smartphone ohne Notwendigkeit einer dauerhaften Verbindung</a:t>
            </a:r>
            <a:endParaRPr lang="de-DE" dirty="0"/>
          </a:p>
        </p:txBody>
      </p:sp>
    </p:spTree>
    <p:extLst>
      <p:ext uri="{BB962C8B-B14F-4D97-AF65-F5344CB8AC3E}">
        <p14:creationId xmlns:p14="http://schemas.microsoft.com/office/powerpoint/2010/main" val="37075889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03133" y="76506"/>
            <a:ext cx="5176926" cy="2889213"/>
          </a:xfrm>
          <a:prstGeom prst="rect">
            <a:avLst/>
          </a:prstGeom>
        </p:spPr>
      </p:pic>
      <p:sp>
        <p:nvSpPr>
          <p:cNvPr id="2" name="Titel 1"/>
          <p:cNvSpPr>
            <a:spLocks noGrp="1"/>
          </p:cNvSpPr>
          <p:nvPr>
            <p:ph type="title"/>
          </p:nvPr>
        </p:nvSpPr>
        <p:spPr/>
        <p:txBody>
          <a:bodyPr/>
          <a:lstStyle/>
          <a:p>
            <a:r>
              <a:rPr lang="de-DE" dirty="0" err="1" smtClean="0"/>
              <a:t>BigBlueButton</a:t>
            </a:r>
            <a:endParaRPr lang="de-DE" dirty="0"/>
          </a:p>
        </p:txBody>
      </p:sp>
      <p:sp>
        <p:nvSpPr>
          <p:cNvPr id="3" name="Inhaltsplatzhalter 2"/>
          <p:cNvSpPr>
            <a:spLocks noGrp="1"/>
          </p:cNvSpPr>
          <p:nvPr>
            <p:ph idx="1"/>
          </p:nvPr>
        </p:nvSpPr>
        <p:spPr/>
        <p:txBody>
          <a:bodyPr/>
          <a:lstStyle/>
          <a:p>
            <a:r>
              <a:rPr lang="de-DE" dirty="0" smtClean="0"/>
              <a:t>Web-Konferenzsystem</a:t>
            </a:r>
          </a:p>
          <a:p>
            <a:pPr lvl="1"/>
            <a:r>
              <a:rPr lang="de-DE" dirty="0" smtClean="0"/>
              <a:t>Audio, Video</a:t>
            </a:r>
          </a:p>
          <a:p>
            <a:pPr lvl="1"/>
            <a:r>
              <a:rPr lang="de-DE" dirty="0" smtClean="0"/>
              <a:t>Folien, </a:t>
            </a:r>
            <a:r>
              <a:rPr lang="de-DE" dirty="0" smtClean="0"/>
              <a:t>Whiteboard</a:t>
            </a:r>
          </a:p>
          <a:p>
            <a:pPr lvl="1"/>
            <a:r>
              <a:rPr lang="de-DE" dirty="0" smtClean="0"/>
              <a:t>Screen-Sharing</a:t>
            </a:r>
            <a:endParaRPr lang="de-DE" dirty="0" smtClean="0"/>
          </a:p>
          <a:p>
            <a:pPr lvl="1"/>
            <a:r>
              <a:rPr lang="de-DE" dirty="0" smtClean="0"/>
              <a:t>Chat, Abstimmungen</a:t>
            </a:r>
          </a:p>
          <a:p>
            <a:r>
              <a:rPr lang="de-DE" dirty="0"/>
              <a:t>Clients: Flash, </a:t>
            </a:r>
            <a:r>
              <a:rPr lang="de-DE" dirty="0" smtClean="0"/>
              <a:t>HTML5</a:t>
            </a:r>
          </a:p>
          <a:p>
            <a:r>
              <a:rPr lang="de-DE" dirty="0" smtClean="0"/>
              <a:t>Development</a:t>
            </a:r>
          </a:p>
          <a:p>
            <a:pPr lvl="1"/>
            <a:r>
              <a:rPr lang="de-DE" dirty="0" smtClean="0"/>
              <a:t>Open-Source </a:t>
            </a:r>
            <a:r>
              <a:rPr lang="de-DE" dirty="0" smtClean="0">
                <a:sym typeface="Wingdings" panose="05000000000000000000" pitchFamily="2" charset="2"/>
              </a:rPr>
              <a:t> erweiterbar</a:t>
            </a:r>
            <a:endParaRPr lang="de-DE" dirty="0" smtClean="0"/>
          </a:p>
          <a:p>
            <a:pPr lvl="1"/>
            <a:r>
              <a:rPr lang="de-DE" dirty="0" smtClean="0"/>
              <a:t>Integration mit anderen Systemen (Ilias, </a:t>
            </a:r>
            <a:r>
              <a:rPr lang="de-DE" dirty="0" err="1" smtClean="0"/>
              <a:t>Moodle</a:t>
            </a:r>
            <a:r>
              <a:rPr lang="de-DE" dirty="0" smtClean="0"/>
              <a:t>, …)</a:t>
            </a:r>
          </a:p>
          <a:p>
            <a:r>
              <a:rPr lang="de-DE" dirty="0" smtClean="0"/>
              <a:t>Sehr gute Erfahrungen an der </a:t>
            </a:r>
            <a:r>
              <a:rPr lang="de-DE" dirty="0" err="1" smtClean="0"/>
              <a:t>HfTL</a:t>
            </a:r>
            <a:r>
              <a:rPr lang="de-DE" dirty="0" smtClean="0"/>
              <a:t> </a:t>
            </a:r>
          </a:p>
          <a:p>
            <a:pPr lvl="1"/>
            <a:r>
              <a:rPr lang="de-DE" dirty="0" smtClean="0"/>
              <a:t>Teletutorium</a:t>
            </a:r>
          </a:p>
          <a:p>
            <a:pPr lvl="1"/>
            <a:r>
              <a:rPr lang="de-DE" dirty="0" smtClean="0"/>
              <a:t>Präsentationen </a:t>
            </a:r>
            <a:r>
              <a:rPr lang="de-DE" smtClean="0"/>
              <a:t>durch Studierende</a:t>
            </a:r>
            <a:endParaRPr lang="de-DE" dirty="0"/>
          </a:p>
        </p:txBody>
      </p:sp>
      <p:sp>
        <p:nvSpPr>
          <p:cNvPr id="4" name="Rechteck 3"/>
          <p:cNvSpPr/>
          <p:nvPr/>
        </p:nvSpPr>
        <p:spPr>
          <a:xfrm>
            <a:off x="5648105" y="5575829"/>
            <a:ext cx="3149600" cy="846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Disclaimer: DIAL-Prinzip nicht auf </a:t>
            </a:r>
            <a:r>
              <a:rPr lang="de-DE" dirty="0" err="1" smtClean="0"/>
              <a:t>BigBlueButton</a:t>
            </a:r>
            <a:r>
              <a:rPr lang="de-DE" dirty="0" smtClean="0"/>
              <a:t> beschränkt</a:t>
            </a:r>
            <a:endParaRPr lang="de-DE" dirty="0"/>
          </a:p>
        </p:txBody>
      </p:sp>
    </p:spTree>
    <p:extLst>
      <p:ext uri="{BB962C8B-B14F-4D97-AF65-F5344CB8AC3E}">
        <p14:creationId xmlns:p14="http://schemas.microsoft.com/office/powerpoint/2010/main" val="414639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Architektur</a:t>
            </a:r>
            <a:endParaRPr lang="de-DE" dirty="0"/>
          </a:p>
        </p:txBody>
      </p:sp>
      <p:grpSp>
        <p:nvGrpSpPr>
          <p:cNvPr id="4" name="Gruppieren 3"/>
          <p:cNvGrpSpPr/>
          <p:nvPr/>
        </p:nvGrpSpPr>
        <p:grpSpPr>
          <a:xfrm>
            <a:off x="5905743" y="1118564"/>
            <a:ext cx="1894046" cy="1339772"/>
            <a:chOff x="755576" y="1067389"/>
            <a:chExt cx="2110070" cy="1492579"/>
          </a:xfrm>
        </p:grpSpPr>
        <p:pic>
          <p:nvPicPr>
            <p:cNvPr id="5" name="Grafik 4"/>
            <p:cNvPicPr>
              <a:picLocks noChangeAspect="1"/>
            </p:cNvPicPr>
            <p:nvPr/>
          </p:nvPicPr>
          <p:blipFill rotWithShape="1">
            <a:blip r:embed="rId3" cstate="print">
              <a:extLst>
                <a:ext uri="{28A0092B-C50C-407E-A947-70E740481C1C}">
                  <a14:useLocalDpi xmlns:a14="http://schemas.microsoft.com/office/drawing/2010/main" val="0"/>
                </a:ext>
              </a:extLst>
            </a:blip>
            <a:srcRect t="13342" b="15506"/>
            <a:stretch/>
          </p:blipFill>
          <p:spPr>
            <a:xfrm>
              <a:off x="755576" y="1067389"/>
              <a:ext cx="2110070" cy="1492579"/>
            </a:xfrm>
            <a:prstGeom prst="rect">
              <a:avLst/>
            </a:prstGeom>
          </p:spPr>
        </p:pic>
        <p:pic>
          <p:nvPicPr>
            <p:cNvPr id="6" name="Grafik 5"/>
            <p:cNvPicPr>
              <a:picLocks noChangeAspect="1"/>
            </p:cNvPicPr>
            <p:nvPr/>
          </p:nvPicPr>
          <p:blipFill rotWithShape="1">
            <a:blip r:embed="rId4">
              <a:extLst>
                <a:ext uri="{28A0092B-C50C-407E-A947-70E740481C1C}">
                  <a14:useLocalDpi xmlns:a14="http://schemas.microsoft.com/office/drawing/2010/main" val="0"/>
                </a:ext>
              </a:extLst>
            </a:blip>
            <a:srcRect r="74926"/>
            <a:stretch/>
          </p:blipFill>
          <p:spPr>
            <a:xfrm>
              <a:off x="1499913" y="1448459"/>
              <a:ext cx="621395" cy="605941"/>
            </a:xfrm>
            <a:prstGeom prst="rect">
              <a:avLst/>
            </a:prstGeom>
          </p:spPr>
        </p:pic>
      </p:grpSp>
      <p:grpSp>
        <p:nvGrpSpPr>
          <p:cNvPr id="29" name="Gruppieren 28"/>
          <p:cNvGrpSpPr/>
          <p:nvPr/>
        </p:nvGrpSpPr>
        <p:grpSpPr>
          <a:xfrm>
            <a:off x="2723380" y="1243062"/>
            <a:ext cx="940804" cy="1769909"/>
            <a:chOff x="2723380" y="1243062"/>
            <a:chExt cx="940804" cy="1769909"/>
          </a:xfrm>
        </p:grpSpPr>
        <p:pic>
          <p:nvPicPr>
            <p:cNvPr id="7" name="Grafik 6"/>
            <p:cNvPicPr>
              <a:picLocks noChangeAspect="1"/>
            </p:cNvPicPr>
            <p:nvPr/>
          </p:nvPicPr>
          <p:blipFill rotWithShape="1">
            <a:blip r:embed="rId5">
              <a:extLst>
                <a:ext uri="{28A0092B-C50C-407E-A947-70E740481C1C}">
                  <a14:useLocalDpi xmlns:a14="http://schemas.microsoft.com/office/drawing/2010/main" val="0"/>
                </a:ext>
              </a:extLst>
            </a:blip>
            <a:srcRect l="23624" r="23219"/>
            <a:stretch/>
          </p:blipFill>
          <p:spPr>
            <a:xfrm>
              <a:off x="2723380" y="1243062"/>
              <a:ext cx="940804" cy="1769909"/>
            </a:xfrm>
            <a:prstGeom prst="rect">
              <a:avLst/>
            </a:prstGeom>
          </p:spPr>
        </p:pic>
        <p:sp>
          <p:nvSpPr>
            <p:cNvPr id="8" name="Textfeld 7"/>
            <p:cNvSpPr txBox="1"/>
            <p:nvPr/>
          </p:nvSpPr>
          <p:spPr>
            <a:xfrm>
              <a:off x="2749214" y="1570529"/>
              <a:ext cx="914970" cy="764889"/>
            </a:xfrm>
            <a:prstGeom prst="rect">
              <a:avLst/>
            </a:prstGeom>
            <a:noFill/>
          </p:spPr>
          <p:txBody>
            <a:bodyPr wrap="square" rtlCol="0">
              <a:spAutoFit/>
            </a:bodyPr>
            <a:lstStyle/>
            <a:p>
              <a:pPr algn="ctr">
                <a:lnSpc>
                  <a:spcPts val="1300"/>
                </a:lnSpc>
              </a:pPr>
              <a:r>
                <a:rPr lang="de-DE" sz="2800" b="1" dirty="0" smtClean="0">
                  <a:solidFill>
                    <a:srgbClr val="E20074"/>
                  </a:solidFill>
                </a:rPr>
                <a:t>DIAL</a:t>
              </a:r>
              <a:r>
                <a:rPr lang="de-DE" dirty="0" smtClean="0"/>
                <a:t/>
              </a:r>
              <a:br>
                <a:rPr lang="de-DE" dirty="0" smtClean="0"/>
              </a:br>
              <a:endParaRPr lang="de-DE" dirty="0" smtClean="0"/>
            </a:p>
            <a:p>
              <a:pPr algn="ctr">
                <a:lnSpc>
                  <a:spcPts val="1300"/>
                </a:lnSpc>
              </a:pPr>
              <a:r>
                <a:rPr lang="de-DE" sz="1400" dirty="0" err="1" smtClean="0"/>
                <a:t>powered</a:t>
              </a:r>
              <a:r>
                <a:rPr lang="de-DE" sz="1400" dirty="0" smtClean="0"/>
                <a:t> </a:t>
              </a:r>
              <a:r>
                <a:rPr lang="de-DE" sz="1400" dirty="0" err="1" smtClean="0"/>
                <a:t>by</a:t>
              </a:r>
              <a:endParaRPr lang="de-DE" sz="1200" dirty="0"/>
            </a:p>
          </p:txBody>
        </p:sp>
        <p:pic>
          <p:nvPicPr>
            <p:cNvPr id="9" name="Grafik 8"/>
            <p:cNvPicPr>
              <a:picLocks noChangeAspect="1"/>
            </p:cNvPicPr>
            <p:nvPr/>
          </p:nvPicPr>
          <p:blipFill rotWithShape="1">
            <a:blip r:embed="rId4" cstate="print">
              <a:extLst>
                <a:ext uri="{28A0092B-C50C-407E-A947-70E740481C1C}">
                  <a14:useLocalDpi xmlns:a14="http://schemas.microsoft.com/office/drawing/2010/main" val="0"/>
                </a:ext>
              </a:extLst>
            </a:blip>
            <a:srcRect r="74926"/>
            <a:stretch/>
          </p:blipFill>
          <p:spPr>
            <a:xfrm>
              <a:off x="3051305" y="2376987"/>
              <a:ext cx="346702" cy="338080"/>
            </a:xfrm>
            <a:prstGeom prst="rect">
              <a:avLst/>
            </a:prstGeom>
          </p:spPr>
        </p:pic>
      </p:grpSp>
      <p:cxnSp>
        <p:nvCxnSpPr>
          <p:cNvPr id="10" name="Gerade Verbindung mit Pfeil 18"/>
          <p:cNvCxnSpPr>
            <a:endCxn id="7" idx="1"/>
          </p:cNvCxnSpPr>
          <p:nvPr/>
        </p:nvCxnSpPr>
        <p:spPr>
          <a:xfrm rot="5400000" flipH="1" flipV="1">
            <a:off x="1652632" y="2162045"/>
            <a:ext cx="1104776" cy="1036720"/>
          </a:xfrm>
          <a:prstGeom prst="bentConnector2">
            <a:avLst/>
          </a:prstGeom>
          <a:ln w="38100">
            <a:solidFill>
              <a:srgbClr val="E2007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8"/>
          <p:cNvCxnSpPr>
            <a:stCxn id="7" idx="3"/>
          </p:cNvCxnSpPr>
          <p:nvPr/>
        </p:nvCxnSpPr>
        <p:spPr>
          <a:xfrm>
            <a:off x="3664184" y="2128017"/>
            <a:ext cx="936103" cy="998328"/>
          </a:xfrm>
          <a:prstGeom prst="bentConnector2">
            <a:avLst/>
          </a:prstGeom>
          <a:ln w="38100">
            <a:solidFill>
              <a:srgbClr val="E2007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18"/>
          <p:cNvCxnSpPr>
            <a:stCxn id="28" idx="3"/>
            <a:endCxn id="16" idx="0"/>
          </p:cNvCxnSpPr>
          <p:nvPr/>
        </p:nvCxnSpPr>
        <p:spPr>
          <a:xfrm>
            <a:off x="7088905" y="1723924"/>
            <a:ext cx="743584" cy="1932082"/>
          </a:xfrm>
          <a:prstGeom prst="bentConnector2">
            <a:avLst/>
          </a:prstGeom>
          <a:ln w="25400">
            <a:solidFill>
              <a:srgbClr val="66CCFF"/>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hteck 12"/>
          <p:cNvSpPr/>
          <p:nvPr/>
        </p:nvSpPr>
        <p:spPr>
          <a:xfrm>
            <a:off x="559680" y="4664118"/>
            <a:ext cx="7848873" cy="9964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de-DE" sz="2400" dirty="0" err="1" smtClean="0"/>
              <a:t>BigBlueButton</a:t>
            </a:r>
            <a:r>
              <a:rPr lang="de-DE" sz="2400" dirty="0"/>
              <a:t>-</a:t>
            </a:r>
            <a:r>
              <a:rPr lang="de-DE" sz="2400" dirty="0" smtClean="0"/>
              <a:t>Kern</a:t>
            </a:r>
            <a:endParaRPr lang="de-DE" sz="2400" dirty="0"/>
          </a:p>
        </p:txBody>
      </p:sp>
      <p:sp>
        <p:nvSpPr>
          <p:cNvPr id="14" name="Rechteck 13"/>
          <p:cNvSpPr/>
          <p:nvPr/>
        </p:nvSpPr>
        <p:spPr>
          <a:xfrm>
            <a:off x="1154957" y="4050108"/>
            <a:ext cx="1152128" cy="1008112"/>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smtClean="0"/>
              <a:t>MongoDB</a:t>
            </a:r>
            <a:endParaRPr lang="de-DE" dirty="0"/>
          </a:p>
        </p:txBody>
      </p:sp>
      <p:sp>
        <p:nvSpPr>
          <p:cNvPr id="15" name="Rechteck 14"/>
          <p:cNvSpPr/>
          <p:nvPr/>
        </p:nvSpPr>
        <p:spPr>
          <a:xfrm>
            <a:off x="3963269" y="4050108"/>
            <a:ext cx="1152128" cy="1008112"/>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smtClean="0"/>
              <a:t>Redis</a:t>
            </a:r>
            <a:r>
              <a:rPr lang="de-DE" dirty="0" smtClean="0"/>
              <a:t> </a:t>
            </a:r>
            <a:r>
              <a:rPr lang="de-DE" dirty="0" err="1" smtClean="0"/>
              <a:t>PubSub</a:t>
            </a:r>
            <a:endParaRPr lang="de-DE" dirty="0"/>
          </a:p>
        </p:txBody>
      </p:sp>
      <p:sp>
        <p:nvSpPr>
          <p:cNvPr id="16" name="Rechteck 15"/>
          <p:cNvSpPr/>
          <p:nvPr/>
        </p:nvSpPr>
        <p:spPr>
          <a:xfrm>
            <a:off x="7256425" y="3656006"/>
            <a:ext cx="1152128" cy="1008112"/>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BBB Client</a:t>
            </a:r>
            <a:endParaRPr lang="de-DE" dirty="0"/>
          </a:p>
        </p:txBody>
      </p:sp>
      <p:sp>
        <p:nvSpPr>
          <p:cNvPr id="21" name="Rechteck 20"/>
          <p:cNvSpPr/>
          <p:nvPr/>
        </p:nvSpPr>
        <p:spPr>
          <a:xfrm>
            <a:off x="1174800" y="1449156"/>
            <a:ext cx="1332557" cy="59565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dirty="0" smtClean="0">
                <a:solidFill>
                  <a:srgbClr val="E20074"/>
                </a:solidFill>
              </a:rPr>
              <a:t>Chat lesen</a:t>
            </a:r>
            <a:endParaRPr lang="de-DE" dirty="0">
              <a:solidFill>
                <a:srgbClr val="E20074"/>
              </a:solidFill>
            </a:endParaRPr>
          </a:p>
        </p:txBody>
      </p:sp>
      <p:sp>
        <p:nvSpPr>
          <p:cNvPr id="22" name="Rechteck 21"/>
          <p:cNvSpPr/>
          <p:nvPr/>
        </p:nvSpPr>
        <p:spPr>
          <a:xfrm>
            <a:off x="366176" y="2056279"/>
            <a:ext cx="1332557" cy="59565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dirty="0" smtClean="0">
                <a:solidFill>
                  <a:srgbClr val="E20074"/>
                </a:solidFill>
              </a:rPr>
              <a:t>Abfrage von</a:t>
            </a:r>
            <a:r>
              <a:rPr lang="de-DE" dirty="0">
                <a:solidFill>
                  <a:srgbClr val="E20074"/>
                </a:solidFill>
              </a:rPr>
              <a:t/>
            </a:r>
            <a:br>
              <a:rPr lang="de-DE" dirty="0">
                <a:solidFill>
                  <a:srgbClr val="E20074"/>
                </a:solidFill>
              </a:rPr>
            </a:br>
            <a:r>
              <a:rPr lang="de-DE" dirty="0" smtClean="0">
                <a:solidFill>
                  <a:srgbClr val="E20074"/>
                </a:solidFill>
              </a:rPr>
              <a:t>Umfragen</a:t>
            </a:r>
            <a:endParaRPr lang="de-DE" dirty="0">
              <a:solidFill>
                <a:srgbClr val="E20074"/>
              </a:solidFill>
            </a:endParaRPr>
          </a:p>
        </p:txBody>
      </p:sp>
      <p:sp>
        <p:nvSpPr>
          <p:cNvPr id="23" name="Rechteck 22"/>
          <p:cNvSpPr/>
          <p:nvPr/>
        </p:nvSpPr>
        <p:spPr>
          <a:xfrm>
            <a:off x="4255251" y="2209947"/>
            <a:ext cx="1420125" cy="59565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dirty="0" smtClean="0">
                <a:solidFill>
                  <a:srgbClr val="E20074"/>
                </a:solidFill>
              </a:rPr>
              <a:t>Teilnahme</a:t>
            </a:r>
            <a:br>
              <a:rPr lang="de-DE" dirty="0" smtClean="0">
                <a:solidFill>
                  <a:srgbClr val="E20074"/>
                </a:solidFill>
              </a:rPr>
            </a:br>
            <a:r>
              <a:rPr lang="de-DE" dirty="0" smtClean="0">
                <a:solidFill>
                  <a:srgbClr val="E20074"/>
                </a:solidFill>
              </a:rPr>
              <a:t>an Umfragen</a:t>
            </a:r>
            <a:endParaRPr lang="de-DE" dirty="0">
              <a:solidFill>
                <a:srgbClr val="E20074"/>
              </a:solidFill>
            </a:endParaRPr>
          </a:p>
        </p:txBody>
      </p:sp>
      <p:sp>
        <p:nvSpPr>
          <p:cNvPr id="24" name="Rechteck 23"/>
          <p:cNvSpPr/>
          <p:nvPr/>
        </p:nvSpPr>
        <p:spPr>
          <a:xfrm>
            <a:off x="3850691" y="1387713"/>
            <a:ext cx="1332557" cy="59565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dirty="0" smtClean="0">
                <a:solidFill>
                  <a:srgbClr val="E20074"/>
                </a:solidFill>
              </a:rPr>
              <a:t>Chat schreiben</a:t>
            </a:r>
            <a:endParaRPr lang="de-DE" dirty="0">
              <a:solidFill>
                <a:srgbClr val="E20074"/>
              </a:solidFill>
            </a:endParaRPr>
          </a:p>
        </p:txBody>
      </p:sp>
      <p:sp>
        <p:nvSpPr>
          <p:cNvPr id="25" name="Rechteck 24"/>
          <p:cNvSpPr/>
          <p:nvPr/>
        </p:nvSpPr>
        <p:spPr>
          <a:xfrm>
            <a:off x="995885" y="3193885"/>
            <a:ext cx="4392489" cy="386329"/>
          </a:xfrm>
          <a:prstGeom prst="rect">
            <a:avLst/>
          </a:prstGeom>
          <a:solidFill>
            <a:srgbClr val="E2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DIAL Serverschnittstelle</a:t>
            </a:r>
            <a:endParaRPr lang="de-DE" dirty="0"/>
          </a:p>
        </p:txBody>
      </p:sp>
      <p:cxnSp>
        <p:nvCxnSpPr>
          <p:cNvPr id="26" name="Gerade Verbindung mit Pfeil 18"/>
          <p:cNvCxnSpPr>
            <a:stCxn id="14" idx="0"/>
          </p:cNvCxnSpPr>
          <p:nvPr/>
        </p:nvCxnSpPr>
        <p:spPr>
          <a:xfrm flipH="1" flipV="1">
            <a:off x="1729243" y="3582057"/>
            <a:ext cx="1778" cy="468051"/>
          </a:xfrm>
          <a:prstGeom prst="straightConnector1">
            <a:avLst/>
          </a:prstGeom>
          <a:ln w="38100">
            <a:solidFill>
              <a:srgbClr val="E2007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18"/>
          <p:cNvCxnSpPr>
            <a:endCxn id="15" idx="0"/>
          </p:cNvCxnSpPr>
          <p:nvPr/>
        </p:nvCxnSpPr>
        <p:spPr>
          <a:xfrm>
            <a:off x="4539333" y="3572341"/>
            <a:ext cx="0" cy="477767"/>
          </a:xfrm>
          <a:prstGeom prst="straightConnector1">
            <a:avLst/>
          </a:prstGeom>
          <a:ln w="38100">
            <a:solidFill>
              <a:srgbClr val="E2007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Rechteck 27"/>
          <p:cNvSpPr/>
          <p:nvPr/>
        </p:nvSpPr>
        <p:spPr>
          <a:xfrm>
            <a:off x="6715082" y="1575010"/>
            <a:ext cx="373823" cy="2978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0232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1" grpId="0"/>
      <p:bldP spid="22" grpId="0"/>
      <p:bldP spid="23" grpId="0"/>
      <p:bldP spid="24" grpId="0"/>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DIAL: </a:t>
            </a:r>
            <a:r>
              <a:rPr lang="de-DE" dirty="0" smtClean="0"/>
              <a:t>Web-App </a:t>
            </a:r>
            <a:r>
              <a:rPr lang="de-DE" dirty="0" smtClean="0"/>
              <a:t>(Screenshots)</a:t>
            </a:r>
            <a:endParaRPr lang="de-DE" dirty="0"/>
          </a:p>
        </p:txBody>
      </p:sp>
      <p:pic>
        <p:nvPicPr>
          <p:cNvPr id="4" name="Grafik 3"/>
          <p:cNvPicPr>
            <a:picLocks noChangeAspect="1"/>
          </p:cNvPicPr>
          <p:nvPr/>
        </p:nvPicPr>
        <p:blipFill>
          <a:blip r:embed="rId2"/>
          <a:stretch>
            <a:fillRect/>
          </a:stretch>
        </p:blipFill>
        <p:spPr>
          <a:xfrm>
            <a:off x="85596" y="1013968"/>
            <a:ext cx="3181350" cy="5466662"/>
          </a:xfrm>
          <a:prstGeom prst="rect">
            <a:avLst/>
          </a:prstGeom>
        </p:spPr>
      </p:pic>
      <p:pic>
        <p:nvPicPr>
          <p:cNvPr id="5" name="Grafik 4"/>
          <p:cNvPicPr>
            <a:picLocks noChangeAspect="1"/>
          </p:cNvPicPr>
          <p:nvPr/>
        </p:nvPicPr>
        <p:blipFill>
          <a:blip r:embed="rId3"/>
          <a:stretch>
            <a:fillRect/>
          </a:stretch>
        </p:blipFill>
        <p:spPr>
          <a:xfrm>
            <a:off x="1972858" y="1022897"/>
            <a:ext cx="3191171" cy="5485853"/>
          </a:xfrm>
          <a:prstGeom prst="rect">
            <a:avLst/>
          </a:prstGeom>
        </p:spPr>
      </p:pic>
      <p:pic>
        <p:nvPicPr>
          <p:cNvPr id="6" name="Grafik 5"/>
          <p:cNvPicPr>
            <a:picLocks noChangeAspect="1"/>
          </p:cNvPicPr>
          <p:nvPr/>
        </p:nvPicPr>
        <p:blipFill>
          <a:blip r:embed="rId4"/>
          <a:stretch>
            <a:fillRect/>
          </a:stretch>
        </p:blipFill>
        <p:spPr>
          <a:xfrm>
            <a:off x="3869941" y="1017847"/>
            <a:ext cx="3244616" cy="5484553"/>
          </a:xfrm>
          <a:prstGeom prst="rect">
            <a:avLst/>
          </a:prstGeom>
        </p:spPr>
      </p:pic>
      <p:pic>
        <p:nvPicPr>
          <p:cNvPr id="7" name="Grafik 6"/>
          <p:cNvPicPr>
            <a:picLocks noChangeAspect="1"/>
          </p:cNvPicPr>
          <p:nvPr/>
        </p:nvPicPr>
        <p:blipFill>
          <a:blip r:embed="rId5"/>
          <a:stretch>
            <a:fillRect/>
          </a:stretch>
        </p:blipFill>
        <p:spPr>
          <a:xfrm>
            <a:off x="5820468" y="1018829"/>
            <a:ext cx="3229485" cy="5528022"/>
          </a:xfrm>
          <a:prstGeom prst="rect">
            <a:avLst/>
          </a:prstGeom>
        </p:spPr>
      </p:pic>
    </p:spTree>
    <p:extLst>
      <p:ext uri="{BB962C8B-B14F-4D97-AF65-F5344CB8AC3E}">
        <p14:creationId xmlns:p14="http://schemas.microsoft.com/office/powerpoint/2010/main" val="209267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Evaluation</a:t>
            </a:r>
            <a:endParaRPr lang="de-DE" dirty="0"/>
          </a:p>
        </p:txBody>
      </p:sp>
      <p:sp>
        <p:nvSpPr>
          <p:cNvPr id="3" name="Inhaltsplatzhalter 2"/>
          <p:cNvSpPr>
            <a:spLocks noGrp="1"/>
          </p:cNvSpPr>
          <p:nvPr>
            <p:ph idx="1"/>
          </p:nvPr>
        </p:nvSpPr>
        <p:spPr/>
        <p:txBody>
          <a:bodyPr/>
          <a:lstStyle/>
          <a:p>
            <a:endParaRPr lang="de-DE"/>
          </a:p>
        </p:txBody>
      </p:sp>
      <p:pic>
        <p:nvPicPr>
          <p:cNvPr id="4" name="Grafik 3"/>
          <p:cNvPicPr>
            <a:picLocks noChangeAspect="1"/>
          </p:cNvPicPr>
          <p:nvPr/>
        </p:nvPicPr>
        <p:blipFill>
          <a:blip r:embed="rId2"/>
          <a:stretch>
            <a:fillRect/>
          </a:stretch>
        </p:blipFill>
        <p:spPr>
          <a:xfrm>
            <a:off x="0" y="961293"/>
            <a:ext cx="9081581" cy="3900745"/>
          </a:xfrm>
          <a:prstGeom prst="rect">
            <a:avLst/>
          </a:prstGeom>
        </p:spPr>
      </p:pic>
    </p:spTree>
    <p:extLst>
      <p:ext uri="{BB962C8B-B14F-4D97-AF65-F5344CB8AC3E}">
        <p14:creationId xmlns:p14="http://schemas.microsoft.com/office/powerpoint/2010/main" val="18906521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Zusammenfassung</a:t>
            </a:r>
            <a:endParaRPr lang="de-DE" dirty="0"/>
          </a:p>
        </p:txBody>
      </p:sp>
      <p:sp>
        <p:nvSpPr>
          <p:cNvPr id="3" name="Inhaltsplatzhalter 2"/>
          <p:cNvSpPr>
            <a:spLocks noGrp="1"/>
          </p:cNvSpPr>
          <p:nvPr>
            <p:ph idx="1"/>
          </p:nvPr>
        </p:nvSpPr>
        <p:spPr/>
        <p:txBody>
          <a:bodyPr>
            <a:normAutofit/>
          </a:bodyPr>
          <a:lstStyle/>
          <a:p>
            <a:r>
              <a:rPr lang="de-DE" dirty="0"/>
              <a:t>DIAL = </a:t>
            </a:r>
            <a:r>
              <a:rPr lang="de-DE" u="sng" dirty="0"/>
              <a:t>D</a:t>
            </a:r>
            <a:r>
              <a:rPr lang="de-DE" dirty="0"/>
              <a:t>istributed </a:t>
            </a:r>
            <a:r>
              <a:rPr lang="de-DE" u="sng" dirty="0" err="1"/>
              <a:t>I</a:t>
            </a:r>
            <a:r>
              <a:rPr lang="de-DE" dirty="0" err="1"/>
              <a:t>nterActive</a:t>
            </a:r>
            <a:r>
              <a:rPr lang="de-DE" dirty="0"/>
              <a:t> </a:t>
            </a:r>
            <a:r>
              <a:rPr lang="de-DE" u="sng" dirty="0" err="1"/>
              <a:t>L</a:t>
            </a:r>
            <a:r>
              <a:rPr lang="de-DE" dirty="0" err="1"/>
              <a:t>ecture</a:t>
            </a:r>
            <a:endParaRPr lang="de-DE" dirty="0"/>
          </a:p>
          <a:p>
            <a:endParaRPr lang="de-DE" dirty="0" smtClean="0"/>
          </a:p>
          <a:p>
            <a:r>
              <a:rPr lang="de-DE" dirty="0" smtClean="0"/>
              <a:t>Einsatz eines Web-Konferenz-Systems (</a:t>
            </a:r>
            <a:r>
              <a:rPr lang="de-DE" dirty="0" err="1" smtClean="0"/>
              <a:t>BigBlueButton</a:t>
            </a:r>
            <a:r>
              <a:rPr lang="de-DE" dirty="0" smtClean="0"/>
              <a:t>) für </a:t>
            </a:r>
            <a:r>
              <a:rPr lang="de-DE" dirty="0"/>
              <a:t>einfache und skalierbare Live-Übertragung von </a:t>
            </a:r>
            <a:r>
              <a:rPr lang="de-DE" dirty="0" smtClean="0"/>
              <a:t>Vorlesungen</a:t>
            </a:r>
            <a:endParaRPr lang="de-DE" dirty="0"/>
          </a:p>
          <a:p>
            <a:r>
              <a:rPr lang="de-DE" dirty="0" smtClean="0"/>
              <a:t>Erweiterung von </a:t>
            </a:r>
            <a:r>
              <a:rPr lang="de-DE" dirty="0" err="1" smtClean="0"/>
              <a:t>BigBlueButton</a:t>
            </a:r>
            <a:r>
              <a:rPr lang="de-DE" dirty="0"/>
              <a:t> </a:t>
            </a:r>
            <a:r>
              <a:rPr lang="de-DE" dirty="0" smtClean="0"/>
              <a:t>um Schnittstelle und Web-App für Interaktion (Chat, Abstimmung) </a:t>
            </a:r>
          </a:p>
        </p:txBody>
      </p:sp>
      <p:sp>
        <p:nvSpPr>
          <p:cNvPr id="5" name="Rechtwinkliges Dreieck 4"/>
          <p:cNvSpPr/>
          <p:nvPr/>
        </p:nvSpPr>
        <p:spPr>
          <a:xfrm rot="16200000">
            <a:off x="6264000" y="3978000"/>
            <a:ext cx="2880000" cy="288000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Textfeld 5"/>
          <p:cNvSpPr txBox="1"/>
          <p:nvPr/>
        </p:nvSpPr>
        <p:spPr>
          <a:xfrm rot="-2700000">
            <a:off x="6928760" y="5469116"/>
            <a:ext cx="2364750" cy="584775"/>
          </a:xfrm>
          <a:prstGeom prst="rect">
            <a:avLst/>
          </a:prstGeom>
          <a:noFill/>
        </p:spPr>
        <p:txBody>
          <a:bodyPr wrap="none" rtlCol="0">
            <a:spAutoFit/>
          </a:bodyPr>
          <a:lstStyle/>
          <a:p>
            <a:r>
              <a:rPr lang="de-DE" sz="3200" b="1" dirty="0" smtClean="0">
                <a:solidFill>
                  <a:schemeClr val="bg1"/>
                </a:solidFill>
              </a:rPr>
              <a:t>Vielen Dank!</a:t>
            </a:r>
            <a:endParaRPr lang="de-DE" sz="3200" b="1" dirty="0">
              <a:solidFill>
                <a:schemeClr val="bg1"/>
              </a:solidFill>
            </a:endParaRPr>
          </a:p>
        </p:txBody>
      </p:sp>
    </p:spTree>
    <p:extLst>
      <p:ext uri="{BB962C8B-B14F-4D97-AF65-F5344CB8AC3E}">
        <p14:creationId xmlns:p14="http://schemas.microsoft.com/office/powerpoint/2010/main" val="52110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963</Words>
  <Application>Microsoft Office PowerPoint</Application>
  <PresentationFormat>Bildschirmpräsentation (4:3)</PresentationFormat>
  <Paragraphs>146</Paragraphs>
  <Slides>11</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Arial</vt:lpstr>
      <vt:lpstr>Calibri</vt:lpstr>
      <vt:lpstr>Calibri Light</vt:lpstr>
      <vt:lpstr>Times New Roman</vt:lpstr>
      <vt:lpstr>Wingdings</vt:lpstr>
      <vt:lpstr>Office Theme</vt:lpstr>
      <vt:lpstr>DIAL – Ein BigBlueButton-basiertes System für interaktive  Live-Übertragungen von Vorlesungen</vt:lpstr>
      <vt:lpstr>Motivation</vt:lpstr>
      <vt:lpstr>Web-Konferenz-System (Bsp: BigBlueButton)</vt:lpstr>
      <vt:lpstr>Szenario: BigBlueButton (naiv)</vt:lpstr>
      <vt:lpstr>Szenario: DIAL</vt:lpstr>
      <vt:lpstr>DIAL: Übersicht</vt:lpstr>
      <vt:lpstr>BigBlueButton</vt:lpstr>
      <vt:lpstr>Architektur</vt:lpstr>
      <vt:lpstr>DIAL: Web-App (Screenshots)</vt:lpstr>
      <vt:lpstr>Evaluation</vt:lpstr>
      <vt:lpstr>Zusammenfassung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thor@informatik.uni-leipzig.de</dc:creator>
  <cp:lastModifiedBy>thor@informatik.uni-leipzig.de</cp:lastModifiedBy>
  <cp:revision>113</cp:revision>
  <dcterms:created xsi:type="dcterms:W3CDTF">2017-06-06T12:41:48Z</dcterms:created>
  <dcterms:modified xsi:type="dcterms:W3CDTF">2017-08-31T10:54:27Z</dcterms:modified>
</cp:coreProperties>
</file>